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273" r:id="rId17"/>
    <p:sldId id="326" r:id="rId18"/>
    <p:sldId id="338" r:id="rId19"/>
    <p:sldId id="328" r:id="rId20"/>
    <p:sldId id="329" r:id="rId21"/>
    <p:sldId id="330" r:id="rId22"/>
    <p:sldId id="331" r:id="rId23"/>
    <p:sldId id="332" r:id="rId24"/>
    <p:sldId id="333" r:id="rId25"/>
    <p:sldId id="264" r:id="rId26"/>
    <p:sldId id="265" r:id="rId27"/>
    <p:sldId id="266" r:id="rId28"/>
    <p:sldId id="268" r:id="rId29"/>
    <p:sldId id="298" r:id="rId30"/>
    <p:sldId id="334" r:id="rId31"/>
    <p:sldId id="300" r:id="rId32"/>
    <p:sldId id="301" r:id="rId33"/>
    <p:sldId id="340" r:id="rId34"/>
    <p:sldId id="341" r:id="rId35"/>
    <p:sldId id="342" r:id="rId36"/>
    <p:sldId id="343" r:id="rId37"/>
    <p:sldId id="344" r:id="rId38"/>
    <p:sldId id="345" r:id="rId39"/>
    <p:sldId id="309" r:id="rId40"/>
    <p:sldId id="310" r:id="rId41"/>
    <p:sldId id="335" r:id="rId42"/>
    <p:sldId id="316" r:id="rId43"/>
    <p:sldId id="336" r:id="rId44"/>
    <p:sldId id="312" r:id="rId45"/>
    <p:sldId id="313" r:id="rId46"/>
    <p:sldId id="337" r:id="rId47"/>
    <p:sldId id="339" r:id="rId48"/>
  </p:sldIdLst>
  <p:sldSz cx="12192000" cy="6858000"/>
  <p:notesSz cx="6858000" cy="12192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D4C8"/>
    <a:srgbClr val="FFFFFF"/>
    <a:srgbClr val="2E7D70"/>
    <a:srgbClr val="1B4D47"/>
    <a:srgbClr val="F2F0E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77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769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73516C1-0D4A-4861-82BB-79F00B4F9C1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803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6.png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5.wdp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7.wdp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8.wdp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7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OwRCivIs2d9jIFk7rKAaRVfBfTB_ivz4/view?usp=drive_link" TargetMode="External"/><Relationship Id="rId5" Type="http://schemas.openxmlformats.org/officeDocument/2006/relationships/image" Target="../media/image29.jpg"/><Relationship Id="rId4" Type="http://schemas.openxmlformats.org/officeDocument/2006/relationships/hyperlink" Target="https://github.com/binkim00/IEUM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건물, 중국 건축, 일본 건축, 신사이(가) 표시된 사진&#10;&#10;자동 생성된 설명">
            <a:extLst>
              <a:ext uri="{FF2B5EF4-FFF2-40B4-BE49-F238E27FC236}">
                <a16:creationId xmlns:a16="http://schemas.microsoft.com/office/drawing/2014/main" id="{62437320-F3BE-494E-92BB-6E81D0EF919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6800" y="2248733"/>
            <a:ext cx="9855200" cy="4606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7535" y="1174464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</a:t>
            </a:r>
            <a:endParaRPr lang="en-US" sz="8200" dirty="0"/>
          </a:p>
        </p:txBody>
      </p:sp>
      <p:sp>
        <p:nvSpPr>
          <p:cNvPr id="6" name="Text 3"/>
          <p:cNvSpPr/>
          <p:nvPr/>
        </p:nvSpPr>
        <p:spPr>
          <a:xfrm>
            <a:off x="3514634" y="1943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kern="0" spc="8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E U 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443787" y="3597624"/>
            <a:ext cx="1828800" cy="0"/>
          </a:xfrm>
          <a:prstGeom prst="line">
            <a:avLst/>
          </a:prstGeom>
          <a:noFill/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443787" y="39274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국가유산과 나를 잇다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1443787" y="4551953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국가유산은 단순한 정보가 아니라,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사람과 역사를 이어주는 하나의 이야기입니다.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43787" y="3046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</a:rPr>
              <a:t>국가유산 AI 해설 </a:t>
            </a:r>
            <a:r>
              <a:rPr lang="en-US" sz="16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</a:rPr>
              <a:t>서비스</a:t>
            </a:r>
            <a:r>
              <a:rPr lang="en-US" sz="16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</a:rPr>
              <a:t> </a:t>
            </a:r>
            <a:r>
              <a:rPr lang="en-US" sz="16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</a:rPr>
              <a:t>기획서</a:t>
            </a:r>
            <a:endParaRPr lang="en-US" sz="1600" dirty="0">
              <a:solidFill>
                <a:srgbClr val="4A4A4A"/>
              </a:solidFill>
              <a:latin typeface="Nanum Myeongjo" pitchFamily="34" charset="0"/>
              <a:ea typeface="Nanum Myeongjo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22960" y="6583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686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1874520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57400" y="1874520"/>
            <a:ext cx="4023360" cy="487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개요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075688" y="2396742"/>
            <a:ext cx="548640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이음 소개 및 서비스 철학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8680" y="2715768"/>
            <a:ext cx="85953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68680" y="2715768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2057400" y="2715768"/>
            <a:ext cx="4023360" cy="487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문제 배경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2075688" y="3237990"/>
            <a:ext cx="548640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 흐름 부재의 근거 분석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8680" y="3557016"/>
            <a:ext cx="85953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68680" y="3557016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2057400" y="3557016"/>
            <a:ext cx="4023360" cy="487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altLang="ko-KR" sz="19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</a:t>
            </a:r>
            <a:r>
              <a:rPr lang="ko-KR" altLang="en-US" sz="19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활용 기술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075688" y="4079238"/>
            <a:ext cx="548640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기술 구조 및 데이터 설계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68680" y="4398264"/>
            <a:ext cx="85953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68680" y="4398264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2057400" y="4398264"/>
            <a:ext cx="4023360" cy="487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MVP &amp; Prototype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2075688" y="4920486"/>
            <a:ext cx="548640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1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Workflow </a:t>
            </a:r>
            <a:r>
              <a:rPr lang="ko-KR" altLang="en-US" sz="11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</a:t>
            </a:r>
            <a:r>
              <a:rPr lang="en-US" altLang="ko-KR" sz="11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68680" y="5239512"/>
            <a:ext cx="85953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868680" y="5239512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2057400" y="5239512"/>
            <a:ext cx="4023360" cy="487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기대효과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2075688" y="5761734"/>
            <a:ext cx="548640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지속 가능성 및 협력 방안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03690" y="896112"/>
            <a:ext cx="450894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팀 소개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5910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역사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·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데이터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·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·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사회 분석 등 다양한 배경을 가진 팀원이 함께 국가유산 해설 경험을 새롭게 설계합니다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261360" cy="178308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54864" cy="178308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00733" y="3032762"/>
            <a:ext cx="91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김영빈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19021" y="3617978"/>
            <a:ext cx="640080" cy="0"/>
          </a:xfrm>
          <a:prstGeom prst="line">
            <a:avLst/>
          </a:prstGeom>
          <a:noFill/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00733" y="368122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사학과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50080" y="2468880"/>
            <a:ext cx="3261360" cy="178308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50080" y="2468880"/>
            <a:ext cx="54864" cy="178308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27568" y="3074100"/>
            <a:ext cx="9926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박준형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45856" y="3659316"/>
            <a:ext cx="640080" cy="0"/>
          </a:xfrm>
          <a:prstGeom prst="line">
            <a:avLst/>
          </a:prstGeom>
          <a:noFill/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27568" y="3722560"/>
            <a:ext cx="786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통계학과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77200" y="2468880"/>
            <a:ext cx="3261360" cy="178308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077200" y="2468880"/>
            <a:ext cx="54864" cy="178308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335998" y="3057191"/>
            <a:ext cx="91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김종무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369347" y="3610631"/>
            <a:ext cx="640080" cy="0"/>
          </a:xfrm>
          <a:prstGeom prst="line">
            <a:avLst/>
          </a:prstGeom>
          <a:noFill/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51059" y="3673875"/>
            <a:ext cx="1408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기계공학과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22960" y="4617720"/>
            <a:ext cx="3261360" cy="178308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22960" y="4617720"/>
            <a:ext cx="54864" cy="178308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100733" y="5149575"/>
            <a:ext cx="898964" cy="593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이예승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119021" y="5734792"/>
            <a:ext cx="640080" cy="0"/>
          </a:xfrm>
          <a:prstGeom prst="line">
            <a:avLst/>
          </a:prstGeom>
          <a:noFill/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100733" y="5798035"/>
            <a:ext cx="1408056" cy="356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정치외교학과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48026" y="4625530"/>
            <a:ext cx="3261360" cy="178308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446142" y="4625530"/>
            <a:ext cx="54864" cy="178308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744619" y="5183306"/>
            <a:ext cx="95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이봉민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62907" y="5768522"/>
            <a:ext cx="640080" cy="0"/>
          </a:xfrm>
          <a:prstGeom prst="line">
            <a:avLst/>
          </a:prstGeom>
          <a:noFill/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744619" y="5831766"/>
            <a:ext cx="1408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경제학과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077200" y="4617720"/>
            <a:ext cx="3261360" cy="178308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077200" y="4617720"/>
            <a:ext cx="54864" cy="178308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392256" y="5176202"/>
            <a:ext cx="91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서유정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410544" y="5761418"/>
            <a:ext cx="640080" cy="0"/>
          </a:xfrm>
          <a:prstGeom prst="line">
            <a:avLst/>
          </a:prstGeom>
          <a:noFill/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392256" y="5824662"/>
            <a:ext cx="1408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맑은 고딕" panose="020B0503020000020004" pitchFamily="50" charset="-127"/>
                <a:cs typeface="+mn-cs"/>
              </a:rPr>
              <a:t>물류학과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A5248F37-ACF2-4FD4-B8EF-58CFAA9A7BA4}"/>
              </a:ext>
            </a:extLst>
          </p:cNvPr>
          <p:cNvSpPr/>
          <p:nvPr/>
        </p:nvSpPr>
        <p:spPr>
          <a:xfrm>
            <a:off x="4713779" y="2754980"/>
            <a:ext cx="24331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anose="020F0502020204030204"/>
                <a:ea typeface="Nanum Myeongjo" pitchFamily="34" charset="-122"/>
                <a:cs typeface="Nanum Myeongjo" pitchFamily="34" charset="-120"/>
              </a:rPr>
              <a:t>AI Architect / RAG Specialist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7DCA7C00-8785-4306-A1A7-E437A3FCA849}"/>
              </a:ext>
            </a:extLst>
          </p:cNvPr>
          <p:cNvSpPr/>
          <p:nvPr/>
        </p:nvSpPr>
        <p:spPr>
          <a:xfrm>
            <a:off x="8351059" y="2754499"/>
            <a:ext cx="2730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anose="020F0502020204030204"/>
                <a:ea typeface="Nanum Myeongjo" pitchFamily="34" charset="-122"/>
                <a:cs typeface="Nanum Myeongjo" pitchFamily="34" charset="-120"/>
              </a:rPr>
              <a:t>Backend Lead / API Engineer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98BA2E6A-22EC-41DD-B5E7-7994478FAA33}"/>
              </a:ext>
            </a:extLst>
          </p:cNvPr>
          <p:cNvSpPr/>
          <p:nvPr/>
        </p:nvSpPr>
        <p:spPr>
          <a:xfrm>
            <a:off x="4757278" y="4884176"/>
            <a:ext cx="2730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anose="020F0502020204030204"/>
                <a:ea typeface="Nanum Myeongjo" pitchFamily="34" charset="-122"/>
                <a:cs typeface="Nanum Myeongjo" pitchFamily="34" charset="-120"/>
              </a:rPr>
              <a:t>AI Architect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1BAB61E5-B8C5-4951-BE13-E88889FEC211}"/>
              </a:ext>
            </a:extLst>
          </p:cNvPr>
          <p:cNvSpPr/>
          <p:nvPr/>
        </p:nvSpPr>
        <p:spPr>
          <a:xfrm>
            <a:off x="1134887" y="2767265"/>
            <a:ext cx="2730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anose="020F0502020204030204"/>
                <a:ea typeface="Nanum Myeongjo" pitchFamily="34" charset="-122"/>
                <a:cs typeface="Nanum Myeongjo" pitchFamily="34" charset="-120"/>
              </a:rPr>
              <a:t>Data &amp; Validation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4D303AF7-855D-4E95-B622-24C8236B72BE}"/>
              </a:ext>
            </a:extLst>
          </p:cNvPr>
          <p:cNvSpPr/>
          <p:nvPr/>
        </p:nvSpPr>
        <p:spPr>
          <a:xfrm>
            <a:off x="8351058" y="4877354"/>
            <a:ext cx="2730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anose="020F0502020204030204"/>
                <a:ea typeface="Nanum Myeongjo" pitchFamily="34" charset="-122"/>
                <a:cs typeface="Nanum Myeongjo" pitchFamily="34" charset="-120"/>
              </a:rPr>
              <a:t>Frontend &amp; AR Interaction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18CDB91B-5375-4468-BBCA-702EAFA58C22}"/>
              </a:ext>
            </a:extLst>
          </p:cNvPr>
          <p:cNvSpPr/>
          <p:nvPr/>
        </p:nvSpPr>
        <p:spPr>
          <a:xfrm>
            <a:off x="2046377" y="5322882"/>
            <a:ext cx="1902109" cy="753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프로젝트 로드맵 관리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 Myeongjo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발표 자료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(PPT)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작성 및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스피칭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서비스 흐름 및 기획 구조 정리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0A6E2BAE-DAD5-4AC8-A7DC-BAD59A4FAC6F}"/>
              </a:ext>
            </a:extLst>
          </p:cNvPr>
          <p:cNvSpPr/>
          <p:nvPr/>
        </p:nvSpPr>
        <p:spPr>
          <a:xfrm>
            <a:off x="5666209" y="3082465"/>
            <a:ext cx="2023017" cy="101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RAG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파이프라인 설계 및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LLM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응답 품질 최적화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 Myeongjo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Faithfulness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로직 및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Hallucination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방지 전략 수립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F839C807-C8BD-4AC0-8F79-8260C51D34FE}"/>
              </a:ext>
            </a:extLst>
          </p:cNvPr>
          <p:cNvSpPr/>
          <p:nvPr/>
        </p:nvSpPr>
        <p:spPr>
          <a:xfrm>
            <a:off x="2046561" y="3152847"/>
            <a:ext cx="2048275" cy="101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국가유산검색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API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  공공 데이터 수집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·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정제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 Myeongjo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유산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ID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기준 통합 데이터 구조 정리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RAG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문서 후보 및 이미지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좌표 데이터 연결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41FB1BF2-0D76-4BF7-ACF0-4BA4A72E5221}"/>
              </a:ext>
            </a:extLst>
          </p:cNvPr>
          <p:cNvSpPr/>
          <p:nvPr/>
        </p:nvSpPr>
        <p:spPr>
          <a:xfrm>
            <a:off x="5672393" y="5084267"/>
            <a:ext cx="1820024" cy="101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ChromaDB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등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Vector DB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구축 및 하이브리드 검색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(BM25 + Vector)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구현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 Myeongjo" pitchFamily="34" charset="-120"/>
            </a:endParaRPr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73B1D9BC-8005-4723-A6BF-B55FF05EA728}"/>
              </a:ext>
            </a:extLst>
          </p:cNvPr>
          <p:cNvSpPr/>
          <p:nvPr/>
        </p:nvSpPr>
        <p:spPr>
          <a:xfrm>
            <a:off x="9287022" y="3143442"/>
            <a:ext cx="1899781" cy="101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서비스 아키텍처 구축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, API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설계 및 외부 서비스 연동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 (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FastAPI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Edge-TTS)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전체 서비스 통합 테스트 및 버그 리포팅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931D72FA-7FE6-4570-A42E-D74986D11AC7}"/>
              </a:ext>
            </a:extLst>
          </p:cNvPr>
          <p:cNvSpPr/>
          <p:nvPr/>
        </p:nvSpPr>
        <p:spPr>
          <a:xfrm>
            <a:off x="9353216" y="5232523"/>
            <a:ext cx="1985344" cy="101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 Myeongjo" pitchFamily="34" charset="-120"/>
              </a:rPr>
              <a:t>모바일 앱 화면 설계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Nanum Myeongjo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ko-KR" altLang="en-US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온보딩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언어 선택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현장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비현장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해설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추천 화면 구성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Figma Prototype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전환 설계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3BB6441C-0127-4FE7-A555-07EA8AE1FDB4}"/>
              </a:ext>
            </a:extLst>
          </p:cNvPr>
          <p:cNvSpPr/>
          <p:nvPr/>
        </p:nvSpPr>
        <p:spPr>
          <a:xfrm>
            <a:off x="1101863" y="4919675"/>
            <a:ext cx="21681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anose="020F0502020204030204"/>
                <a:ea typeface="Nanum Myeongjo" pitchFamily="34" charset="-122"/>
                <a:cs typeface="Nanum Myeongjo" pitchFamily="34" charset="-120"/>
              </a:rPr>
              <a:t>PM / Service Architect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91952" y="713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IEUM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91952" y="102412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</a:rPr>
              <a:t>이음은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691952" y="3063240"/>
            <a:ext cx="7040880" cy="146304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691952" y="3063240"/>
            <a:ext cx="54864" cy="146304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057712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 </a:t>
            </a:r>
            <a:r>
              <a:rPr lang="en-US" sz="13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(IEUM)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57712" y="3703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ko-KR" altLang="en-US" sz="1500" dirty="0">
                <a:solidFill>
                  <a:srgbClr val="4A4A4A"/>
                </a:solidFill>
                <a:latin typeface="Nanum Myeongjo"/>
              </a:rPr>
              <a:t>공식 데이터의 신뢰성  </a:t>
            </a:r>
            <a:r>
              <a:rPr lang="en-US" altLang="ko-KR" sz="1500" dirty="0">
                <a:solidFill>
                  <a:srgbClr val="4A4A4A"/>
                </a:solidFill>
                <a:latin typeface="Nanum Myeongjo"/>
                <a:ea typeface="Nanum Myeongjo"/>
              </a:rPr>
              <a:t>+</a:t>
            </a:r>
            <a:r>
              <a:rPr lang="ko-KR" altLang="en-US" sz="1500" dirty="0">
                <a:solidFill>
                  <a:srgbClr val="4A4A4A"/>
                </a:solidFill>
                <a:latin typeface="Nanum Myeongjo"/>
              </a:rPr>
              <a:t> 사용자 맞춤형 스토리텔링</a:t>
            </a:r>
            <a:endParaRPr lang="en-US" altLang="ko-KR" sz="1500" dirty="0">
              <a:solidFill>
                <a:srgbClr val="4A4A4A"/>
              </a:solidFill>
              <a:latin typeface="Nanum Myeongjo"/>
              <a:ea typeface="Nanum Myeongjo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ko-KR" altLang="en-US" sz="1600" b="1" dirty="0">
                <a:latin typeface="Nanum Myeongjo" pitchFamily="34" charset="0"/>
              </a:rPr>
              <a:t>내 손안의 몰입형 국가유산 </a:t>
            </a:r>
            <a:r>
              <a:rPr lang="en-US" altLang="ko-KR" sz="1600" b="1" dirty="0">
                <a:latin typeface="Nanum Myeongjo" pitchFamily="34" charset="0"/>
                <a:ea typeface="Nanum Myeongjo" pitchFamily="34" charset="-122"/>
              </a:rPr>
              <a:t>AI </a:t>
            </a:r>
            <a:r>
              <a:rPr lang="ko-KR" altLang="en-US" sz="1600" b="1" dirty="0" err="1">
                <a:latin typeface="Nanum Myeongjo" pitchFamily="34" charset="0"/>
              </a:rPr>
              <a:t>해설사</a:t>
            </a:r>
            <a:endParaRPr lang="en-US" sz="1600" b="1" dirty="0">
              <a:latin typeface="Nanum Myeongjo" pitchFamily="34" charset="0"/>
              <a:ea typeface="Nanum Myeongjo" pitchFamily="3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91952" y="4703781"/>
            <a:ext cx="22402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691952" y="4822653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D4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</a:t>
            </a:r>
            <a:endParaRPr lang="en-US" sz="1400" dirty="0">
              <a:solidFill>
                <a:srgbClr val="1B4D47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91952" y="5103069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96824" y="4703781"/>
            <a:ext cx="22402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096824" y="4822653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1B4D47"/>
                </a:solidFill>
                <a:latin typeface="Nanum Myeongjo" pitchFamily="34" charset="0"/>
              </a:rPr>
              <a:t>이용 상황</a:t>
            </a:r>
            <a:endParaRPr lang="en-US" sz="1400" dirty="0">
              <a:solidFill>
                <a:srgbClr val="1B4D47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6096824" y="5103069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E9E9E"/>
                </a:solidFill>
                <a:latin typeface="Georgia" pitchFamily="34" charset="0"/>
              </a:rPr>
              <a:t>Circumstances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501696" y="4703781"/>
            <a:ext cx="22402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8501696" y="4822653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B4D4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</a:t>
            </a:r>
            <a:r>
              <a:rPr lang="en-US" sz="1400" b="1" dirty="0">
                <a:solidFill>
                  <a:srgbClr val="1B4D4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ko-KR" altLang="en-US" sz="1400" b="1" dirty="0">
                <a:solidFill>
                  <a:srgbClr val="1B4D4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카테고리</a:t>
            </a:r>
            <a:endParaRPr lang="en-US" sz="1400" dirty="0">
              <a:solidFill>
                <a:srgbClr val="1B4D47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8501696" y="5103069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6F56B9C-0E51-41E0-9B39-73327A001C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83" b="99312" l="2113" r="89437">
                        <a14:foregroundMark x1="6573" y1="42169" x2="6573" y2="42169"/>
                        <a14:foregroundMark x1="5164" y1="55077" x2="5164" y2="55077"/>
                        <a14:foregroundMark x1="3756" y1="39931" x2="3756" y2="39931"/>
                        <a14:foregroundMark x1="16197" y1="29260" x2="16197" y2="29260"/>
                        <a14:foregroundMark x1="16667" y1="26850" x2="16667" y2="26850"/>
                        <a14:foregroundMark x1="16667" y1="24785" x2="16667" y2="24785"/>
                        <a14:foregroundMark x1="14789" y1="24613" x2="14789" y2="24613"/>
                        <a14:foregroundMark x1="18545" y1="24096" x2="18545" y2="24096"/>
                        <a14:foregroundMark x1="18545" y1="26506" x2="18545" y2="26506"/>
                        <a14:foregroundMark x1="18545" y1="28571" x2="18545" y2="28571"/>
                        <a14:foregroundMark x1="18545" y1="30809" x2="18545" y2="30809"/>
                        <a14:foregroundMark x1="14554" y1="30981" x2="14554" y2="30981"/>
                        <a14:foregroundMark x1="13615" y1="30981" x2="13615" y2="30981"/>
                        <a14:foregroundMark x1="17136" y1="89845" x2="17136" y2="89845"/>
                        <a14:foregroundMark x1="15493" y1="93976" x2="15493" y2="93976"/>
                        <a14:foregroundMark x1="36150" y1="95353" x2="36150" y2="95353"/>
                        <a14:foregroundMark x1="58685" y1="96386" x2="58685" y2="96386"/>
                        <a14:foregroundMark x1="57512" y1="95353" x2="57512" y2="95353"/>
                        <a14:foregroundMark x1="49765" y1="99312" x2="49765" y2="99312"/>
                        <a14:foregroundMark x1="3286" y1="55077" x2="3286" y2="55077"/>
                        <a14:foregroundMark x1="2113" y1="40103" x2="2113" y2="40103"/>
                        <a14:foregroundMark x1="14554" y1="27883" x2="14554" y2="27883"/>
                        <a14:foregroundMark x1="13615" y1="25301" x2="13615" y2="25301"/>
                        <a14:foregroundMark x1="13615" y1="29432" x2="13615" y2="29432"/>
                        <a14:foregroundMark x1="14554" y1="28571" x2="14554" y2="28571"/>
                        <a14:foregroundMark x1="14319" y1="28744" x2="14319" y2="28744"/>
                        <a14:backgroundMark x1="13146" y1="29604" x2="13146" y2="29604"/>
                        <a14:backgroundMark x1="13615" y1="29432" x2="13615" y2="29432"/>
                      </a14:backgroundRemoval>
                    </a14:imgEffect>
                  </a14:imgLayer>
                </a14:imgProps>
              </a:ext>
            </a:extLst>
          </a:blip>
          <a:srcRect r="33041"/>
          <a:stretch/>
        </p:blipFill>
        <p:spPr>
          <a:xfrm>
            <a:off x="0" y="-480391"/>
            <a:ext cx="3602823" cy="73383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CC4BB9-548F-4C04-A901-A94B0F0EC4F1}"/>
              </a:ext>
            </a:extLst>
          </p:cNvPr>
          <p:cNvSpPr txBox="1"/>
          <p:nvPr/>
        </p:nvSpPr>
        <p:spPr>
          <a:xfrm>
            <a:off x="3602823" y="1716301"/>
            <a:ext cx="8727722" cy="11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Nanum Myeongjo"/>
                <a:ea typeface="Nanum Myeongjo"/>
              </a:rPr>
              <a:t>RAG </a:t>
            </a:r>
            <a:r>
              <a:rPr lang="ko-KR" altLang="en-US" sz="1600" dirty="0">
                <a:latin typeface="Nanum Myeongjo"/>
                <a:ea typeface="Nanum Myeongjo"/>
              </a:rPr>
              <a:t>기술과 </a:t>
            </a:r>
            <a:r>
              <a:rPr lang="en-US" altLang="ko-KR" sz="1600" dirty="0">
                <a:latin typeface="Nanum Myeongjo"/>
                <a:ea typeface="Nanum Myeongjo"/>
              </a:rPr>
              <a:t>Vector DB</a:t>
            </a:r>
            <a:r>
              <a:rPr lang="ko-KR" altLang="en-US" sz="1600" dirty="0">
                <a:latin typeface="Nanum Myeongjo"/>
                <a:ea typeface="Nanum Myeongjo"/>
              </a:rPr>
              <a:t>로 공식 국가유산 데이터의 신뢰도 높은 근거를 검색하고</a:t>
            </a:r>
            <a:r>
              <a:rPr lang="en-US" altLang="ko-KR" sz="1600" dirty="0">
                <a:latin typeface="Nanum Myeongjo"/>
                <a:ea typeface="Nanum Myeongjo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Nanum Myeongjo"/>
                <a:ea typeface="Nanum Myeongjo"/>
              </a:rPr>
              <a:t>언어 </a:t>
            </a:r>
            <a:r>
              <a:rPr lang="en-US" altLang="ko-KR" sz="1600" dirty="0">
                <a:latin typeface="Nanum Myeongjo"/>
                <a:ea typeface="Nanum Myeongjo"/>
              </a:rPr>
              <a:t>· </a:t>
            </a:r>
            <a:r>
              <a:rPr lang="ko-KR" altLang="en-US" sz="1600" dirty="0">
                <a:latin typeface="Nanum Myeongjo"/>
                <a:ea typeface="Nanum Myeongjo"/>
              </a:rPr>
              <a:t>이용 상황 </a:t>
            </a:r>
            <a:r>
              <a:rPr lang="en-US" altLang="ko-KR" sz="1600" dirty="0">
                <a:latin typeface="Nanum Myeongjo"/>
                <a:ea typeface="Nanum Myeongjo"/>
              </a:rPr>
              <a:t>· </a:t>
            </a:r>
            <a:r>
              <a:rPr lang="ko-KR" altLang="en-US" sz="1600" dirty="0">
                <a:latin typeface="Nanum Myeongjo"/>
                <a:ea typeface="Nanum Myeongjo"/>
              </a:rPr>
              <a:t>관심 카테고리를 </a:t>
            </a:r>
            <a:r>
              <a:rPr lang="en-US" altLang="ko-KR" sz="1600" dirty="0">
                <a:latin typeface="Nanum Myeongjo"/>
                <a:ea typeface="Nanum Myeongjo"/>
              </a:rPr>
              <a:t>Context Prompt</a:t>
            </a:r>
            <a:r>
              <a:rPr lang="ko-KR" altLang="en-US" sz="1600" dirty="0">
                <a:latin typeface="Nanum Myeongjo"/>
                <a:ea typeface="Nanum Myeongjo"/>
              </a:rPr>
              <a:t>에 반영해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rgbClr val="2E7D70"/>
                </a:solidFill>
                <a:latin typeface="Nanum Myeongjo"/>
                <a:ea typeface="Nanum Myeongjo"/>
              </a:rPr>
              <a:t>개인화된 </a:t>
            </a:r>
            <a:r>
              <a:rPr lang="ko-KR" altLang="en-US" sz="1600" b="1" dirty="0" err="1">
                <a:solidFill>
                  <a:srgbClr val="2E7D70"/>
                </a:solidFill>
                <a:latin typeface="Nanum Myeongjo"/>
                <a:ea typeface="Nanum Myeongjo"/>
              </a:rPr>
              <a:t>멀티모달</a:t>
            </a:r>
            <a:r>
              <a:rPr lang="en-US" altLang="ko-KR" sz="1600" b="1" dirty="0">
                <a:solidFill>
                  <a:srgbClr val="2E7D70"/>
                </a:solidFill>
                <a:latin typeface="Nanum Myeongjo"/>
                <a:ea typeface="Nanum Myeongjo"/>
              </a:rPr>
              <a:t>(</a:t>
            </a:r>
            <a:r>
              <a:rPr lang="ko-KR" altLang="en-US" sz="1600" b="1" dirty="0">
                <a:solidFill>
                  <a:srgbClr val="2E7D70"/>
                </a:solidFill>
                <a:latin typeface="Nanum Myeongjo"/>
                <a:ea typeface="Nanum Myeongjo"/>
              </a:rPr>
              <a:t>텍스트 </a:t>
            </a:r>
            <a:r>
              <a:rPr lang="en-US" altLang="ko-KR" sz="1600" b="1" dirty="0">
                <a:solidFill>
                  <a:srgbClr val="2E7D70"/>
                </a:solidFill>
                <a:latin typeface="Nanum Myeongjo"/>
                <a:ea typeface="Nanum Myeongjo"/>
              </a:rPr>
              <a:t>· </a:t>
            </a:r>
            <a:r>
              <a:rPr lang="ko-KR" altLang="en-US" sz="1600" b="1" dirty="0">
                <a:solidFill>
                  <a:srgbClr val="2E7D70"/>
                </a:solidFill>
                <a:latin typeface="Nanum Myeongjo"/>
                <a:ea typeface="Nanum Myeongjo"/>
              </a:rPr>
              <a:t>음성 </a:t>
            </a:r>
            <a:r>
              <a:rPr lang="en-US" altLang="ko-KR" sz="1600" b="1" dirty="0">
                <a:solidFill>
                  <a:srgbClr val="2E7D70"/>
                </a:solidFill>
                <a:latin typeface="Nanum Myeongjo"/>
                <a:ea typeface="Nanum Myeongjo"/>
              </a:rPr>
              <a:t>· </a:t>
            </a:r>
            <a:r>
              <a:rPr lang="ko-KR" altLang="en-US" sz="1600" b="1" dirty="0">
                <a:solidFill>
                  <a:srgbClr val="2E7D70"/>
                </a:solidFill>
                <a:latin typeface="Nanum Myeongjo"/>
                <a:ea typeface="Nanum Myeongjo"/>
              </a:rPr>
              <a:t>시각</a:t>
            </a:r>
            <a:r>
              <a:rPr lang="en-US" altLang="ko-KR" sz="1600" b="1" dirty="0">
                <a:solidFill>
                  <a:srgbClr val="2E7D70"/>
                </a:solidFill>
                <a:latin typeface="Nanum Myeongjo"/>
                <a:ea typeface="Nanum Myeongjo"/>
              </a:rPr>
              <a:t>) </a:t>
            </a:r>
            <a:r>
              <a:rPr lang="ko-KR" altLang="en-US" sz="1600" b="1" dirty="0">
                <a:solidFill>
                  <a:srgbClr val="2E7D70"/>
                </a:solidFill>
                <a:latin typeface="Nanum Myeongjo"/>
                <a:ea typeface="Nanum Myeongjo"/>
              </a:rPr>
              <a:t>해설</a:t>
            </a:r>
            <a:r>
              <a:rPr lang="ko-KR" altLang="en-US" sz="1600" dirty="0">
                <a:latin typeface="Nanum Myeongjo"/>
                <a:ea typeface="Nanum Myeongjo"/>
              </a:rPr>
              <a:t>을 제공합니다</a:t>
            </a:r>
            <a:r>
              <a:rPr lang="en-US" altLang="ko-KR" sz="1600" dirty="0">
                <a:latin typeface="Nanum Myeongjo"/>
                <a:ea typeface="Nanum Myeongjo"/>
              </a:rPr>
              <a:t>.</a:t>
            </a:r>
            <a:endParaRPr lang="ko-KR" altLang="en-US" sz="1600" dirty="0">
              <a:latin typeface="Nanum Myeongjo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7E9FBC-4A7A-4221-B1AA-132060768594}"/>
              </a:ext>
            </a:extLst>
          </p:cNvPr>
          <p:cNvSpPr txBox="1"/>
          <p:nvPr/>
        </p:nvSpPr>
        <p:spPr>
          <a:xfrm>
            <a:off x="3993474" y="5307285"/>
            <a:ext cx="1637235" cy="1080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한국어</a:t>
            </a:r>
            <a:endParaRPr lang="en-US" altLang="ko-KR" sz="1100" dirty="0">
              <a:ea typeface="Nanum Myeongjo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ea typeface="Nanum Myeongjo"/>
              </a:rPr>
              <a:t>영어</a:t>
            </a:r>
            <a:endParaRPr lang="en-US" altLang="ko-KR" sz="1100" dirty="0">
              <a:ea typeface="Nanum Myeongjo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중국어</a:t>
            </a:r>
            <a:r>
              <a:rPr lang="en-US" altLang="ko-KR" sz="1100" dirty="0">
                <a:ea typeface="Nanum Myeongjo"/>
              </a:rPr>
              <a:t>(</a:t>
            </a:r>
            <a:r>
              <a:rPr lang="ko-KR" altLang="en-US" sz="1100" dirty="0" err="1">
                <a:ea typeface="Nanum Myeongjo"/>
              </a:rPr>
              <a:t>간체</a:t>
            </a:r>
            <a:r>
              <a:rPr lang="ko-KR" altLang="en-US" sz="1100" dirty="0">
                <a:ea typeface="Nanum Myeongjo"/>
              </a:rPr>
              <a:t> </a:t>
            </a:r>
            <a:r>
              <a:rPr lang="en-US" altLang="ko-KR" sz="1100" dirty="0">
                <a:ea typeface="Nanum Myeongjo"/>
              </a:rPr>
              <a:t>/ </a:t>
            </a:r>
            <a:r>
              <a:rPr lang="ko-KR" altLang="en-US" sz="1100" dirty="0" err="1"/>
              <a:t>번체</a:t>
            </a:r>
            <a:r>
              <a:rPr lang="en-US" altLang="ko-KR" sz="1100" dirty="0">
                <a:ea typeface="Nanum Myeongjo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일본어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B0BEAE-FB99-4F15-82F4-327E889160EF}"/>
              </a:ext>
            </a:extLst>
          </p:cNvPr>
          <p:cNvSpPr txBox="1"/>
          <p:nvPr/>
        </p:nvSpPr>
        <p:spPr>
          <a:xfrm>
            <a:off x="6393774" y="5307285"/>
            <a:ext cx="1637235" cy="1081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위치</a:t>
            </a:r>
            <a:r>
              <a:rPr lang="en-US" altLang="ko-KR" sz="1100" dirty="0">
                <a:ea typeface="Nanum Myeongjo"/>
              </a:rPr>
              <a:t>(GPS)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날씨</a:t>
            </a:r>
            <a:endParaRPr lang="en-US" altLang="ko-KR" sz="1100" dirty="0">
              <a:ea typeface="Nanum Myeongjo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여행</a:t>
            </a:r>
            <a:endParaRPr lang="en-US" altLang="ko-KR" sz="1100" dirty="0">
              <a:ea typeface="Nanum Myeongjo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관람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379F3F-6C1C-4709-9409-AC06270ABD4B}"/>
              </a:ext>
            </a:extLst>
          </p:cNvPr>
          <p:cNvSpPr txBox="1"/>
          <p:nvPr/>
        </p:nvSpPr>
        <p:spPr>
          <a:xfrm>
            <a:off x="8736574" y="5309633"/>
            <a:ext cx="1770523" cy="109235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역사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건축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예술</a:t>
            </a:r>
            <a:r>
              <a:rPr lang="en-US" altLang="ko-KR" sz="1100" dirty="0"/>
              <a:t>·</a:t>
            </a:r>
            <a:r>
              <a:rPr lang="ko-KR" altLang="en-US" sz="1100" dirty="0"/>
              <a:t>상징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왕실문화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종교</a:t>
            </a:r>
            <a:r>
              <a:rPr lang="en-US" altLang="ko-KR" sz="1100" dirty="0"/>
              <a:t>·</a:t>
            </a:r>
            <a:r>
              <a:rPr lang="ko-KR" altLang="en-US" sz="1100" dirty="0"/>
              <a:t>제례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세계유산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과학</a:t>
            </a:r>
            <a:r>
              <a:rPr lang="en-US" altLang="ko-KR" sz="1100" dirty="0"/>
              <a:t>·</a:t>
            </a:r>
            <a:r>
              <a:rPr lang="ko-KR" altLang="en-US" sz="1100" dirty="0"/>
              <a:t>기술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생활문화</a:t>
            </a:r>
            <a:endParaRPr lang="en-US" altLang="ko-KR" sz="1100" dirty="0">
              <a:ea typeface="Nanum Myeongj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제안 배경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ko-KR" altLang="en-US" sz="16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국가유산은 하나의 점처럼 흩어져 있습니다</a:t>
            </a:r>
            <a:r>
              <a:rPr lang="en-US" altLang="ko-KR" sz="16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</a:p>
          <a:p>
            <a:pPr>
              <a:lnSpc>
                <a:spcPts val="2400"/>
              </a:lnSpc>
            </a:pPr>
            <a:r>
              <a:rPr lang="ko-KR" altLang="en-US" sz="16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이음은 사용자의 관심사를 따라 그 점들을 선으로 연결하고</a:t>
            </a:r>
            <a:r>
              <a:rPr lang="en-US" altLang="ko-KR" sz="16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</a:t>
            </a:r>
          </a:p>
          <a:p>
            <a:pPr>
              <a:lnSpc>
                <a:spcPts val="2400"/>
              </a:lnSpc>
            </a:pPr>
            <a:r>
              <a:rPr lang="ko-KR" altLang="en-US" sz="16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하나의 여정으로 바꿉니다</a:t>
            </a:r>
            <a:r>
              <a:rPr lang="en-US" altLang="ko-KR" sz="16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121296"/>
            <a:ext cx="6035040" cy="96012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3121296"/>
            <a:ext cx="54864" cy="96012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66949" y="322942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문제는 정보의 부족이 아니라,
</a:t>
            </a:r>
            <a:r>
              <a:rPr lang="en-US" sz="160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사용자에게 맞는 ‘해설 연결 부족’입니다.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이음은 사용자의 관심을 카테고리화하여 국가유산이라는 점을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계속 이어나가 그 이야기를 더 풍성하게 만들어갑니다.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1783080"/>
            <a:ext cx="4069080" cy="402336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0" y="19659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개별의 점, 이어지는 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35240" y="23500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 개별 정보로 흩어진 유산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863840" y="3017520"/>
            <a:ext cx="146304" cy="146304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869680" y="3337560"/>
            <a:ext cx="146304" cy="146304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966960" y="2926080"/>
            <a:ext cx="146304" cy="146304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698480" y="3383280"/>
            <a:ext cx="146304" cy="146304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321040" y="3749040"/>
            <a:ext cx="146304" cy="146304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149840" y="3657600"/>
            <a:ext cx="146304" cy="146304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635240" y="4069080"/>
            <a:ext cx="3429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635240" y="41788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 하나의 이야기로 연결된 유산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 flipV="1">
            <a:off x="7818120" y="4800600"/>
            <a:ext cx="777240" cy="548640"/>
          </a:xfrm>
          <a:prstGeom prst="line">
            <a:avLst/>
          </a:prstGeom>
          <a:noFill/>
          <a:ln w="1905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595360" y="4800600"/>
            <a:ext cx="822960" cy="502920"/>
          </a:xfrm>
          <a:prstGeom prst="line">
            <a:avLst/>
          </a:prstGeom>
          <a:noFill/>
          <a:ln w="1905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 flipV="1">
            <a:off x="9418320" y="4846320"/>
            <a:ext cx="822960" cy="457200"/>
          </a:xfrm>
          <a:prstGeom prst="line">
            <a:avLst/>
          </a:prstGeom>
          <a:noFill/>
          <a:ln w="1905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0241280" y="4846320"/>
            <a:ext cx="685800" cy="411480"/>
          </a:xfrm>
          <a:prstGeom prst="line">
            <a:avLst/>
          </a:prstGeom>
          <a:noFill/>
          <a:ln w="1905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735824" y="5266944"/>
            <a:ext cx="164592" cy="164592"/>
          </a:xfrm>
          <a:prstGeom prst="ellipse">
            <a:avLst/>
          </a:prstGeom>
          <a:solidFill>
            <a:srgbClr val="2E7D7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513064" y="4718304"/>
            <a:ext cx="164592" cy="164592"/>
          </a:xfrm>
          <a:prstGeom prst="ellipse">
            <a:avLst/>
          </a:prstGeom>
          <a:solidFill>
            <a:srgbClr val="2E7D7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336024" y="5221224"/>
            <a:ext cx="164592" cy="164592"/>
          </a:xfrm>
          <a:prstGeom prst="ellipse">
            <a:avLst/>
          </a:prstGeom>
          <a:solidFill>
            <a:srgbClr val="2E7D7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0158984" y="4764024"/>
            <a:ext cx="164592" cy="164592"/>
          </a:xfrm>
          <a:prstGeom prst="ellipse">
            <a:avLst/>
          </a:prstGeom>
          <a:solidFill>
            <a:srgbClr val="2E7D7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0844784" y="5175504"/>
            <a:ext cx="164592" cy="164592"/>
          </a:xfrm>
          <a:prstGeom prst="ellipse">
            <a:avLst/>
          </a:prstGeom>
          <a:solidFill>
            <a:srgbClr val="2E7D7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D413DBBE-5343-4245-9DE8-404839A32298}"/>
              </a:ext>
            </a:extLst>
          </p:cNvPr>
          <p:cNvSpPr/>
          <p:nvPr/>
        </p:nvSpPr>
        <p:spPr>
          <a:xfrm>
            <a:off x="8123428" y="2918313"/>
            <a:ext cx="2035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4A4A4A"/>
                </a:solidFill>
                <a:latin typeface="Nanum Myeongjo" pitchFamily="34" charset="0"/>
              </a:rPr>
              <a:t>시대</a:t>
            </a:r>
            <a:endParaRPr lang="en-US" sz="135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BEB97FBF-8207-4848-BCB8-135F8FE4E1B4}"/>
              </a:ext>
            </a:extLst>
          </p:cNvPr>
          <p:cNvSpPr/>
          <p:nvPr/>
        </p:nvSpPr>
        <p:spPr>
          <a:xfrm>
            <a:off x="9095486" y="3239805"/>
            <a:ext cx="2035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설화</a:t>
            </a:r>
            <a:endParaRPr lang="en-US" sz="135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157F7B40-04A0-4CE9-B591-1252A43A2F8F}"/>
              </a:ext>
            </a:extLst>
          </p:cNvPr>
          <p:cNvSpPr/>
          <p:nvPr/>
        </p:nvSpPr>
        <p:spPr>
          <a:xfrm>
            <a:off x="10210329" y="2871939"/>
            <a:ext cx="2035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예술</a:t>
            </a:r>
            <a:endParaRPr lang="en-US" sz="135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CFF49CFB-1AAD-4966-8DBB-0AFDA474A25F}"/>
              </a:ext>
            </a:extLst>
          </p:cNvPr>
          <p:cNvSpPr/>
          <p:nvPr/>
        </p:nvSpPr>
        <p:spPr>
          <a:xfrm>
            <a:off x="8580846" y="3675888"/>
            <a:ext cx="2035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4A4A4A"/>
                </a:solidFill>
                <a:latin typeface="Nanum Myeongjo" pitchFamily="34" charset="0"/>
              </a:rPr>
              <a:t>이미지</a:t>
            </a:r>
            <a:endParaRPr lang="en-US" sz="1350" dirty="0">
              <a:solidFill>
                <a:srgbClr val="4A4A4A"/>
              </a:solidFill>
              <a:latin typeface="Nanum Myeongjo" pitchFamily="34" charset="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45B8273C-63FD-41F4-B919-A2428ADB7A35}"/>
              </a:ext>
            </a:extLst>
          </p:cNvPr>
          <p:cNvSpPr/>
          <p:nvPr/>
        </p:nvSpPr>
        <p:spPr>
          <a:xfrm>
            <a:off x="10418608" y="3602736"/>
            <a:ext cx="2035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문화</a:t>
            </a:r>
            <a:endParaRPr lang="en-US" sz="135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2F7EE3C0-62E6-4A8C-8482-663961C905AD}"/>
              </a:ext>
            </a:extLst>
          </p:cNvPr>
          <p:cNvSpPr/>
          <p:nvPr/>
        </p:nvSpPr>
        <p:spPr>
          <a:xfrm>
            <a:off x="10956181" y="3299528"/>
            <a:ext cx="2035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4A4A4A"/>
                </a:solidFill>
                <a:latin typeface="Nanum Myeongjo" pitchFamily="34" charset="0"/>
              </a:rPr>
              <a:t>과학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제안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5825" y="1710222"/>
            <a:ext cx="4389236" cy="96012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5825" y="1707925"/>
            <a:ext cx="45719" cy="96012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09814" y="1834154"/>
            <a:ext cx="44487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40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점</a:t>
            </a:r>
            <a:r>
              <a:rPr lang="ko-KR" altLang="en-US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들을 </a:t>
            </a:r>
            <a:r>
              <a:rPr lang="ko-KR" altLang="en-US" sz="140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선</a:t>
            </a:r>
            <a:r>
              <a:rPr lang="ko-KR" altLang="en-US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으로 </a:t>
            </a:r>
          </a:p>
          <a:p>
            <a:pPr marL="0" indent="0">
              <a:lnSpc>
                <a:spcPts val="2400"/>
              </a:lnSpc>
              <a:buNone/>
            </a:pPr>
            <a:r>
              <a:rPr lang="ko-KR" altLang="en-US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연결하고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 </a:t>
            </a:r>
            <a:r>
              <a:rPr lang="ko-KR" altLang="en-US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하나의 </a:t>
            </a:r>
            <a:r>
              <a:rPr lang="ko-KR" altLang="en-US" sz="140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여정</a:t>
            </a:r>
            <a:r>
              <a:rPr lang="ko-KR" altLang="en-US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으로 바꿉니다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B546A6A5-347A-4B0D-9A2D-91BB7DD4C68B}"/>
              </a:ext>
            </a:extLst>
          </p:cNvPr>
          <p:cNvSpPr/>
          <p:nvPr/>
        </p:nvSpPr>
        <p:spPr>
          <a:xfrm>
            <a:off x="727525" y="3107738"/>
            <a:ext cx="4393875" cy="20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과학을 좋아하는 학생이 맑은 낮에 첨성대 앞에서 듣는 해설</a:t>
            </a:r>
            <a:endParaRPr lang="en-US" sz="1100" b="1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D097EF0A-A596-42AD-8AFF-D1DF3B5AF53E}"/>
              </a:ext>
            </a:extLst>
          </p:cNvPr>
          <p:cNvSpPr/>
          <p:nvPr/>
        </p:nvSpPr>
        <p:spPr>
          <a:xfrm>
            <a:off x="727525" y="3694221"/>
            <a:ext cx="4499055" cy="20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건축을 전공한 외국인이 비 오는 날 부석사 무량수전 앞에서 듣는 해설</a:t>
            </a:r>
            <a:endParaRPr lang="en-US" sz="11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5007C39C-AE76-4591-B317-0CFB654BD24A}"/>
              </a:ext>
            </a:extLst>
          </p:cNvPr>
          <p:cNvSpPr/>
          <p:nvPr/>
        </p:nvSpPr>
        <p:spPr>
          <a:xfrm>
            <a:off x="727525" y="4280704"/>
            <a:ext cx="4045642" cy="20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음악을 좋아하는 직장인이 점심시간 휴게실에서 듣는 해설</a:t>
            </a:r>
            <a:endParaRPr lang="en-US" sz="11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306A7D1C-9B98-4EBF-B75F-50484CB77178}"/>
              </a:ext>
            </a:extLst>
          </p:cNvPr>
          <p:cNvSpPr/>
          <p:nvPr/>
        </p:nvSpPr>
        <p:spPr>
          <a:xfrm>
            <a:off x="727525" y="4867187"/>
            <a:ext cx="4061101" cy="20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소실된 황룡사 구층 목탑의 구조와 분위기를 이해하고 싶은 여행객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Shape 41">
            <a:extLst>
              <a:ext uri="{FF2B5EF4-FFF2-40B4-BE49-F238E27FC236}">
                <a16:creationId xmlns:a16="http://schemas.microsoft.com/office/drawing/2014/main" id="{95E09FED-59A0-47BE-A0E6-93BCE561F190}"/>
              </a:ext>
            </a:extLst>
          </p:cNvPr>
          <p:cNvSpPr/>
          <p:nvPr/>
        </p:nvSpPr>
        <p:spPr>
          <a:xfrm>
            <a:off x="539106" y="3104631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41">
            <a:extLst>
              <a:ext uri="{FF2B5EF4-FFF2-40B4-BE49-F238E27FC236}">
                <a16:creationId xmlns:a16="http://schemas.microsoft.com/office/drawing/2014/main" id="{67A28BC0-7B17-4767-95B4-0B5DCCF8672C}"/>
              </a:ext>
            </a:extLst>
          </p:cNvPr>
          <p:cNvSpPr/>
          <p:nvPr/>
        </p:nvSpPr>
        <p:spPr>
          <a:xfrm>
            <a:off x="539106" y="3734281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41">
            <a:extLst>
              <a:ext uri="{FF2B5EF4-FFF2-40B4-BE49-F238E27FC236}">
                <a16:creationId xmlns:a16="http://schemas.microsoft.com/office/drawing/2014/main" id="{41663791-49D6-43DD-A5C0-738251C1D27B}"/>
              </a:ext>
            </a:extLst>
          </p:cNvPr>
          <p:cNvSpPr/>
          <p:nvPr/>
        </p:nvSpPr>
        <p:spPr>
          <a:xfrm>
            <a:off x="539106" y="4333202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41">
            <a:extLst>
              <a:ext uri="{FF2B5EF4-FFF2-40B4-BE49-F238E27FC236}">
                <a16:creationId xmlns:a16="http://schemas.microsoft.com/office/drawing/2014/main" id="{4B8E56DC-6D74-41BC-81FF-74088D7BBA51}"/>
              </a:ext>
            </a:extLst>
          </p:cNvPr>
          <p:cNvSpPr/>
          <p:nvPr/>
        </p:nvSpPr>
        <p:spPr>
          <a:xfrm>
            <a:off x="539106" y="4941100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C7C0F7-B26C-4A27-9019-4A55164E31BC}"/>
              </a:ext>
            </a:extLst>
          </p:cNvPr>
          <p:cNvSpPr/>
          <p:nvPr/>
        </p:nvSpPr>
        <p:spPr>
          <a:xfrm>
            <a:off x="5407308" y="671346"/>
            <a:ext cx="6401037" cy="5413248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634EB59-D3D3-40B2-82CB-4184DC05D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359" y="782694"/>
            <a:ext cx="3084092" cy="52477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A253101-93AB-489B-942E-466FB3676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297" y="773406"/>
            <a:ext cx="3063935" cy="5247702"/>
          </a:xfrm>
          <a:prstGeom prst="rect">
            <a:avLst/>
          </a:prstGeom>
        </p:spPr>
      </p:pic>
      <p:sp>
        <p:nvSpPr>
          <p:cNvPr id="31" name="Shape 41">
            <a:extLst>
              <a:ext uri="{FF2B5EF4-FFF2-40B4-BE49-F238E27FC236}">
                <a16:creationId xmlns:a16="http://schemas.microsoft.com/office/drawing/2014/main" id="{77276E9F-4EB7-4EF0-AABE-B046A411A068}"/>
              </a:ext>
            </a:extLst>
          </p:cNvPr>
          <p:cNvSpPr/>
          <p:nvPr/>
        </p:nvSpPr>
        <p:spPr>
          <a:xfrm>
            <a:off x="5360265" y="5504750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52B87A70-4B0B-4C14-A97D-3B8811DFFBB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95716" y="1994694"/>
            <a:ext cx="2349827" cy="4770867"/>
          </a:xfrm>
          <a:prstGeom prst="bentConnector2">
            <a:avLst/>
          </a:prstGeom>
          <a:ln>
            <a:solidFill>
              <a:srgbClr val="2E7D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670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2027" y="51613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52027" y="827026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이음의 철학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51366" y="1877908"/>
            <a:ext cx="13734106" cy="117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400"/>
              </a:lnSpc>
            </a:pPr>
            <a:r>
              <a:rPr lang="ko-KR" altLang="en-US" sz="32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정지된 유산을 </a:t>
            </a:r>
            <a:r>
              <a:rPr lang="ko-KR" altLang="en-US" sz="3200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당신만을</a:t>
            </a:r>
            <a:r>
              <a:rPr lang="ko-KR" altLang="en-US" sz="32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위한 살아있는 경험으로</a:t>
            </a:r>
          </a:p>
          <a:p>
            <a:pPr>
              <a:lnSpc>
                <a:spcPts val="4400"/>
              </a:lnSpc>
            </a:pPr>
            <a:r>
              <a:rPr lang="ko-KR" altLang="en-US" sz="32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변화시키는 것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52027" y="3323522"/>
            <a:ext cx="1828800" cy="0"/>
          </a:xfrm>
          <a:prstGeom prst="line">
            <a:avLst/>
          </a:prstGeom>
          <a:noFill/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72974" y="3616013"/>
            <a:ext cx="5274013" cy="158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en-US" sz="12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이음은</a:t>
            </a:r>
            <a:r>
              <a:rPr lang="en-US" sz="12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딱딱하고 멀게만 느껴지던 역사적 </a:t>
            </a:r>
            <a:r>
              <a:rPr lang="en-US" sz="12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기록을</a:t>
            </a:r>
            <a:r>
              <a:rPr lang="en-US" sz="12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ko-KR" altLang="en-US" sz="12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공식 자료를 바탕으로 사용자가 이해하기 쉬운 해설 경험으로 재구성합니다</a:t>
            </a:r>
            <a:r>
              <a:rPr lang="en-US" altLang="ko-KR" sz="12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endParaRPr lang="en-US" sz="1200" dirty="0">
              <a:solidFill>
                <a:srgbClr val="4A4A4A"/>
              </a:solidFill>
              <a:latin typeface="Nanum Myeongjo" pitchFamily="34" charset="0"/>
              <a:ea typeface="Nanum Myeongjo" pitchFamily="34" charset="-122"/>
              <a:cs typeface="Nanum Myeongj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과거의</a:t>
            </a:r>
            <a:r>
              <a:rPr lang="en-US" sz="12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유산(History)에 현대의 지능(AI)을 더해, 누구나 쉽게 역사의 가치를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공유하고 이어갈 수 있도록 돕는 </a:t>
            </a:r>
            <a:r>
              <a:rPr lang="en-US" sz="12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것이</a:t>
            </a:r>
            <a:r>
              <a:rPr lang="en-US" sz="12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이음의</a:t>
            </a:r>
            <a:r>
              <a:rPr lang="en-US" sz="12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궁극적인 존재 이유입니다.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pic>
        <p:nvPicPr>
          <p:cNvPr id="9" name="그림 8" descr="예술, 신전이(가) 표시된 사진&#10;&#10;자동 생성된 설명">
            <a:extLst>
              <a:ext uri="{FF2B5EF4-FFF2-40B4-BE49-F238E27FC236}">
                <a16:creationId xmlns:a16="http://schemas.microsoft.com/office/drawing/2014/main" id="{2E6AC6D5-7DE0-42DE-8A2A-D02AF790D06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24727" y="206149"/>
            <a:ext cx="2766967" cy="2841851"/>
          </a:xfrm>
          <a:prstGeom prst="rect">
            <a:avLst/>
          </a:prstGeom>
        </p:spPr>
      </p:pic>
      <p:pic>
        <p:nvPicPr>
          <p:cNvPr id="10" name="그림 9" descr="하늘, 신전, 야외, 밤이(가) 표시된 사진&#10;&#10;자동 생성된 설명">
            <a:extLst>
              <a:ext uri="{FF2B5EF4-FFF2-40B4-BE49-F238E27FC236}">
                <a16:creationId xmlns:a16="http://schemas.microsoft.com/office/drawing/2014/main" id="{9F55ACD3-6835-4172-9855-00D728869A9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5098888"/>
            <a:ext cx="4063999" cy="1759112"/>
          </a:xfrm>
          <a:prstGeom prst="rect">
            <a:avLst/>
          </a:prstGeom>
        </p:spPr>
      </p:pic>
      <p:sp>
        <p:nvSpPr>
          <p:cNvPr id="20" name="Shape 9">
            <a:extLst>
              <a:ext uri="{FF2B5EF4-FFF2-40B4-BE49-F238E27FC236}">
                <a16:creationId xmlns:a16="http://schemas.microsoft.com/office/drawing/2014/main" id="{7022956B-D6EA-4928-8493-84FFCCA35519}"/>
              </a:ext>
            </a:extLst>
          </p:cNvPr>
          <p:cNvSpPr/>
          <p:nvPr/>
        </p:nvSpPr>
        <p:spPr>
          <a:xfrm>
            <a:off x="6613666" y="3107139"/>
            <a:ext cx="4663629" cy="513742"/>
          </a:xfrm>
          <a:prstGeom prst="rect">
            <a:avLst/>
          </a:prstGeom>
          <a:solidFill>
            <a:srgbClr val="EAF4F2"/>
          </a:solidFill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0FC5D96A-CF6F-4EA2-86B5-6F573192E971}"/>
              </a:ext>
            </a:extLst>
          </p:cNvPr>
          <p:cNvSpPr/>
          <p:nvPr/>
        </p:nvSpPr>
        <p:spPr>
          <a:xfrm>
            <a:off x="6613666" y="3815819"/>
            <a:ext cx="4663629" cy="513742"/>
          </a:xfrm>
          <a:prstGeom prst="rect">
            <a:avLst/>
          </a:prstGeom>
          <a:solidFill>
            <a:srgbClr val="EAF4F2"/>
          </a:solidFill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61D4CA0B-6BBE-45A3-A983-43BEA0828BCB}"/>
              </a:ext>
            </a:extLst>
          </p:cNvPr>
          <p:cNvSpPr/>
          <p:nvPr/>
        </p:nvSpPr>
        <p:spPr>
          <a:xfrm>
            <a:off x="6613666" y="4524499"/>
            <a:ext cx="4663629" cy="513742"/>
          </a:xfrm>
          <a:prstGeom prst="rect">
            <a:avLst/>
          </a:prstGeom>
          <a:solidFill>
            <a:srgbClr val="EAF4F2"/>
          </a:solidFill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1B69123C-2424-4C0B-A194-C3F3612463C4}"/>
              </a:ext>
            </a:extLst>
          </p:cNvPr>
          <p:cNvSpPr/>
          <p:nvPr/>
        </p:nvSpPr>
        <p:spPr>
          <a:xfrm>
            <a:off x="6613666" y="5233180"/>
            <a:ext cx="4663629" cy="513742"/>
          </a:xfrm>
          <a:prstGeom prst="rect">
            <a:avLst/>
          </a:prstGeom>
          <a:solidFill>
            <a:srgbClr val="EAF4F2"/>
          </a:solidFill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6AB8E02E-6BE1-4863-877B-2A504632C2FE}"/>
              </a:ext>
            </a:extLst>
          </p:cNvPr>
          <p:cNvSpPr/>
          <p:nvPr/>
        </p:nvSpPr>
        <p:spPr>
          <a:xfrm>
            <a:off x="6748541" y="3256921"/>
            <a:ext cx="4393875" cy="206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첨성대의 돌에 담긴 천문 알고리즘을 학생 눈높이로 해설</a:t>
            </a:r>
            <a:endParaRPr lang="en-US" sz="1200" b="1" dirty="0">
              <a:ea typeface="Nanum Myeongjo"/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13CE8168-191B-4F00-B51B-31004359F056}"/>
              </a:ext>
            </a:extLst>
          </p:cNvPr>
          <p:cNvSpPr/>
          <p:nvPr/>
        </p:nvSpPr>
        <p:spPr>
          <a:xfrm>
            <a:off x="6695951" y="3971217"/>
            <a:ext cx="4499055" cy="206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/>
              <a:t>무량수전의 배흘림 기법의 구조적 미학과 건축학적 도슨트</a:t>
            </a:r>
            <a:endParaRPr lang="en-US" sz="1200" b="1" dirty="0">
              <a:ea typeface="Nanum Myeongjo"/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18873CA3-E726-4CA7-9C6B-E698210EB056}"/>
              </a:ext>
            </a:extLst>
          </p:cNvPr>
          <p:cNvSpPr/>
          <p:nvPr/>
        </p:nvSpPr>
        <p:spPr>
          <a:xfrm>
            <a:off x="6613666" y="4593583"/>
            <a:ext cx="4663629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성덕대왕의 신종의 </a:t>
            </a:r>
            <a:r>
              <a:rPr lang="ko-KR" altLang="en-US" sz="12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맥놀이</a:t>
            </a:r>
            <a:r>
              <a:rPr lang="ko-KR" alt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현상을 현대 음향 공학으로 재해석</a:t>
            </a:r>
            <a:endParaRPr lang="en-US" sz="1200" dirty="0">
              <a:ea typeface="Nanum Myeongjo"/>
            </a:endParaRPr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844B5E01-0530-437A-87B5-EFE24C03373D}"/>
              </a:ext>
            </a:extLst>
          </p:cNvPr>
          <p:cNvSpPr/>
          <p:nvPr/>
        </p:nvSpPr>
        <p:spPr>
          <a:xfrm>
            <a:off x="6914928" y="5334030"/>
            <a:ext cx="4061101" cy="30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200" b="1" dirty="0">
                <a:solidFill>
                  <a:srgbClr val="1A1A1A"/>
                </a:solidFill>
                <a:latin typeface="Nanum Myeongjo"/>
                <a:ea typeface="Nanum Myeongjo"/>
                <a:cs typeface="Nanum Myeongjo" pitchFamily="34" charset="-120"/>
              </a:rPr>
              <a:t>AI </a:t>
            </a:r>
            <a:r>
              <a:rPr lang="ko-KR" altLang="en-US" sz="1200" b="1" dirty="0">
                <a:solidFill>
                  <a:srgbClr val="1A1A1A"/>
                </a:solidFill>
                <a:latin typeface="Nanum Myeongjo"/>
                <a:ea typeface="Nanum Myeongjo"/>
                <a:cs typeface="Nanum Myeongjo" pitchFamily="34" charset="-120"/>
              </a:rPr>
              <a:t>참고 시각화로 소실</a:t>
            </a:r>
            <a:r>
              <a:rPr lang="en-US" altLang="ko-KR" sz="1200" b="1" dirty="0">
                <a:solidFill>
                  <a:srgbClr val="1A1A1A"/>
                </a:solidFill>
                <a:latin typeface="Nanum Myeongjo"/>
                <a:ea typeface="Nanum Myeongjo"/>
                <a:cs typeface="Nanum Myeongjo" pitchFamily="34" charset="-120"/>
              </a:rPr>
              <a:t>·</a:t>
            </a:r>
            <a:r>
              <a:rPr lang="ko-KR" altLang="en-US" sz="1200" b="1" dirty="0">
                <a:solidFill>
                  <a:srgbClr val="1A1A1A"/>
                </a:solidFill>
                <a:latin typeface="Nanum Myeongjo"/>
                <a:ea typeface="Nanum Myeongjo"/>
                <a:cs typeface="Nanum Myeongjo" pitchFamily="34" charset="-120"/>
              </a:rPr>
              <a:t>훼손된 문화재의 옛 모습을 이해</a:t>
            </a:r>
            <a:endParaRPr lang="en-US" sz="1200" dirty="0">
              <a:latin typeface="Nanum Myeongjo"/>
              <a:ea typeface="Nanum Myeongjo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838A13-11F8-4C48-BCC0-37F4830A9AC2}"/>
              </a:ext>
            </a:extLst>
          </p:cNvPr>
          <p:cNvSpPr txBox="1"/>
          <p:nvPr/>
        </p:nvSpPr>
        <p:spPr>
          <a:xfrm>
            <a:off x="5931496" y="4266139"/>
            <a:ext cx="595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1800" dirty="0">
                <a:solidFill>
                  <a:srgbClr val="1B4D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altLang="ko-KR" sz="1800" dirty="0">
              <a:solidFill>
                <a:srgbClr val="1B4D4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고(故) 한석홍 씨가 촬영한 「경주 석굴암」 석굴 흑백 원본사진">
            <a:extLst>
              <a:ext uri="{FF2B5EF4-FFF2-40B4-BE49-F238E27FC236}">
                <a16:creationId xmlns:a16="http://schemas.microsoft.com/office/drawing/2014/main" id="{6F3B3D55-CD51-48DD-B199-F3C68748C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233" y="2902"/>
            <a:ext cx="4735767" cy="466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2"/>
          <p:cNvSpPr/>
          <p:nvPr/>
        </p:nvSpPr>
        <p:spPr>
          <a:xfrm>
            <a:off x="7167276" y="19888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90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9000" dirty="0"/>
          </a:p>
        </p:txBody>
      </p:sp>
      <p:sp>
        <p:nvSpPr>
          <p:cNvPr id="5" name="Text 3"/>
          <p:cNvSpPr/>
          <p:nvPr/>
        </p:nvSpPr>
        <p:spPr>
          <a:xfrm>
            <a:off x="822960" y="2352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문제</a:t>
            </a:r>
            <a:r>
              <a:rPr lang="en-US" sz="4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ko-KR" altLang="en-US" sz="4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배경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8680" y="3403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정보는 이미 있습니다</a:t>
            </a:r>
            <a:r>
              <a:rPr lang="en-US" altLang="ko-KR" sz="15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</a:p>
          <a:p>
            <a:r>
              <a:rPr lang="ko-KR" altLang="en-US" sz="15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부족한 것은 사용자의 상황에 맞춰 이어지는 해설 흐름입니다</a:t>
            </a:r>
            <a:r>
              <a:rPr lang="en-US" altLang="ko-KR" sz="15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005217"/>
            <a:ext cx="2011680" cy="0"/>
          </a:xfrm>
          <a:prstGeom prst="line">
            <a:avLst/>
          </a:prstGeom>
          <a:noFill/>
          <a:ln w="1905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8F61B7AE-8BEC-EACC-4263-D776901DAD4A}"/>
              </a:ext>
            </a:extLst>
          </p:cNvPr>
          <p:cNvSpPr/>
          <p:nvPr/>
        </p:nvSpPr>
        <p:spPr>
          <a:xfrm>
            <a:off x="795528" y="13643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998514E3-992A-5C8C-C146-0B814FB98CBC}"/>
              </a:ext>
            </a:extLst>
          </p:cNvPr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000" dirty="0">
              <a:solidFill>
                <a:srgbClr val="2E7D70"/>
              </a:solidFill>
            </a:endParaRPr>
          </a:p>
        </p:txBody>
      </p:sp>
      <p:sp>
        <p:nvSpPr>
          <p:cNvPr id="2" name="Text 6"/>
          <p:cNvSpPr/>
          <p:nvPr/>
        </p:nvSpPr>
        <p:spPr>
          <a:xfrm>
            <a:off x="822960" y="6904447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dirty="0"/>
          </a:p>
        </p:txBody>
      </p:sp>
      <p:sp>
        <p:nvSpPr>
          <p:cNvPr id="3" name="Text 7"/>
          <p:cNvSpPr/>
          <p:nvPr/>
        </p:nvSpPr>
        <p:spPr>
          <a:xfrm>
            <a:off x="822960" y="7178767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수요</a:t>
            </a:r>
            <a:endParaRPr lang="en-US" sz="1100" dirty="0"/>
          </a:p>
        </p:txBody>
      </p:sp>
      <p:sp>
        <p:nvSpPr>
          <p:cNvPr id="25" name="Text 8"/>
          <p:cNvSpPr/>
          <p:nvPr/>
        </p:nvSpPr>
        <p:spPr>
          <a:xfrm>
            <a:off x="2212848" y="6904447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dirty="0"/>
          </a:p>
        </p:txBody>
      </p:sp>
      <p:sp>
        <p:nvSpPr>
          <p:cNvPr id="26" name="Text 9"/>
          <p:cNvSpPr/>
          <p:nvPr/>
        </p:nvSpPr>
        <p:spPr>
          <a:xfrm>
            <a:off x="2212848" y="7178767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병목</a:t>
            </a:r>
            <a:endParaRPr lang="en-US" sz="1100" dirty="0"/>
          </a:p>
        </p:txBody>
      </p:sp>
      <p:sp>
        <p:nvSpPr>
          <p:cNvPr id="27" name="Text 10"/>
          <p:cNvSpPr/>
          <p:nvPr/>
        </p:nvSpPr>
        <p:spPr>
          <a:xfrm>
            <a:off x="3602736" y="6904447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dirty="0"/>
          </a:p>
        </p:txBody>
      </p:sp>
      <p:sp>
        <p:nvSpPr>
          <p:cNvPr id="28" name="Text 11"/>
          <p:cNvSpPr/>
          <p:nvPr/>
        </p:nvSpPr>
        <p:spPr>
          <a:xfrm>
            <a:off x="3602736" y="7178767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 경로</a:t>
            </a:r>
            <a:endParaRPr lang="en-US" sz="1100" dirty="0"/>
          </a:p>
        </p:txBody>
      </p:sp>
      <p:sp>
        <p:nvSpPr>
          <p:cNvPr id="29" name="Text 12"/>
          <p:cNvSpPr/>
          <p:nvPr/>
        </p:nvSpPr>
        <p:spPr>
          <a:xfrm>
            <a:off x="4992624" y="6904447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dirty="0"/>
          </a:p>
        </p:txBody>
      </p:sp>
      <p:sp>
        <p:nvSpPr>
          <p:cNvPr id="30" name="Text 13"/>
          <p:cNvSpPr/>
          <p:nvPr/>
        </p:nvSpPr>
        <p:spPr>
          <a:xfrm>
            <a:off x="4992624" y="7178767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</a:rPr>
              <a:t>기존 앱 검토</a:t>
            </a:r>
            <a:endParaRPr lang="en-US" sz="1100" dirty="0"/>
          </a:p>
        </p:txBody>
      </p:sp>
      <p:sp>
        <p:nvSpPr>
          <p:cNvPr id="31" name="Text 14"/>
          <p:cNvSpPr/>
          <p:nvPr/>
        </p:nvSpPr>
        <p:spPr>
          <a:xfrm>
            <a:off x="6382512" y="6904447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dirty="0"/>
          </a:p>
        </p:txBody>
      </p:sp>
      <p:sp>
        <p:nvSpPr>
          <p:cNvPr id="32" name="Text 15"/>
          <p:cNvSpPr/>
          <p:nvPr/>
        </p:nvSpPr>
        <p:spPr>
          <a:xfrm>
            <a:off x="6382512" y="7178767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요구</a:t>
            </a:r>
            <a:endParaRPr lang="en-US" sz="1100" dirty="0"/>
          </a:p>
        </p:txBody>
      </p:sp>
      <p:sp>
        <p:nvSpPr>
          <p:cNvPr id="33" name="Text 16"/>
          <p:cNvSpPr/>
          <p:nvPr/>
        </p:nvSpPr>
        <p:spPr>
          <a:xfrm>
            <a:off x="7772400" y="6904447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dirty="0"/>
          </a:p>
        </p:txBody>
      </p:sp>
      <p:sp>
        <p:nvSpPr>
          <p:cNvPr id="34" name="Text 17"/>
          <p:cNvSpPr/>
          <p:nvPr/>
        </p:nvSpPr>
        <p:spPr>
          <a:xfrm>
            <a:off x="7772400" y="7178767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1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비교</a:t>
            </a:r>
            <a:endParaRPr lang="en-US" sz="1100" dirty="0"/>
          </a:p>
        </p:txBody>
      </p:sp>
      <p:sp>
        <p:nvSpPr>
          <p:cNvPr id="35" name="Text 18"/>
          <p:cNvSpPr/>
          <p:nvPr/>
        </p:nvSpPr>
        <p:spPr>
          <a:xfrm>
            <a:off x="9162288" y="6904447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dirty="0"/>
          </a:p>
        </p:txBody>
      </p:sp>
      <p:sp>
        <p:nvSpPr>
          <p:cNvPr id="36" name="Text 19"/>
          <p:cNvSpPr/>
          <p:nvPr/>
        </p:nvSpPr>
        <p:spPr>
          <a:xfrm>
            <a:off x="9162288" y="7178767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정의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000" dirty="0">
              <a:solidFill>
                <a:srgbClr val="2E7D7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문화유산은 이미 방문되지만, 관람 이후의 선택은 어렵습니다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481328"/>
            <a:ext cx="105457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707358" y="193076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활동 비율 비교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07358" y="224166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만족 활동 중 유적지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78958" y="2314814"/>
            <a:ext cx="940460" cy="164592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92570" y="224166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24.2%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07358" y="269886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박물관 · 전시관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78958" y="2772014"/>
            <a:ext cx="823874" cy="164592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75984" y="269886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21.2%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07358" y="315606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고궁 · 역사 유적지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78958" y="3229214"/>
            <a:ext cx="1507846" cy="164592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659956" y="315606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38.8%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70894" y="3840354"/>
            <a:ext cx="30111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문화유산은 "관심 없는 </a:t>
            </a:r>
            <a:r>
              <a:rPr lang="en-US" sz="10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분야"가</a:t>
            </a: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아</a:t>
            </a:r>
            <a:r>
              <a:rPr lang="ko-KR" altLang="en-US" sz="10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닙</a:t>
            </a:r>
            <a:r>
              <a:rPr lang="en-US" sz="10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니다</a:t>
            </a: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 </a:t>
            </a:r>
          </a:p>
          <a:p>
            <a:pPr marL="0" indent="0">
              <a:lnSpc>
                <a:spcPts val="1500"/>
              </a:lnSpc>
              <a:buNone/>
            </a:pPr>
            <a:r>
              <a:rPr lang="ko-KR" alt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이미 외래관광객이 실제로 참여하고 </a:t>
            </a:r>
            <a:endParaRPr lang="en-US" altLang="ko-KR" sz="1000" dirty="0">
              <a:solidFill>
                <a:srgbClr val="4A4A4A"/>
              </a:solidFill>
              <a:latin typeface="Nanum Myeongjo" pitchFamily="34" charset="0"/>
              <a:ea typeface="Nanum Myeongjo" pitchFamily="34" charset="-122"/>
              <a:cs typeface="Nanum Myeongjo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ko-KR" alt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만족하는 주요 활동입니다</a:t>
            </a:r>
            <a:r>
              <a:rPr lang="en-US" altLang="ko-KR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</a:p>
          <a:p>
            <a:pPr marL="0" indent="0">
              <a:lnSpc>
                <a:spcPts val="1500"/>
              </a:lnSpc>
              <a:buNone/>
            </a:pPr>
            <a:endParaRPr lang="en-US" sz="1000" dirty="0">
              <a:solidFill>
                <a:srgbClr val="4A4A4A"/>
              </a:solidFill>
              <a:latin typeface="Nanum Myeongjo" pitchFamily="34" charset="0"/>
              <a:ea typeface="Nanum Myeongjo" pitchFamily="34" charset="-122"/>
              <a:cs typeface="Nanum Myeongjo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따라서</a:t>
            </a: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문제는 방문 자체가 아니라, 방문한 </a:t>
            </a:r>
            <a:r>
              <a:rPr lang="en-US" sz="10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경험을</a:t>
            </a: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더 깊은 </a:t>
            </a:r>
            <a:r>
              <a:rPr lang="en-US" sz="10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이해와</a:t>
            </a: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</a:t>
            </a: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탐색으로 연결하는 방식입니다.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6217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: 2025 외래관광객조사 4분기 잠정치 보고서, 표 3-14 여행 참여 활동 / 그림 3-15 만족한 여행 활동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63640" y="1755648"/>
            <a:ext cx="0" cy="41148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446520" y="1755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32.4%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446520" y="22359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전시 및 행사 내용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80960" y="1755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30.0%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680960" y="22359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여행일정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915400" y="1755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21.7%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8915400" y="22359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주변 방문지 연계성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149840" y="1755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11.6%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0149840" y="22359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다국어 서비스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603976" y="2759417"/>
            <a:ext cx="2587373" cy="256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박물관 방문 시 중요 고려 요소 1순위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43319" y="3157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다국어 서비스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797799" y="3212736"/>
            <a:ext cx="697034" cy="146304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567985" y="31578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11.6%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43319" y="3541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주변 방문지 연계성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797799" y="3596784"/>
            <a:ext cx="1303934" cy="146304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9174885" y="35419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21.7%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43319" y="3925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여행일정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797799" y="3980832"/>
            <a:ext cx="1802674" cy="146304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9673625" y="3925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30.0%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43319" y="4310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전시 및 행사 내용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797799" y="4364880"/>
            <a:ext cx="1946888" cy="146304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9817839" y="43100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32.4%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46520" y="4937760"/>
            <a:ext cx="4937760" cy="86868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446520" y="4937760"/>
            <a:ext cx="45720" cy="86868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7002656" y="4983480"/>
            <a:ext cx="42444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외국인</a:t>
            </a:r>
            <a:r>
              <a:rPr lang="en-US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관람객은 전시 내용뿐만 </a:t>
            </a:r>
            <a:r>
              <a:rPr lang="en-US" sz="1100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아니라</a:t>
            </a:r>
            <a:r>
              <a:rPr lang="en-US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일정</a:t>
            </a:r>
            <a:r>
              <a:rPr lang="en-US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 주변 방문지, 언어 </a:t>
            </a:r>
            <a:r>
              <a:rPr lang="en-US" sz="1100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접근성을</a:t>
            </a:r>
            <a:r>
              <a:rPr lang="en-US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함께</a:t>
            </a:r>
            <a:r>
              <a:rPr lang="en-US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고려합니다. 해설은 단일 설명으로 끝나지 않고, 다음 주제 · 다음 장소 · 관련 콘텐츠로 이어져야 합니다.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46520" y="6217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: 2025 국립중앙박물관 고객만족도 조사 결과보고서, 외국인 관람객 - 박물관 방문 시 중요 고려 요소 1순위</a:t>
            </a:r>
            <a:endParaRPr lang="en-US" sz="750" dirty="0"/>
          </a:p>
        </p:txBody>
      </p:sp>
      <p:sp>
        <p:nvSpPr>
          <p:cNvPr id="60" name="Shape 24">
            <a:extLst>
              <a:ext uri="{FF2B5EF4-FFF2-40B4-BE49-F238E27FC236}">
                <a16:creationId xmlns:a16="http://schemas.microsoft.com/office/drawing/2014/main" id="{5D2DACB7-48A2-4F48-9DBB-83B1B6978191}"/>
              </a:ext>
            </a:extLst>
          </p:cNvPr>
          <p:cNvSpPr/>
          <p:nvPr/>
        </p:nvSpPr>
        <p:spPr>
          <a:xfrm>
            <a:off x="784924" y="5083280"/>
            <a:ext cx="5295834" cy="735464"/>
          </a:xfrm>
          <a:prstGeom prst="rect">
            <a:avLst/>
          </a:prstGeom>
          <a:solidFill>
            <a:srgbClr val="1B4D47"/>
          </a:solidFill>
          <a:ln w="12700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5D69F545-D391-4B00-9CD5-833A52B6D49E}"/>
              </a:ext>
            </a:extLst>
          </p:cNvPr>
          <p:cNvSpPr/>
          <p:nvPr/>
        </p:nvSpPr>
        <p:spPr>
          <a:xfrm>
            <a:off x="905712" y="5208564"/>
            <a:ext cx="50934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7FD4C8"/>
                </a:solidFill>
                <a:latin typeface="Nanum Myeongjo" pitchFamily="34" charset="0"/>
                <a:ea typeface="Nanum Myeongjo" pitchFamily="34" charset="-122"/>
              </a:rPr>
              <a:t>결론</a:t>
            </a:r>
            <a:r>
              <a:rPr lang="en-US" sz="12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 </a:t>
            </a:r>
            <a:r>
              <a:rPr lang="en-US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문화유산은 이미 방문되고 있습니다. 문제는 방문 이후, 무엇을 </a:t>
            </a:r>
            <a:r>
              <a:rPr lang="en-US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보고</a:t>
            </a:r>
            <a:r>
              <a:rPr lang="en-US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          </a:t>
            </a:r>
            <a:r>
              <a:rPr lang="en-US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어떻게</a:t>
            </a:r>
            <a:r>
              <a:rPr lang="en-US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이해할지</a:t>
            </a:r>
            <a:r>
              <a:rPr lang="en-US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안내받기 어렵다는 점입니다.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4" name="Text 5">
            <a:extLst>
              <a:ext uri="{FF2B5EF4-FFF2-40B4-BE49-F238E27FC236}">
                <a16:creationId xmlns:a16="http://schemas.microsoft.com/office/drawing/2014/main" id="{8855BE95-F4B4-46A0-8295-6E5A44A14BA6}"/>
              </a:ext>
            </a:extLst>
          </p:cNvPr>
          <p:cNvSpPr/>
          <p:nvPr/>
        </p:nvSpPr>
        <p:spPr>
          <a:xfrm>
            <a:off x="828683" y="1715605"/>
            <a:ext cx="1758706" cy="562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38.8%</a:t>
            </a:r>
            <a:endParaRPr lang="en-US" sz="2400" dirty="0"/>
          </a:p>
        </p:txBody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D87609A9-D6CA-4189-B345-202ACAF0C2B2}"/>
              </a:ext>
            </a:extLst>
          </p:cNvPr>
          <p:cNvSpPr/>
          <p:nvPr/>
        </p:nvSpPr>
        <p:spPr>
          <a:xfrm>
            <a:off x="838454" y="2315680"/>
            <a:ext cx="175870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고궁 / 역사 유적지 방문</a:t>
            </a:r>
            <a:endParaRPr lang="en-US" sz="125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D3A823A8-6FAA-4777-AEA5-70529790E928}"/>
              </a:ext>
            </a:extLst>
          </p:cNvPr>
          <p:cNvSpPr/>
          <p:nvPr/>
        </p:nvSpPr>
        <p:spPr>
          <a:xfrm>
            <a:off x="838454" y="2575370"/>
            <a:ext cx="1758706" cy="259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참여 활동</a:t>
            </a:r>
            <a:endParaRPr lang="en-US" sz="900" dirty="0"/>
          </a:p>
        </p:txBody>
      </p:sp>
      <p:sp>
        <p:nvSpPr>
          <p:cNvPr id="67" name="Shape 8">
            <a:extLst>
              <a:ext uri="{FF2B5EF4-FFF2-40B4-BE49-F238E27FC236}">
                <a16:creationId xmlns:a16="http://schemas.microsoft.com/office/drawing/2014/main" id="{23395485-9950-4B86-A879-6026B3998411}"/>
              </a:ext>
            </a:extLst>
          </p:cNvPr>
          <p:cNvSpPr/>
          <p:nvPr/>
        </p:nvSpPr>
        <p:spPr>
          <a:xfrm>
            <a:off x="828683" y="2856700"/>
            <a:ext cx="1661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9">
            <a:extLst>
              <a:ext uri="{FF2B5EF4-FFF2-40B4-BE49-F238E27FC236}">
                <a16:creationId xmlns:a16="http://schemas.microsoft.com/office/drawing/2014/main" id="{A4492D3A-09BF-4969-BEF7-D341BAB1D147}"/>
              </a:ext>
            </a:extLst>
          </p:cNvPr>
          <p:cNvSpPr/>
          <p:nvPr/>
        </p:nvSpPr>
        <p:spPr>
          <a:xfrm>
            <a:off x="828683" y="2902420"/>
            <a:ext cx="1758706" cy="562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21.2%</a:t>
            </a:r>
            <a:endParaRPr lang="en-US" sz="2400" dirty="0"/>
          </a:p>
        </p:txBody>
      </p:sp>
      <p:sp>
        <p:nvSpPr>
          <p:cNvPr id="69" name="Text 10">
            <a:extLst>
              <a:ext uri="{FF2B5EF4-FFF2-40B4-BE49-F238E27FC236}">
                <a16:creationId xmlns:a16="http://schemas.microsoft.com/office/drawing/2014/main" id="{6CCE6A81-97BB-445F-B83F-177FED2EEFA2}"/>
              </a:ext>
            </a:extLst>
          </p:cNvPr>
          <p:cNvSpPr/>
          <p:nvPr/>
        </p:nvSpPr>
        <p:spPr>
          <a:xfrm>
            <a:off x="838454" y="3397720"/>
            <a:ext cx="175870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박물관 · 전시관 관람</a:t>
            </a:r>
            <a:endParaRPr lang="en-US" sz="1250" dirty="0"/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559E4B43-E85D-435D-9790-E6BB85BB33C9}"/>
              </a:ext>
            </a:extLst>
          </p:cNvPr>
          <p:cNvSpPr/>
          <p:nvPr/>
        </p:nvSpPr>
        <p:spPr>
          <a:xfrm>
            <a:off x="838454" y="3657410"/>
            <a:ext cx="1758706" cy="259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참여 활동</a:t>
            </a:r>
            <a:endParaRPr lang="en-US" sz="900" dirty="0"/>
          </a:p>
        </p:txBody>
      </p:sp>
      <p:sp>
        <p:nvSpPr>
          <p:cNvPr id="71" name="Shape 12">
            <a:extLst>
              <a:ext uri="{FF2B5EF4-FFF2-40B4-BE49-F238E27FC236}">
                <a16:creationId xmlns:a16="http://schemas.microsoft.com/office/drawing/2014/main" id="{5B543FD7-8F21-4FB9-8ACA-5C72C1269495}"/>
              </a:ext>
            </a:extLst>
          </p:cNvPr>
          <p:cNvSpPr/>
          <p:nvPr/>
        </p:nvSpPr>
        <p:spPr>
          <a:xfrm>
            <a:off x="828683" y="3938740"/>
            <a:ext cx="1661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DCBD4E73-8732-495F-BAAB-3FB059BCA5B9}"/>
              </a:ext>
            </a:extLst>
          </p:cNvPr>
          <p:cNvSpPr/>
          <p:nvPr/>
        </p:nvSpPr>
        <p:spPr>
          <a:xfrm>
            <a:off x="828683" y="3908260"/>
            <a:ext cx="1758706" cy="562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24.2%</a:t>
            </a:r>
            <a:endParaRPr lang="en-US" sz="2400" dirty="0"/>
          </a:p>
        </p:txBody>
      </p:sp>
      <p:sp>
        <p:nvSpPr>
          <p:cNvPr id="73" name="Text 14">
            <a:extLst>
              <a:ext uri="{FF2B5EF4-FFF2-40B4-BE49-F238E27FC236}">
                <a16:creationId xmlns:a16="http://schemas.microsoft.com/office/drawing/2014/main" id="{02F6ECC2-9CD0-4216-B3EA-621134DBF595}"/>
              </a:ext>
            </a:extLst>
          </p:cNvPr>
          <p:cNvSpPr/>
          <p:nvPr/>
        </p:nvSpPr>
        <p:spPr>
          <a:xfrm>
            <a:off x="838454" y="4479759"/>
            <a:ext cx="175870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만족 활동 중 유적지</a:t>
            </a:r>
            <a:endParaRPr lang="en-US" sz="1250" dirty="0"/>
          </a:p>
        </p:txBody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92D806F2-8380-4329-A7C9-68588094B477}"/>
              </a:ext>
            </a:extLst>
          </p:cNvPr>
          <p:cNvSpPr/>
          <p:nvPr/>
        </p:nvSpPr>
        <p:spPr>
          <a:xfrm>
            <a:off x="838454" y="4739449"/>
            <a:ext cx="1758706" cy="259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4분기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37259" y="5053076"/>
            <a:ext cx="3096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해석</a:t>
            </a:r>
            <a:endParaRPr lang="en-US" sz="1100" dirty="0"/>
          </a:p>
        </p:txBody>
      </p:sp>
      <p:sp>
        <p:nvSpPr>
          <p:cNvPr id="78" name="Text 25">
            <a:extLst>
              <a:ext uri="{FF2B5EF4-FFF2-40B4-BE49-F238E27FC236}">
                <a16:creationId xmlns:a16="http://schemas.microsoft.com/office/drawing/2014/main" id="{C33660FD-D9E0-4C8E-8822-E6A77976A246}"/>
              </a:ext>
            </a:extLst>
          </p:cNvPr>
          <p:cNvSpPr/>
          <p:nvPr/>
        </p:nvSpPr>
        <p:spPr>
          <a:xfrm>
            <a:off x="2788084" y="3817672"/>
            <a:ext cx="3096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해석</a:t>
            </a:r>
            <a:endParaRPr lang="en-US" sz="1000" dirty="0"/>
          </a:p>
        </p:txBody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59E61FEC-2B2D-475B-AAF5-47C9B6C58033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24D6BC63-BA20-C00E-4B53-D9BF3146F7B3}"/>
              </a:ext>
            </a:extLst>
          </p:cNvPr>
          <p:cNvSpPr/>
          <p:nvPr/>
        </p:nvSpPr>
        <p:spPr>
          <a:xfrm>
            <a:off x="822960" y="873650"/>
            <a:ext cx="502920" cy="411480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AD79C371-7F96-7714-CD7C-638C446AD4D8}"/>
              </a:ext>
            </a:extLst>
          </p:cNvPr>
          <p:cNvSpPr/>
          <p:nvPr/>
        </p:nvSpPr>
        <p:spPr>
          <a:xfrm>
            <a:off x="822960" y="8686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000" dirty="0">
              <a:solidFill>
                <a:srgbClr val="2E7D7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873650"/>
            <a:ext cx="502920" cy="411480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정보 부족이 아니라, 해설 흐름의 부족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481328"/>
            <a:ext cx="105457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22960" y="3164840"/>
            <a:ext cx="10545775" cy="576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22960" y="3164840"/>
            <a:ext cx="45720" cy="57600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51560" y="324535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   </a:t>
            </a:r>
            <a:r>
              <a:rPr lang="en-US" sz="12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문화유산 자체는 매력적이지만, 그 경험을 이해시키는 안내 · 디지털 정보가 병목입니다.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26200" y="3883895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자료에서 보이는 포인트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4297680"/>
            <a:ext cx="0" cy="18288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446520" y="42214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해석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57885" y="625291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: 2024 외래관광객조사 보고서, 관광수용태세 개선 영역 분석(IPA), 거주국별 결과</a:t>
            </a:r>
            <a:endParaRPr lang="en-US" sz="80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012808A6-D80A-4B78-9A95-A8F4DA4AEEF1}"/>
              </a:ext>
            </a:extLst>
          </p:cNvPr>
          <p:cNvSpPr/>
          <p:nvPr/>
        </p:nvSpPr>
        <p:spPr>
          <a:xfrm>
            <a:off x="822960" y="1766081"/>
            <a:ext cx="1737360" cy="86868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3E0D9540-5B79-4F9C-A94E-A54F19EA7F3D}"/>
              </a:ext>
            </a:extLst>
          </p:cNvPr>
          <p:cNvSpPr/>
          <p:nvPr/>
        </p:nvSpPr>
        <p:spPr>
          <a:xfrm>
            <a:off x="822960" y="1766081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정보 제공</a:t>
            </a:r>
            <a:endParaRPr lang="en-US" sz="125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E51CFA03-2F3F-48C2-A453-611907D4CE9B}"/>
              </a:ext>
            </a:extLst>
          </p:cNvPr>
          <p:cNvSpPr/>
          <p:nvPr/>
        </p:nvSpPr>
        <p:spPr>
          <a:xfrm>
            <a:off x="2560320" y="1766081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CF30A81A-073E-4860-BDB2-332BD87FE0BF}"/>
              </a:ext>
            </a:extLst>
          </p:cNvPr>
          <p:cNvSpPr/>
          <p:nvPr/>
        </p:nvSpPr>
        <p:spPr>
          <a:xfrm>
            <a:off x="3017520" y="1766081"/>
            <a:ext cx="1737360" cy="868680"/>
          </a:xfrm>
          <a:prstGeom prst="rect">
            <a:avLst/>
          </a:prstGeom>
          <a:solidFill>
            <a:srgbClr val="EAF4F2"/>
          </a:solidFill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DBAE6987-1BB7-444F-98E1-8D392701CBE6}"/>
              </a:ext>
            </a:extLst>
          </p:cNvPr>
          <p:cNvSpPr/>
          <p:nvPr/>
        </p:nvSpPr>
        <p:spPr>
          <a:xfrm>
            <a:off x="3017520" y="1766081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 맥락</a:t>
            </a:r>
            <a:endParaRPr lang="en-US" sz="1250" dirty="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54F4E454-7736-48D9-B9F9-7F8019ACB981}"/>
              </a:ext>
            </a:extLst>
          </p:cNvPr>
          <p:cNvSpPr/>
          <p:nvPr/>
        </p:nvSpPr>
        <p:spPr>
          <a:xfrm>
            <a:off x="4754880" y="1766081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E586A95C-911D-44A3-BA22-9BB10F24497B}"/>
              </a:ext>
            </a:extLst>
          </p:cNvPr>
          <p:cNvSpPr/>
          <p:nvPr/>
        </p:nvSpPr>
        <p:spPr>
          <a:xfrm>
            <a:off x="5212080" y="1766081"/>
            <a:ext cx="1737360" cy="868680"/>
          </a:xfrm>
          <a:prstGeom prst="rect">
            <a:avLst/>
          </a:prstGeom>
          <a:solidFill>
            <a:srgbClr val="EAF4F2"/>
          </a:solidFill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832EA6AF-43E6-4F4E-9E94-AAAC975882C5}"/>
              </a:ext>
            </a:extLst>
          </p:cNvPr>
          <p:cNvSpPr/>
          <p:nvPr/>
        </p:nvSpPr>
        <p:spPr>
          <a:xfrm>
            <a:off x="5212080" y="1766081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관심사 선택</a:t>
            </a:r>
            <a:endParaRPr lang="en-US" sz="125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21DB8E9F-6522-430F-8F0A-BE65727B889D}"/>
              </a:ext>
            </a:extLst>
          </p:cNvPr>
          <p:cNvSpPr/>
          <p:nvPr/>
        </p:nvSpPr>
        <p:spPr>
          <a:xfrm>
            <a:off x="6949440" y="1766081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49E530DE-456B-4090-89C3-2FA89B92FA64}"/>
              </a:ext>
            </a:extLst>
          </p:cNvPr>
          <p:cNvSpPr/>
          <p:nvPr/>
        </p:nvSpPr>
        <p:spPr>
          <a:xfrm>
            <a:off x="7406640" y="1766081"/>
            <a:ext cx="1737360" cy="868680"/>
          </a:xfrm>
          <a:prstGeom prst="rect">
            <a:avLst/>
          </a:prstGeom>
          <a:solidFill>
            <a:srgbClr val="EAF4F2"/>
          </a:solidFill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A81A2A6B-CBFF-4DE6-8192-817A4A58C5B1}"/>
              </a:ext>
            </a:extLst>
          </p:cNvPr>
          <p:cNvSpPr/>
          <p:nvPr/>
        </p:nvSpPr>
        <p:spPr>
          <a:xfrm>
            <a:off x="7406640" y="1766081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 이야기</a:t>
            </a:r>
            <a:endParaRPr lang="en-US" sz="125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8AD0DAA8-92B9-435B-8DC0-DA066ACB337E}"/>
              </a:ext>
            </a:extLst>
          </p:cNvPr>
          <p:cNvSpPr/>
          <p:nvPr/>
        </p:nvSpPr>
        <p:spPr>
          <a:xfrm>
            <a:off x="9144000" y="1766081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587F7288-0ADB-4813-97D1-E6F1791EDF04}"/>
              </a:ext>
            </a:extLst>
          </p:cNvPr>
          <p:cNvSpPr/>
          <p:nvPr/>
        </p:nvSpPr>
        <p:spPr>
          <a:xfrm>
            <a:off x="9601200" y="1766081"/>
            <a:ext cx="1737360" cy="868680"/>
          </a:xfrm>
          <a:prstGeom prst="rect">
            <a:avLst/>
          </a:prstGeom>
          <a:solidFill>
            <a:srgbClr val="EAF4F2"/>
          </a:solidFill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090A90B6-2F11-4041-BDDB-E17F02EF8FA9}"/>
              </a:ext>
            </a:extLst>
          </p:cNvPr>
          <p:cNvSpPr/>
          <p:nvPr/>
        </p:nvSpPr>
        <p:spPr>
          <a:xfrm>
            <a:off x="9601200" y="1766081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경험 확장</a:t>
            </a:r>
            <a:endParaRPr lang="en-US" sz="125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6EA99BC2-93C2-4B7C-BC2F-3108EFBAC6B2}"/>
              </a:ext>
            </a:extLst>
          </p:cNvPr>
          <p:cNvSpPr/>
          <p:nvPr/>
        </p:nvSpPr>
        <p:spPr>
          <a:xfrm>
            <a:off x="3017520" y="2809119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병목 구간</a:t>
            </a:r>
            <a:endParaRPr lang="en-US" sz="1000" dirty="0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B462D80D-63E7-44A3-A59A-E5066E1B51BA}"/>
              </a:ext>
            </a:extLst>
          </p:cNvPr>
          <p:cNvSpPr/>
          <p:nvPr/>
        </p:nvSpPr>
        <p:spPr>
          <a:xfrm>
            <a:off x="3017520" y="2729465"/>
            <a:ext cx="6126480" cy="0"/>
          </a:xfrm>
          <a:prstGeom prst="line">
            <a:avLst/>
          </a:prstGeom>
          <a:noFill/>
          <a:ln w="12700">
            <a:solidFill>
              <a:srgbClr val="2E7D7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E783A3DD-43D7-495C-81E9-CE0493910188}"/>
              </a:ext>
            </a:extLst>
          </p:cNvPr>
          <p:cNvSpPr/>
          <p:nvPr/>
        </p:nvSpPr>
        <p:spPr>
          <a:xfrm>
            <a:off x="583833" y="3739841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최우선 개선 영역</a:t>
            </a:r>
            <a:endParaRPr lang="en-US" sz="1300" dirty="0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D81181B6-DDF2-4FE4-B954-FEE6B644C3A3}"/>
              </a:ext>
            </a:extLst>
          </p:cNvPr>
          <p:cNvSpPr/>
          <p:nvPr/>
        </p:nvSpPr>
        <p:spPr>
          <a:xfrm>
            <a:off x="997218" y="4201417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41D1F9D6-B72D-42DA-B653-8133394140A8}"/>
              </a:ext>
            </a:extLst>
          </p:cNvPr>
          <p:cNvSpPr/>
          <p:nvPr/>
        </p:nvSpPr>
        <p:spPr>
          <a:xfrm>
            <a:off x="1683018" y="4201417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관광안내 서비스</a:t>
            </a:r>
            <a:endParaRPr lang="en-US" sz="1350" dirty="0"/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4A45682A-9BB8-41E8-B255-4A09DFE8A7F1}"/>
              </a:ext>
            </a:extLst>
          </p:cNvPr>
          <p:cNvSpPr/>
          <p:nvPr/>
        </p:nvSpPr>
        <p:spPr>
          <a:xfrm>
            <a:off x="4746258" y="4265425"/>
            <a:ext cx="640080" cy="329184"/>
          </a:xfrm>
          <a:prstGeom prst="rect">
            <a:avLst/>
          </a:prstGeom>
          <a:solidFill>
            <a:srgbClr val="2E7D7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</a:t>
            </a:r>
            <a:endParaRPr lang="en-US" sz="850" dirty="0"/>
          </a:p>
        </p:txBody>
      </p:sp>
      <p:sp>
        <p:nvSpPr>
          <p:cNvPr id="66" name="Shape 14">
            <a:extLst>
              <a:ext uri="{FF2B5EF4-FFF2-40B4-BE49-F238E27FC236}">
                <a16:creationId xmlns:a16="http://schemas.microsoft.com/office/drawing/2014/main" id="{DD7AF16D-8DDB-47B7-A3BF-48153BDE804D}"/>
              </a:ext>
            </a:extLst>
          </p:cNvPr>
          <p:cNvSpPr/>
          <p:nvPr/>
        </p:nvSpPr>
        <p:spPr>
          <a:xfrm>
            <a:off x="997218" y="4675579"/>
            <a:ext cx="43434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72B7B401-D99F-46AD-A7B3-0755CD2D32A0}"/>
              </a:ext>
            </a:extLst>
          </p:cNvPr>
          <p:cNvSpPr/>
          <p:nvPr/>
        </p:nvSpPr>
        <p:spPr>
          <a:xfrm>
            <a:off x="997218" y="4730443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54D30665-2225-4233-996E-64283D6C1C7E}"/>
              </a:ext>
            </a:extLst>
          </p:cNvPr>
          <p:cNvSpPr/>
          <p:nvPr/>
        </p:nvSpPr>
        <p:spPr>
          <a:xfrm>
            <a:off x="1683018" y="4730443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디지털 관광 정보</a:t>
            </a:r>
            <a:endParaRPr lang="en-US" sz="1350" dirty="0"/>
          </a:p>
        </p:txBody>
      </p:sp>
      <p:sp>
        <p:nvSpPr>
          <p:cNvPr id="69" name="Text 17">
            <a:extLst>
              <a:ext uri="{FF2B5EF4-FFF2-40B4-BE49-F238E27FC236}">
                <a16:creationId xmlns:a16="http://schemas.microsoft.com/office/drawing/2014/main" id="{CC8FC446-9574-4818-81D0-7273185A5A65}"/>
              </a:ext>
            </a:extLst>
          </p:cNvPr>
          <p:cNvSpPr/>
          <p:nvPr/>
        </p:nvSpPr>
        <p:spPr>
          <a:xfrm>
            <a:off x="4746258" y="4794451"/>
            <a:ext cx="640080" cy="329184"/>
          </a:xfrm>
          <a:prstGeom prst="rect">
            <a:avLst/>
          </a:prstGeom>
          <a:solidFill>
            <a:srgbClr val="2E7D7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</a:t>
            </a:r>
            <a:endParaRPr lang="en-US" sz="850" dirty="0"/>
          </a:p>
        </p:txBody>
      </p:sp>
      <p:sp>
        <p:nvSpPr>
          <p:cNvPr id="70" name="Shape 18">
            <a:extLst>
              <a:ext uri="{FF2B5EF4-FFF2-40B4-BE49-F238E27FC236}">
                <a16:creationId xmlns:a16="http://schemas.microsoft.com/office/drawing/2014/main" id="{332B90F4-A57E-492D-98BE-36E26FB66A16}"/>
              </a:ext>
            </a:extLst>
          </p:cNvPr>
          <p:cNvSpPr/>
          <p:nvPr/>
        </p:nvSpPr>
        <p:spPr>
          <a:xfrm>
            <a:off x="997218" y="5204606"/>
            <a:ext cx="43434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19">
            <a:extLst>
              <a:ext uri="{FF2B5EF4-FFF2-40B4-BE49-F238E27FC236}">
                <a16:creationId xmlns:a16="http://schemas.microsoft.com/office/drawing/2014/main" id="{A821EA14-1984-4F61-A070-AD24FD017347}"/>
              </a:ext>
            </a:extLst>
          </p:cNvPr>
          <p:cNvSpPr/>
          <p:nvPr/>
        </p:nvSpPr>
        <p:spPr>
          <a:xfrm>
            <a:off x="997218" y="525947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72" name="Text 20">
            <a:extLst>
              <a:ext uri="{FF2B5EF4-FFF2-40B4-BE49-F238E27FC236}">
                <a16:creationId xmlns:a16="http://schemas.microsoft.com/office/drawing/2014/main" id="{07F1F510-BE6F-4CD2-9C9D-9C6E4FF162DD}"/>
              </a:ext>
            </a:extLst>
          </p:cNvPr>
          <p:cNvSpPr/>
          <p:nvPr/>
        </p:nvSpPr>
        <p:spPr>
          <a:xfrm>
            <a:off x="1683018" y="525947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여행사</a:t>
            </a:r>
            <a:r>
              <a:rPr lang="en-US" sz="13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/ 가이드</a:t>
            </a:r>
            <a:endParaRPr lang="en-US" sz="135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430406E0-346E-4D4B-AEF1-7B557C58CD40}"/>
              </a:ext>
            </a:extLst>
          </p:cNvPr>
          <p:cNvSpPr/>
          <p:nvPr/>
        </p:nvSpPr>
        <p:spPr>
          <a:xfrm>
            <a:off x="997218" y="5680622"/>
            <a:ext cx="43434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DE95DBCA-511F-45F5-B656-180040B64627}"/>
              </a:ext>
            </a:extLst>
          </p:cNvPr>
          <p:cNvSpPr/>
          <p:nvPr/>
        </p:nvSpPr>
        <p:spPr>
          <a:xfrm>
            <a:off x="997218" y="573548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8BBED2CC-88D5-4C14-A6CE-CE6BEA5CA9AD}"/>
              </a:ext>
            </a:extLst>
          </p:cNvPr>
          <p:cNvSpPr/>
          <p:nvPr/>
        </p:nvSpPr>
        <p:spPr>
          <a:xfrm>
            <a:off x="1683018" y="573548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대중교통 / 교통</a:t>
            </a:r>
            <a:endParaRPr lang="en-US" sz="1350" dirty="0"/>
          </a:p>
        </p:txBody>
      </p:sp>
      <p:sp>
        <p:nvSpPr>
          <p:cNvPr id="76" name="Shape 14">
            <a:extLst>
              <a:ext uri="{FF2B5EF4-FFF2-40B4-BE49-F238E27FC236}">
                <a16:creationId xmlns:a16="http://schemas.microsoft.com/office/drawing/2014/main" id="{50E1CAA6-1D4D-4644-A4F5-2056EEC24F72}"/>
              </a:ext>
            </a:extLst>
          </p:cNvPr>
          <p:cNvSpPr/>
          <p:nvPr/>
        </p:nvSpPr>
        <p:spPr>
          <a:xfrm>
            <a:off x="1008342" y="4171582"/>
            <a:ext cx="4377995" cy="1874"/>
          </a:xfrm>
          <a:prstGeom prst="line">
            <a:avLst/>
          </a:prstGeom>
          <a:noFill/>
          <a:ln w="6350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">
            <a:extLst>
              <a:ext uri="{FF2B5EF4-FFF2-40B4-BE49-F238E27FC236}">
                <a16:creationId xmlns:a16="http://schemas.microsoft.com/office/drawing/2014/main" id="{2349B29B-DDE1-4818-AFC7-B1E0EDD3FD75}"/>
              </a:ext>
            </a:extLst>
          </p:cNvPr>
          <p:cNvSpPr/>
          <p:nvPr/>
        </p:nvSpPr>
        <p:spPr>
          <a:xfrm>
            <a:off x="6923762" y="4078897"/>
            <a:ext cx="4862956" cy="2205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ko-KR" altLang="en-US" sz="1300" dirty="0">
                <a:latin typeface="Nanum Myeongjo"/>
              </a:rPr>
              <a:t>방문자는 장소를 찾은 뒤에도</a:t>
            </a:r>
            <a:r>
              <a:rPr lang="en-US" altLang="ko-KR" sz="1300" dirty="0">
                <a:latin typeface="Nanum Myeongjo"/>
              </a:rPr>
              <a:t>,</a:t>
            </a:r>
          </a:p>
          <a:p>
            <a:pPr>
              <a:lnSpc>
                <a:spcPts val="1900"/>
              </a:lnSpc>
            </a:pPr>
            <a:r>
              <a:rPr lang="ko-KR" altLang="en-US" sz="1300" dirty="0">
                <a:latin typeface="Nanum Myeongjo"/>
              </a:rPr>
              <a:t>무엇을 먼저 보고 어떤 관점으로 이해할지 안내가 필요합니다</a:t>
            </a:r>
            <a:r>
              <a:rPr lang="en-US" altLang="ko-KR" sz="1300" dirty="0">
                <a:latin typeface="Nanum Myeongjo"/>
              </a:rPr>
              <a:t>.</a:t>
            </a:r>
          </a:p>
          <a:p>
            <a:pPr>
              <a:lnSpc>
                <a:spcPts val="1900"/>
              </a:lnSpc>
            </a:pPr>
            <a:endParaRPr lang="en-US" altLang="ko-KR" sz="1300" dirty="0">
              <a:latin typeface="Nanum Myeongjo"/>
            </a:endParaRPr>
          </a:p>
          <a:p>
            <a:pPr>
              <a:lnSpc>
                <a:spcPts val="1900"/>
              </a:lnSpc>
            </a:pPr>
            <a:r>
              <a:rPr lang="ko-KR" altLang="en-US" sz="1300" dirty="0">
                <a:latin typeface="Nanum Myeongjo"/>
              </a:rPr>
              <a:t>현장에서 무엇을 보고</a:t>
            </a:r>
            <a:r>
              <a:rPr lang="en-US" altLang="ko-KR" sz="1300" dirty="0">
                <a:latin typeface="Nanum Myeongjo"/>
              </a:rPr>
              <a:t>, </a:t>
            </a:r>
            <a:r>
              <a:rPr lang="ko-KR" altLang="en-US" sz="1300" dirty="0">
                <a:latin typeface="Nanum Myeongjo"/>
              </a:rPr>
              <a:t>어떤 관점으로 이해하고</a:t>
            </a:r>
            <a:r>
              <a:rPr lang="en-US" altLang="ko-KR" sz="1300" dirty="0">
                <a:latin typeface="Nanum Myeongjo"/>
              </a:rPr>
              <a:t>,</a:t>
            </a:r>
          </a:p>
          <a:p>
            <a:pPr>
              <a:lnSpc>
                <a:spcPts val="1900"/>
              </a:lnSpc>
            </a:pPr>
            <a:r>
              <a:rPr lang="ko-KR" altLang="en-US" sz="1300" dirty="0">
                <a:latin typeface="Nanum Myeongjo"/>
              </a:rPr>
              <a:t>다음에 무엇을 보면 좋을지 </a:t>
            </a:r>
            <a:r>
              <a:rPr lang="ko-KR" altLang="en-US" sz="1300" dirty="0" err="1">
                <a:latin typeface="Nanum Myeongjo"/>
              </a:rPr>
              <a:t>안내받아야</a:t>
            </a:r>
            <a:r>
              <a:rPr lang="ko-KR" altLang="en-US" sz="1300" dirty="0">
                <a:latin typeface="Nanum Myeongjo"/>
              </a:rPr>
              <a:t> 합니다</a:t>
            </a:r>
            <a:r>
              <a:rPr lang="en-US" altLang="ko-KR" sz="1300" dirty="0">
                <a:latin typeface="Nanum Myeongjo"/>
              </a:rPr>
              <a:t>.</a:t>
            </a:r>
          </a:p>
          <a:p>
            <a:pPr>
              <a:lnSpc>
                <a:spcPts val="1900"/>
              </a:lnSpc>
            </a:pPr>
            <a:endParaRPr lang="en-US" altLang="ko-KR" sz="1300" dirty="0">
              <a:latin typeface="Nanum Myeongjo"/>
            </a:endParaRPr>
          </a:p>
          <a:p>
            <a:pPr>
              <a:lnSpc>
                <a:spcPts val="1900"/>
              </a:lnSpc>
            </a:pPr>
            <a:r>
              <a:rPr lang="ko-KR" altLang="en-US" sz="1300" dirty="0">
                <a:latin typeface="Nanum Myeongjo"/>
              </a:rPr>
              <a:t>따라서 문제는 관광정보의 양이 아니라</a:t>
            </a:r>
            <a:r>
              <a:rPr lang="en-US" altLang="ko-KR" sz="1300" dirty="0">
                <a:latin typeface="Nanum Myeongjo"/>
              </a:rPr>
              <a:t>,</a:t>
            </a:r>
          </a:p>
          <a:p>
            <a:pPr>
              <a:lnSpc>
                <a:spcPts val="1900"/>
              </a:lnSpc>
            </a:pPr>
            <a:r>
              <a:rPr lang="ko-KR" altLang="en-US" sz="1300" dirty="0">
                <a:latin typeface="Nanum Myeongjo"/>
              </a:rPr>
              <a:t>맥락 기반 디지털 해설 경험입니다</a:t>
            </a:r>
            <a:r>
              <a:rPr lang="en-US" altLang="ko-KR" sz="1300" dirty="0">
                <a:latin typeface="Nanum Myeongjo"/>
              </a:rPr>
              <a:t>.</a:t>
            </a:r>
            <a:endParaRPr lang="en-US" sz="1300" dirty="0">
              <a:latin typeface="Nanum Myeongjo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4F51685F-BDF5-4ED4-9036-3312E8AA4250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11">
            <a:extLst>
              <a:ext uri="{FF2B5EF4-FFF2-40B4-BE49-F238E27FC236}">
                <a16:creationId xmlns:a16="http://schemas.microsoft.com/office/drawing/2014/main" id="{80A084D2-5FB8-4E80-9E68-A211DE78EBFD}"/>
              </a:ext>
            </a:extLst>
          </p:cNvPr>
          <p:cNvSpPr/>
          <p:nvPr/>
        </p:nvSpPr>
        <p:spPr>
          <a:xfrm>
            <a:off x="822960" y="2340777"/>
            <a:ext cx="33649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000" dirty="0">
              <a:solidFill>
                <a:srgbClr val="2E7D7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502920" cy="411480"/>
          </a:xfrm>
          <a:prstGeom prst="rect">
            <a:avLst/>
          </a:prstGeom>
          <a:solidFill>
            <a:srgbClr val="1B4D47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481328"/>
            <a:ext cx="105457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A39B92D3-1D02-4269-A98E-0B3ED7004402}"/>
              </a:ext>
            </a:extLst>
          </p:cNvPr>
          <p:cNvSpPr/>
          <p:nvPr/>
        </p:nvSpPr>
        <p:spPr>
          <a:xfrm>
            <a:off x="4187952" y="2340777"/>
            <a:ext cx="33649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5A19AD22-36A7-40D9-B42C-B07CE61CA6B8}"/>
              </a:ext>
            </a:extLst>
          </p:cNvPr>
          <p:cNvSpPr/>
          <p:nvPr/>
        </p:nvSpPr>
        <p:spPr>
          <a:xfrm>
            <a:off x="4187952" y="3054009"/>
            <a:ext cx="33649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67520D12-EFBE-4D4C-A69E-099ABBB0C5EA}"/>
              </a:ext>
            </a:extLst>
          </p:cNvPr>
          <p:cNvSpPr/>
          <p:nvPr/>
        </p:nvSpPr>
        <p:spPr>
          <a:xfrm>
            <a:off x="4187952" y="3767241"/>
            <a:ext cx="33649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D210875A-ACB0-457E-8FC5-A50EACDA1A17}"/>
              </a:ext>
            </a:extLst>
          </p:cNvPr>
          <p:cNvSpPr/>
          <p:nvPr/>
        </p:nvSpPr>
        <p:spPr>
          <a:xfrm>
            <a:off x="4187952" y="4480473"/>
            <a:ext cx="33649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D1C45676-AEC3-40DE-80D1-9057E7EC9C81}"/>
              </a:ext>
            </a:extLst>
          </p:cNvPr>
          <p:cNvSpPr/>
          <p:nvPr/>
        </p:nvSpPr>
        <p:spPr>
          <a:xfrm>
            <a:off x="4187952" y="1773849"/>
            <a:ext cx="3364992" cy="566928"/>
          </a:xfrm>
          <a:prstGeom prst="rect">
            <a:avLst/>
          </a:prstGeom>
          <a:solidFill>
            <a:srgbClr val="F5F5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4914F760-BBBE-4618-9AAF-E186DDF02DA1}"/>
              </a:ext>
            </a:extLst>
          </p:cNvPr>
          <p:cNvSpPr/>
          <p:nvPr/>
        </p:nvSpPr>
        <p:spPr>
          <a:xfrm>
            <a:off x="822960" y="1773849"/>
            <a:ext cx="3364992" cy="566928"/>
          </a:xfrm>
          <a:prstGeom prst="rect">
            <a:avLst/>
          </a:prstGeom>
          <a:solidFill>
            <a:srgbClr val="F5F5F3"/>
          </a:solidFill>
          <a:ln w="12700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8ADF3123-5C8D-4592-819F-251B4A650D8A}"/>
              </a:ext>
            </a:extLst>
          </p:cNvPr>
          <p:cNvSpPr/>
          <p:nvPr/>
        </p:nvSpPr>
        <p:spPr>
          <a:xfrm>
            <a:off x="822960" y="1773849"/>
            <a:ext cx="3364992" cy="566928"/>
          </a:xfrm>
          <a:prstGeom prst="rect">
            <a:avLst/>
          </a:prstGeom>
          <a:noFill/>
          <a:ln>
            <a:solidFill>
              <a:srgbClr val="2E7D7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사용자가 원하는 것</a:t>
            </a:r>
            <a:endParaRPr lang="en-US" sz="1250" dirty="0">
              <a:solidFill>
                <a:srgbClr val="2E7D70"/>
              </a:solidFill>
            </a:endParaRPr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FA13C983-F288-49A0-B661-09AEE1C31410}"/>
              </a:ext>
            </a:extLst>
          </p:cNvPr>
          <p:cNvSpPr/>
          <p:nvPr/>
        </p:nvSpPr>
        <p:spPr>
          <a:xfrm>
            <a:off x="4187952" y="1773849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기존 정보 방식</a:t>
            </a:r>
            <a:endParaRPr lang="en-US" sz="1250" dirty="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AF0C57C7-596F-4134-A678-7251EE3C2167}"/>
              </a:ext>
            </a:extLst>
          </p:cNvPr>
          <p:cNvSpPr/>
          <p:nvPr/>
        </p:nvSpPr>
        <p:spPr>
          <a:xfrm>
            <a:off x="7552944" y="1773849"/>
            <a:ext cx="3785616" cy="566928"/>
          </a:xfrm>
          <a:prstGeom prst="rect">
            <a:avLst/>
          </a:prstGeom>
          <a:solidFill>
            <a:srgbClr val="2E7D7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5948D44A-87B8-47ED-89A4-F3D9A0BEF87E}"/>
              </a:ext>
            </a:extLst>
          </p:cNvPr>
          <p:cNvSpPr/>
          <p:nvPr/>
        </p:nvSpPr>
        <p:spPr>
          <a:xfrm>
            <a:off x="7552944" y="1773849"/>
            <a:ext cx="3785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필요한 방식</a:t>
            </a:r>
            <a:endParaRPr lang="en-US" sz="125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7D1E6DDB-89B4-46EE-9341-39D6E7683A81}"/>
              </a:ext>
            </a:extLst>
          </p:cNvPr>
          <p:cNvSpPr/>
          <p:nvPr/>
        </p:nvSpPr>
        <p:spPr>
          <a:xfrm>
            <a:off x="960120" y="2340777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어디서부터 볼지</a:t>
            </a:r>
            <a:endParaRPr lang="en-US" sz="1250" dirty="0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F23D2EE3-DA29-4911-9D9F-9D0B721B6CD2}"/>
              </a:ext>
            </a:extLst>
          </p:cNvPr>
          <p:cNvSpPr/>
          <p:nvPr/>
        </p:nvSpPr>
        <p:spPr>
          <a:xfrm>
            <a:off x="4325112" y="2340777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장소 · 유물 목록</a:t>
            </a:r>
            <a:endParaRPr lang="en-US" sz="1250" dirty="0"/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DD570294-D71F-47F0-8AA1-C97147BB9614}"/>
              </a:ext>
            </a:extLst>
          </p:cNvPr>
          <p:cNvSpPr/>
          <p:nvPr/>
        </p:nvSpPr>
        <p:spPr>
          <a:xfrm>
            <a:off x="7552944" y="2340777"/>
            <a:ext cx="3785616" cy="713232"/>
          </a:xfrm>
          <a:prstGeom prst="rect">
            <a:avLst/>
          </a:prstGeom>
          <a:solidFill>
            <a:srgbClr val="EAF4F2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2B79A5C7-7987-4ED7-BAA8-EB035FA5F899}"/>
              </a:ext>
            </a:extLst>
          </p:cNvPr>
          <p:cNvSpPr/>
          <p:nvPr/>
        </p:nvSpPr>
        <p:spPr>
          <a:xfrm>
            <a:off x="7690104" y="2340777"/>
            <a:ext cx="3511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관심사 기반 카테고리</a:t>
            </a:r>
            <a:endParaRPr lang="en-US" sz="125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69CE20D8-8E27-4BD8-BA62-CC9DFA611151}"/>
              </a:ext>
            </a:extLst>
          </p:cNvPr>
          <p:cNvSpPr/>
          <p:nvPr/>
        </p:nvSpPr>
        <p:spPr>
          <a:xfrm>
            <a:off x="822960" y="3054009"/>
            <a:ext cx="33649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F03ACC2F-EC53-4A1E-8E13-B4A1815925AB}"/>
              </a:ext>
            </a:extLst>
          </p:cNvPr>
          <p:cNvSpPr/>
          <p:nvPr/>
        </p:nvSpPr>
        <p:spPr>
          <a:xfrm>
            <a:off x="960120" y="3054009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왜 중요한지</a:t>
            </a:r>
            <a:endParaRPr lang="en-US" sz="125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47A8D6E0-9AAB-44A9-8281-5E3B02DC3309}"/>
              </a:ext>
            </a:extLst>
          </p:cNvPr>
          <p:cNvSpPr/>
          <p:nvPr/>
        </p:nvSpPr>
        <p:spPr>
          <a:xfrm>
            <a:off x="4325112" y="3054009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고정 설명</a:t>
            </a:r>
            <a:endParaRPr lang="en-US" sz="1250" dirty="0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437F97A7-C1A8-4638-9BF7-E4C41E455E5C}"/>
              </a:ext>
            </a:extLst>
          </p:cNvPr>
          <p:cNvSpPr/>
          <p:nvPr/>
        </p:nvSpPr>
        <p:spPr>
          <a:xfrm>
            <a:off x="7552944" y="3054009"/>
            <a:ext cx="3785616" cy="713232"/>
          </a:xfrm>
          <a:prstGeom prst="rect">
            <a:avLst/>
          </a:prstGeom>
          <a:solidFill>
            <a:srgbClr val="EAF4F2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E305B99F-464C-4D75-B38A-B7CA7A94C587}"/>
              </a:ext>
            </a:extLst>
          </p:cNvPr>
          <p:cNvSpPr/>
          <p:nvPr/>
        </p:nvSpPr>
        <p:spPr>
          <a:xfrm>
            <a:off x="7690104" y="3054009"/>
            <a:ext cx="3511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배경지식에 맞춘 해설</a:t>
            </a:r>
            <a:endParaRPr lang="en-US" sz="1250" dirty="0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EB222B98-021A-4D7A-884F-F8EA0A33F8A0}"/>
              </a:ext>
            </a:extLst>
          </p:cNvPr>
          <p:cNvSpPr/>
          <p:nvPr/>
        </p:nvSpPr>
        <p:spPr>
          <a:xfrm>
            <a:off x="822960" y="3767241"/>
            <a:ext cx="33649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8A63694C-1EFE-4E24-9CD7-F69BEA22115E}"/>
              </a:ext>
            </a:extLst>
          </p:cNvPr>
          <p:cNvSpPr/>
          <p:nvPr/>
        </p:nvSpPr>
        <p:spPr>
          <a:xfrm>
            <a:off x="960120" y="3767241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다음에 뭘 볼지</a:t>
            </a:r>
            <a:endParaRPr lang="en-US" sz="1250" dirty="0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FE5ECE91-9B89-4F3E-9BF0-2E0595991789}"/>
              </a:ext>
            </a:extLst>
          </p:cNvPr>
          <p:cNvSpPr/>
          <p:nvPr/>
        </p:nvSpPr>
        <p:spPr>
          <a:xfrm>
            <a:off x="4325112" y="3767241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직접 검색</a:t>
            </a:r>
            <a:endParaRPr lang="en-US" sz="1250" dirty="0"/>
          </a:p>
        </p:txBody>
      </p:sp>
      <p:sp>
        <p:nvSpPr>
          <p:cNvPr id="55" name="Shape 27">
            <a:extLst>
              <a:ext uri="{FF2B5EF4-FFF2-40B4-BE49-F238E27FC236}">
                <a16:creationId xmlns:a16="http://schemas.microsoft.com/office/drawing/2014/main" id="{D8CA4DE2-CDBC-4BE2-B8E4-E21C23CBE1B9}"/>
              </a:ext>
            </a:extLst>
          </p:cNvPr>
          <p:cNvSpPr/>
          <p:nvPr/>
        </p:nvSpPr>
        <p:spPr>
          <a:xfrm>
            <a:off x="7552944" y="3767241"/>
            <a:ext cx="3785616" cy="713232"/>
          </a:xfrm>
          <a:prstGeom prst="rect">
            <a:avLst/>
          </a:prstGeom>
          <a:solidFill>
            <a:srgbClr val="EAF4F2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C1303D90-1541-4EFD-9586-FA42489DEEF8}"/>
              </a:ext>
            </a:extLst>
          </p:cNvPr>
          <p:cNvSpPr/>
          <p:nvPr/>
        </p:nvSpPr>
        <p:spPr>
          <a:xfrm>
            <a:off x="7690104" y="3767241"/>
            <a:ext cx="3511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 주제 추천</a:t>
            </a:r>
            <a:endParaRPr lang="en-US" sz="1250" dirty="0"/>
          </a:p>
        </p:txBody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FD5440A7-17A6-4FE9-A50D-34C091E2F79E}"/>
              </a:ext>
            </a:extLst>
          </p:cNvPr>
          <p:cNvSpPr/>
          <p:nvPr/>
        </p:nvSpPr>
        <p:spPr>
          <a:xfrm>
            <a:off x="822960" y="4480473"/>
            <a:ext cx="33649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5AAB3372-EA45-4A30-A4D7-61E0944C5732}"/>
              </a:ext>
            </a:extLst>
          </p:cNvPr>
          <p:cNvSpPr/>
          <p:nvPr/>
        </p:nvSpPr>
        <p:spPr>
          <a:xfrm>
            <a:off x="960120" y="4480473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어떻게 기억할지</a:t>
            </a:r>
            <a:endParaRPr lang="en-US" sz="1250" dirty="0"/>
          </a:p>
        </p:txBody>
      </p:sp>
      <p:sp>
        <p:nvSpPr>
          <p:cNvPr id="59" name="Text 32">
            <a:extLst>
              <a:ext uri="{FF2B5EF4-FFF2-40B4-BE49-F238E27FC236}">
                <a16:creationId xmlns:a16="http://schemas.microsoft.com/office/drawing/2014/main" id="{7B690A61-7EDF-4BA9-B9C8-4AF31A971DE0}"/>
              </a:ext>
            </a:extLst>
          </p:cNvPr>
          <p:cNvSpPr/>
          <p:nvPr/>
        </p:nvSpPr>
        <p:spPr>
          <a:xfrm>
            <a:off x="4325112" y="4480473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단발 정보</a:t>
            </a:r>
            <a:endParaRPr lang="en-US" sz="1250" dirty="0"/>
          </a:p>
        </p:txBody>
      </p:sp>
      <p:sp>
        <p:nvSpPr>
          <p:cNvPr id="60" name="Shape 33">
            <a:extLst>
              <a:ext uri="{FF2B5EF4-FFF2-40B4-BE49-F238E27FC236}">
                <a16:creationId xmlns:a16="http://schemas.microsoft.com/office/drawing/2014/main" id="{ABF46DCD-CE94-479F-A8E6-B107DD40E04A}"/>
              </a:ext>
            </a:extLst>
          </p:cNvPr>
          <p:cNvSpPr/>
          <p:nvPr/>
        </p:nvSpPr>
        <p:spPr>
          <a:xfrm>
            <a:off x="7552944" y="4480473"/>
            <a:ext cx="3785616" cy="713232"/>
          </a:xfrm>
          <a:prstGeom prst="rect">
            <a:avLst/>
          </a:prstGeom>
          <a:solidFill>
            <a:srgbClr val="EAF4F2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34">
            <a:extLst>
              <a:ext uri="{FF2B5EF4-FFF2-40B4-BE49-F238E27FC236}">
                <a16:creationId xmlns:a16="http://schemas.microsoft.com/office/drawing/2014/main" id="{E81A14F3-07FA-4413-8490-E783D4A4C900}"/>
              </a:ext>
            </a:extLst>
          </p:cNvPr>
          <p:cNvSpPr/>
          <p:nvPr/>
        </p:nvSpPr>
        <p:spPr>
          <a:xfrm>
            <a:off x="7690104" y="4480473"/>
            <a:ext cx="3511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탐방 요약 · 콘텐츠 추천</a:t>
            </a:r>
            <a:endParaRPr lang="en-US" sz="1250" dirty="0"/>
          </a:p>
        </p:txBody>
      </p:sp>
      <p:sp>
        <p:nvSpPr>
          <p:cNvPr id="62" name="Shape 35">
            <a:extLst>
              <a:ext uri="{FF2B5EF4-FFF2-40B4-BE49-F238E27FC236}">
                <a16:creationId xmlns:a16="http://schemas.microsoft.com/office/drawing/2014/main" id="{1419AB9D-8C13-4904-A159-26E7CFFB5887}"/>
              </a:ext>
            </a:extLst>
          </p:cNvPr>
          <p:cNvSpPr/>
          <p:nvPr/>
        </p:nvSpPr>
        <p:spPr>
          <a:xfrm>
            <a:off x="822960" y="5505450"/>
            <a:ext cx="10515600" cy="611876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36">
            <a:extLst>
              <a:ext uri="{FF2B5EF4-FFF2-40B4-BE49-F238E27FC236}">
                <a16:creationId xmlns:a16="http://schemas.microsoft.com/office/drawing/2014/main" id="{BC12A24E-34EB-4EBF-8773-E7B8406E558C}"/>
              </a:ext>
            </a:extLst>
          </p:cNvPr>
          <p:cNvSpPr/>
          <p:nvPr/>
        </p:nvSpPr>
        <p:spPr>
          <a:xfrm>
            <a:off x="822960" y="5505450"/>
            <a:ext cx="54864" cy="611876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37">
            <a:extLst>
              <a:ext uri="{FF2B5EF4-FFF2-40B4-BE49-F238E27FC236}">
                <a16:creationId xmlns:a16="http://schemas.microsoft.com/office/drawing/2014/main" id="{EC47DDAB-2E80-48B0-83F6-01FFBD14D738}"/>
              </a:ext>
            </a:extLst>
          </p:cNvPr>
          <p:cNvSpPr/>
          <p:nvPr/>
        </p:nvSpPr>
        <p:spPr>
          <a:xfrm>
            <a:off x="1234440" y="5377048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00"/>
              </a:lnSpc>
            </a:pPr>
            <a:r>
              <a:rPr lang="en-US" sz="1200" b="1" dirty="0" err="1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</a:t>
            </a:r>
            <a:r>
              <a:rPr lang="en-US" sz="12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 </a:t>
            </a:r>
            <a:r>
              <a:rPr lang="ko-KR" altLang="en-US" sz="12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사용자는 더 많은 검색 결과보다</a:t>
            </a:r>
            <a:r>
              <a:rPr lang="en-US" altLang="ko-KR" sz="12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 </a:t>
            </a:r>
            <a:r>
              <a:rPr lang="ko-KR" altLang="en-US" sz="12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지금 볼 것과 다음에 볼 것을 안내하는 해설 경로를 필요로 합니다</a:t>
            </a:r>
            <a:r>
              <a:rPr lang="en-US" altLang="ko-KR" sz="12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sz="1200" dirty="0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F89B78B7-303E-40B1-93E9-A5D4E9CD395E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14D77A-7E2E-B30D-7135-A74F9EF9997F}"/>
              </a:ext>
            </a:extLst>
          </p:cNvPr>
          <p:cNvSpPr txBox="1"/>
          <p:nvPr/>
        </p:nvSpPr>
        <p:spPr>
          <a:xfrm>
            <a:off x="1463040" y="699361"/>
            <a:ext cx="8152680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lvl="0"/>
            <a:lvl1pPr indent="0">
              <a:buNone/>
              <a:defRPr sz="2200" b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defRPr>
            </a:lvl1pPr>
          </a:lstStyle>
          <a:p>
            <a:r>
              <a:rPr lang="ko-KR" altLang="en-US" dirty="0"/>
              <a:t>사용자는 단순 정보가 아니라 </a:t>
            </a:r>
            <a:r>
              <a:rPr lang="en-US" altLang="ko-KR" dirty="0"/>
              <a:t>'</a:t>
            </a:r>
            <a:r>
              <a:rPr lang="ko-KR" altLang="en-US" dirty="0"/>
              <a:t>나만의 정보</a:t>
            </a:r>
            <a:r>
              <a:rPr lang="en-US" altLang="ko-KR" dirty="0"/>
              <a:t>'</a:t>
            </a:r>
            <a:r>
              <a:rPr lang="ko-KR" altLang="en-US" dirty="0"/>
              <a:t>를 원합니다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000" dirty="0">
              <a:solidFill>
                <a:srgbClr val="2E7D7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502920" cy="411480"/>
          </a:xfrm>
          <a:prstGeom prst="rect">
            <a:avLst/>
          </a:prstGeom>
          <a:solidFill>
            <a:srgbClr val="1B4D47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기존 전시안내 앱은 기능이 풍부하지만, 맞춤 해설에는 한계가 있습니다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481328"/>
            <a:ext cx="105457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499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공식 기능으로 확인되는 강점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157984"/>
            <a:ext cx="4998568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위치 기반 전시품 자동안내 및 전시관 지도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59689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596896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실내 측위 기반 길안내, 추천 동선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290779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07792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AR · 동영상 전시 콘텐츠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32186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218688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전시품 사진 · 설명 · 음성 안내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529584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5개 국어 유물 해설, 챗봇 기능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95848" y="1828800"/>
            <a:ext cx="0" cy="201168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70168" y="1828800"/>
            <a:ext cx="499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 경험 검토 포인트</a:t>
            </a:r>
            <a:endParaRPr lang="en-US" sz="1100" dirty="0">
              <a:solidFill>
                <a:srgbClr val="2E7D7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70168" y="2157984"/>
            <a:ext cx="4998568" cy="0"/>
          </a:xfrm>
          <a:prstGeom prst="line">
            <a:avLst/>
          </a:prstGeom>
          <a:noFill/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70168" y="22860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53048" y="2286000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실제 관람 동선과 콘텐츠 순서의 정합성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70168" y="259689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53048" y="2596896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설명 콘텐츠의 흥미도와 난이도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70168" y="290779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53048" y="2907792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특정 기능 미작동 시 대체 안내 흐름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70168" y="3337560"/>
            <a:ext cx="499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사용자 리뷰는 원문 미삽입, 검토 포인트로만 정제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" y="4160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병목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" y="4416552"/>
            <a:ext cx="457200" cy="0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22960" y="4526280"/>
            <a:ext cx="499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ko-KR" alt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기존 앱은 다국어 기본 해설과 전시품 안내에는 강점이 있습니다</a:t>
            </a:r>
            <a:r>
              <a:rPr lang="en-US" altLang="ko-KR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</a:p>
          <a:p>
            <a:pPr marL="0" indent="0">
              <a:lnSpc>
                <a:spcPts val="1600"/>
              </a:lnSpc>
              <a:buNone/>
            </a:pPr>
            <a:r>
              <a:rPr lang="ko-KR" alt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하지만 사용자의 관심사</a:t>
            </a:r>
            <a:r>
              <a:rPr lang="en-US" altLang="ko-KR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 </a:t>
            </a:r>
            <a:r>
              <a:rPr lang="ko-KR" alt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탐방 맥락</a:t>
            </a:r>
            <a:r>
              <a:rPr lang="en-US" altLang="ko-KR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 </a:t>
            </a:r>
            <a:r>
              <a:rPr lang="ko-KR" alt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이해 수준에 따라 설명 관점이 달라지는 맞춤형 해설 흐름은 제한적입니다</a:t>
            </a:r>
            <a:r>
              <a:rPr lang="en-US" altLang="ko-KR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70168" y="4160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이음의 위치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70168" y="4416552"/>
            <a:ext cx="457200" cy="0"/>
          </a:xfrm>
          <a:prstGeom prst="line">
            <a:avLst/>
          </a:prstGeom>
          <a:noFill/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370168" y="4526280"/>
            <a:ext cx="499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기존 앱을 대체하기보다, 관심사와 상황에 따라 해설을 재구성하고 다음 이야기까지 연결합니다.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" y="5527357"/>
            <a:ext cx="10545775" cy="59436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822960" y="5532120"/>
            <a:ext cx="45720" cy="59436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051560" y="557784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정리   </a:t>
            </a:r>
            <a:r>
              <a:rPr lang="en-US" sz="12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기존 서비스는 전시품을 찾고 설명을 듣게 해줍니다. 이음은 사용자의 관심사에 따라 해설을 바꾸고, 다음 탐색으로 이어지는 경험을 만듭니다.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" y="621792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: 국립중앙박물관 전시안내 앱 공식 페이지, Google Play 앱 소개, 국립중앙박물관 2024.05.02 보도자료 / 사용자 리뷰는 원문 미삽입, 검토 포인트로만 정제</a:t>
            </a:r>
            <a:endParaRPr lang="en-US" sz="800" dirty="0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CCA912B4-0A4D-451A-86F7-7F996159E3FB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000" dirty="0">
              <a:solidFill>
                <a:srgbClr val="2E7D7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502920" cy="411480"/>
          </a:xfrm>
          <a:prstGeom prst="rect">
            <a:avLst/>
          </a:prstGeom>
          <a:solidFill>
            <a:srgbClr val="1B4D47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사용자는 읽고, 듣고, 선택하고, 보는 해설 흐름을 원합니다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481328"/>
            <a:ext cx="105457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755648"/>
            <a:ext cx="2636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읽기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905174"/>
            <a:ext cx="2636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31.9%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508678"/>
            <a:ext cx="26364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전시 안내 인쇄물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746422"/>
            <a:ext cx="2636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1순위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59404" y="1755648"/>
            <a:ext cx="2636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듣기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59404" y="1905174"/>
            <a:ext cx="2636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26.1%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59404" y="2508678"/>
            <a:ext cx="26364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해설사 전시해설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59404" y="2746422"/>
            <a:ext cx="2636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1순위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95848" y="1755648"/>
            <a:ext cx="2636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선택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5848" y="1905174"/>
            <a:ext cx="2636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19.3%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95848" y="2508678"/>
            <a:ext cx="26364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전시안내 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95848" y="2746422"/>
            <a:ext cx="2636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1순위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732291" y="1755648"/>
            <a:ext cx="2636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보기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32291" y="1905174"/>
            <a:ext cx="2636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13.5%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732291" y="2508678"/>
            <a:ext cx="26364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전시관 영상물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32291" y="2746422"/>
            <a:ext cx="2636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1순위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22960" y="3040826"/>
            <a:ext cx="10545775" cy="50292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22960" y="3040826"/>
            <a:ext cx="45720" cy="50292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51560" y="3086546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해석   </a:t>
            </a:r>
            <a:r>
              <a:rPr lang="en-US" sz="12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외국인 관람객의 보완 요구는 하나의 수단이 아니라 읽기·듣기·선택·보기 전반으로 분산되어 있습니다.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363518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: 2025 국립중앙박물관 고객만족도 조사 결과보고서, 외국인 관람객 - 보완할 전시관람 서비스 / 2024 국립중앙박물관 고객만족도 조사 결과보고서, 외국인 관람객 - 보완이 필요한 전시해설 지원항목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22960" y="4119283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해외 연구 사례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4411891"/>
            <a:ext cx="1054577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2960" y="4576483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개인화된 디지털 가이드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4869091"/>
            <a:ext cx="509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디지털 뮤지엄 가이드는 방문자의 행동과 관심사를 반영해 안내 방식을 조정할 필요가 있음 / 즉, 같은 전시라도 사용자에 따라 필요한 설명이 달라질 수 있음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2960" y="5258697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7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: Personalisation of digital museum guides through implicit recognition of visitor personas, 2018. (방문자 페르소나의 암묵적 인식을 통한 디지털 박물관 가이드 개인화)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78728" y="4576483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접근 가능한 박물관 해설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78728" y="4869091"/>
            <a:ext cx="509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박물관 해설은 단순 정보 전달이 아니라 접근 가능하고, 흥미롭고, 이해 가능한 방식으로 설계되어야 함 / 전문 지식이 없는 관람객도 이해할 수 있는 설명 방식이 중요함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78728" y="5258697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7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: The Heritage Council, Museum Displays and Interpretation, 2022. (박물관 전시와 해설)</a:t>
            </a:r>
            <a:endParaRPr lang="en-US" sz="750" dirty="0"/>
          </a:p>
        </p:txBody>
      </p:sp>
      <p:sp>
        <p:nvSpPr>
          <p:cNvPr id="39" name="Shape 24">
            <a:extLst>
              <a:ext uri="{FF2B5EF4-FFF2-40B4-BE49-F238E27FC236}">
                <a16:creationId xmlns:a16="http://schemas.microsoft.com/office/drawing/2014/main" id="{628A18B0-7EE0-4771-B988-2211B960DD84}"/>
              </a:ext>
            </a:extLst>
          </p:cNvPr>
          <p:cNvSpPr/>
          <p:nvPr/>
        </p:nvSpPr>
        <p:spPr>
          <a:xfrm>
            <a:off x="822960" y="5633019"/>
            <a:ext cx="10545776" cy="574264"/>
          </a:xfrm>
          <a:prstGeom prst="rect">
            <a:avLst/>
          </a:prstGeom>
          <a:solidFill>
            <a:srgbClr val="1B4D47"/>
          </a:solidFill>
          <a:ln w="12700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7CDF5E-5180-45BB-B19A-15C908127FF5}"/>
              </a:ext>
            </a:extLst>
          </p:cNvPr>
          <p:cNvSpPr txBox="1"/>
          <p:nvPr/>
        </p:nvSpPr>
        <p:spPr>
          <a:xfrm>
            <a:off x="888683" y="578763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 err="1">
                <a:solidFill>
                  <a:srgbClr val="7FD4C8"/>
                </a:solidFill>
                <a:latin typeface="Nanum Myeongjo" pitchFamily="34" charset="0"/>
                <a:ea typeface="Nanum Myeongjo" pitchFamily="34" charset="-122"/>
              </a:rPr>
              <a:t>결론</a:t>
            </a:r>
            <a:endParaRPr lang="ko-KR" alt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7C760D-8302-4075-8FFD-4F1844332C0D}"/>
              </a:ext>
            </a:extLst>
          </p:cNvPr>
          <p:cNvSpPr txBox="1"/>
          <p:nvPr/>
        </p:nvSpPr>
        <p:spPr>
          <a:xfrm>
            <a:off x="1325880" y="5783789"/>
            <a:ext cx="99056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문제는</a:t>
            </a:r>
            <a:r>
              <a:rPr lang="en-US" altLang="ko-KR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</a:t>
            </a:r>
            <a:r>
              <a:rPr lang="en-US" altLang="ko-KR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수단의</a:t>
            </a:r>
            <a:r>
              <a:rPr lang="en-US" altLang="ko-KR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개수가</a:t>
            </a:r>
            <a:r>
              <a:rPr lang="en-US" altLang="ko-KR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아니라</a:t>
            </a:r>
            <a:r>
              <a:rPr lang="en-US" altLang="ko-KR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사용자의</a:t>
            </a:r>
            <a:r>
              <a:rPr lang="en-US" altLang="ko-KR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관심사와</a:t>
            </a:r>
            <a:r>
              <a:rPr lang="en-US" altLang="ko-KR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이해</a:t>
            </a:r>
            <a:r>
              <a:rPr lang="en-US" altLang="ko-KR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수준에</a:t>
            </a:r>
            <a:r>
              <a:rPr lang="en-US" altLang="ko-KR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맞게</a:t>
            </a:r>
            <a:r>
              <a:rPr lang="en-US" altLang="ko-KR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설명을</a:t>
            </a:r>
            <a:r>
              <a:rPr lang="en-US" altLang="ko-KR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재구성할</a:t>
            </a:r>
            <a:r>
              <a:rPr lang="en-US" altLang="ko-KR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수 </a:t>
            </a:r>
            <a:r>
              <a:rPr lang="en-US" altLang="ko-KR" sz="1200" dirty="0" err="1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있는가입니다</a:t>
            </a:r>
            <a:r>
              <a:rPr lang="en-US" altLang="ko-KR" sz="1200" dirty="0">
                <a:solidFill>
                  <a:schemeClr val="bg1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38A09950-BF10-4AE1-8610-D27809EE3A46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4">
            <a:extLst>
              <a:ext uri="{FF2B5EF4-FFF2-40B4-BE49-F238E27FC236}">
                <a16:creationId xmlns:a16="http://schemas.microsoft.com/office/drawing/2014/main" id="{FF7B7107-2259-4453-A500-BE123020869B}"/>
              </a:ext>
            </a:extLst>
          </p:cNvPr>
          <p:cNvSpPr/>
          <p:nvPr/>
        </p:nvSpPr>
        <p:spPr>
          <a:xfrm>
            <a:off x="822960" y="1481328"/>
            <a:ext cx="105457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15">
            <a:extLst>
              <a:ext uri="{FF2B5EF4-FFF2-40B4-BE49-F238E27FC236}">
                <a16:creationId xmlns:a16="http://schemas.microsoft.com/office/drawing/2014/main" id="{5BB756B4-C1BE-467B-8360-785AF4659ED2}"/>
              </a:ext>
            </a:extLst>
          </p:cNvPr>
          <p:cNvSpPr/>
          <p:nvPr/>
        </p:nvSpPr>
        <p:spPr>
          <a:xfrm>
            <a:off x="7010248" y="4082242"/>
            <a:ext cx="4374032" cy="1653562"/>
          </a:xfrm>
          <a:prstGeom prst="rect">
            <a:avLst/>
          </a:prstGeom>
          <a:solidFill>
            <a:srgbClr val="EAF4F2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15">
            <a:extLst>
              <a:ext uri="{FF2B5EF4-FFF2-40B4-BE49-F238E27FC236}">
                <a16:creationId xmlns:a16="http://schemas.microsoft.com/office/drawing/2014/main" id="{84D65478-CABF-4C62-B595-8C85883AEE80}"/>
              </a:ext>
            </a:extLst>
          </p:cNvPr>
          <p:cNvSpPr/>
          <p:nvPr/>
        </p:nvSpPr>
        <p:spPr>
          <a:xfrm>
            <a:off x="7853476" y="1798200"/>
            <a:ext cx="3515258" cy="913676"/>
          </a:xfrm>
          <a:prstGeom prst="rect">
            <a:avLst/>
          </a:prstGeom>
          <a:solidFill>
            <a:srgbClr val="EAF4F2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000" dirty="0">
              <a:solidFill>
                <a:srgbClr val="2E7D7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2711876"/>
            <a:ext cx="1054577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28185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국가유산 AI 서비스 · HAI 등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22960" y="30745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질문형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4769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묻고 답하거나, 프롬프트로 이미지를 생성하는 AI 체험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2818556"/>
            <a:ext cx="0" cy="9144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46520" y="28185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46520" y="30745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관람 흐름형 AI 해설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34769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 · 상황 · 관심사를 반영하고, 해설 이후 추천까지 연결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" y="5846064"/>
            <a:ext cx="10545775" cy="50292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22960" y="5846064"/>
            <a:ext cx="45720" cy="50292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051560" y="5891784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 </a:t>
            </a:r>
            <a:r>
              <a:rPr lang="en-US" sz="12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이음의 차별점은 AI를 쓰는 것 자체가 아니라, 공식 자료 기반으로 신뢰성을 확보하고 사용자의 관람 흐름 안에서 해설과 추천을 이어주는 점입니다.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1496066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생성형 AI의 가능성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338218" y="1496066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문화유산 해설에서의 위험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853477" y="1496066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</a:rPr>
              <a:t>이음의</a:t>
            </a:r>
            <a:r>
              <a:rPr lang="en-US" sz="95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</a:rPr>
              <a:t> </a:t>
            </a:r>
            <a:r>
              <a:rPr lang="en-US" sz="950" b="1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</a:rPr>
              <a:t>방향</a:t>
            </a:r>
            <a:endParaRPr lang="en-US" sz="950" b="1" dirty="0">
              <a:solidFill>
                <a:srgbClr val="4A4A4A"/>
              </a:solidFill>
              <a:latin typeface="Nanum Myeongjo" pitchFamily="34" charset="0"/>
              <a:ea typeface="Nanum Myeongjo" pitchFamily="34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22960" y="1788674"/>
            <a:ext cx="1054577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914400" y="1788674"/>
            <a:ext cx="33323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자유로운 질문에 대응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429658" y="1788674"/>
            <a:ext cx="33323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그럴듯하지만 사실과 다른 답변 가능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944917" y="1788674"/>
            <a:ext cx="33323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공식 자료를 먼저 검색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22960" y="2081282"/>
            <a:ext cx="10545775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914400" y="2081282"/>
            <a:ext cx="33323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 상황에 맞춘 설명 생성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29658" y="2081282"/>
            <a:ext cx="33323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출처가 불명확한 해설 위험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944917" y="2081282"/>
            <a:ext cx="33323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검색된 근거를 바탕으로 해설 생성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22960" y="2373890"/>
            <a:ext cx="10545775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914400" y="2373890"/>
            <a:ext cx="33323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설명 길이 · 난이도 · 표현 방식 조절 가능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429658" y="2373890"/>
            <a:ext cx="33323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역사 · 문화 정보는 신뢰성이 특히 중요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944917" y="2399290"/>
            <a:ext cx="33323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RAG 기반으로 자연스러움과 신뢰성 동시 확보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: 이은정 · 김경수(2026), 「생성형 AI 기반 문화유산 챗봇의 특성 및 구현 전략」</a:t>
            </a:r>
            <a:endParaRPr lang="en-US" sz="800" dirty="0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A623CAE3-C5D7-404F-8AB7-A6DCEEC567EB}"/>
              </a:ext>
            </a:extLst>
          </p:cNvPr>
          <p:cNvSpPr/>
          <p:nvPr/>
        </p:nvSpPr>
        <p:spPr>
          <a:xfrm>
            <a:off x="822960" y="3743543"/>
            <a:ext cx="1828800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6FDD0167-552F-472C-87EB-73B28F61B4BB}"/>
              </a:ext>
            </a:extLst>
          </p:cNvPr>
          <p:cNvSpPr/>
          <p:nvPr/>
        </p:nvSpPr>
        <p:spPr>
          <a:xfrm>
            <a:off x="2651760" y="3743543"/>
            <a:ext cx="4358488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기존 국가유산 AI 서비스</a:t>
            </a:r>
            <a:endParaRPr lang="en-US" sz="1100" dirty="0"/>
          </a:p>
        </p:txBody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30661805-27DB-4922-82D0-1BBE0BEF5977}"/>
              </a:ext>
            </a:extLst>
          </p:cNvPr>
          <p:cNvSpPr/>
          <p:nvPr/>
        </p:nvSpPr>
        <p:spPr>
          <a:xfrm>
            <a:off x="7010248" y="3743543"/>
            <a:ext cx="4358488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</a:t>
            </a:r>
            <a:endParaRPr lang="en-US" sz="1100" dirty="0"/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783087E6-7368-4113-B21E-0A5261FACCDC}"/>
              </a:ext>
            </a:extLst>
          </p:cNvPr>
          <p:cNvSpPr/>
          <p:nvPr/>
        </p:nvSpPr>
        <p:spPr>
          <a:xfrm>
            <a:off x="822960" y="4070843"/>
            <a:ext cx="10545775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4B2BB6C7-B579-4EC1-BB26-454D353DC157}"/>
              </a:ext>
            </a:extLst>
          </p:cNvPr>
          <p:cNvSpPr/>
          <p:nvPr/>
        </p:nvSpPr>
        <p:spPr>
          <a:xfrm>
            <a:off x="822960" y="4070843"/>
            <a:ext cx="1828800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중심 경험</a:t>
            </a:r>
            <a:endParaRPr lang="en-US" sz="1050" dirty="0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5E353DA1-11F4-472F-AF50-73AB5AA5F911}"/>
              </a:ext>
            </a:extLst>
          </p:cNvPr>
          <p:cNvSpPr/>
          <p:nvPr/>
        </p:nvSpPr>
        <p:spPr>
          <a:xfrm>
            <a:off x="2834640" y="4070843"/>
            <a:ext cx="3992728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질문 / 답변, 이미지 생성</a:t>
            </a:r>
            <a:endParaRPr lang="en-US" sz="1000" dirty="0"/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5DA98EBB-0F7F-4200-9B60-8D3D9AB78760}"/>
              </a:ext>
            </a:extLst>
          </p:cNvPr>
          <p:cNvSpPr/>
          <p:nvPr/>
        </p:nvSpPr>
        <p:spPr>
          <a:xfrm>
            <a:off x="7193128" y="4070843"/>
            <a:ext cx="3992728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 여정 설계</a:t>
            </a:r>
            <a:endParaRPr lang="en-US" sz="1000" dirty="0"/>
          </a:p>
        </p:txBody>
      </p:sp>
      <p:sp>
        <p:nvSpPr>
          <p:cNvPr id="67" name="Shape 19">
            <a:extLst>
              <a:ext uri="{FF2B5EF4-FFF2-40B4-BE49-F238E27FC236}">
                <a16:creationId xmlns:a16="http://schemas.microsoft.com/office/drawing/2014/main" id="{07D06F89-6B61-4EB2-9A83-763EFBB257B5}"/>
              </a:ext>
            </a:extLst>
          </p:cNvPr>
          <p:cNvSpPr/>
          <p:nvPr/>
        </p:nvSpPr>
        <p:spPr>
          <a:xfrm>
            <a:off x="822960" y="4398143"/>
            <a:ext cx="1054577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20">
            <a:extLst>
              <a:ext uri="{FF2B5EF4-FFF2-40B4-BE49-F238E27FC236}">
                <a16:creationId xmlns:a16="http://schemas.microsoft.com/office/drawing/2014/main" id="{47E8A44F-8BCF-4AD0-8A9D-F64328947DFB}"/>
              </a:ext>
            </a:extLst>
          </p:cNvPr>
          <p:cNvSpPr/>
          <p:nvPr/>
        </p:nvSpPr>
        <p:spPr>
          <a:xfrm>
            <a:off x="822960" y="4398143"/>
            <a:ext cx="1828800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입력 방식</a:t>
            </a:r>
            <a:endParaRPr lang="en-US" sz="1050" dirty="0"/>
          </a:p>
        </p:txBody>
      </p:sp>
      <p:sp>
        <p:nvSpPr>
          <p:cNvPr id="69" name="Text 21">
            <a:extLst>
              <a:ext uri="{FF2B5EF4-FFF2-40B4-BE49-F238E27FC236}">
                <a16:creationId xmlns:a16="http://schemas.microsoft.com/office/drawing/2014/main" id="{B68A5861-A922-4B38-AF3C-BEEF30B9EB83}"/>
              </a:ext>
            </a:extLst>
          </p:cNvPr>
          <p:cNvSpPr/>
          <p:nvPr/>
        </p:nvSpPr>
        <p:spPr>
          <a:xfrm>
            <a:off x="2834640" y="4398143"/>
            <a:ext cx="3992728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질문 또는 프롬프트</a:t>
            </a:r>
            <a:endParaRPr lang="en-US" sz="1000" dirty="0"/>
          </a:p>
        </p:txBody>
      </p:sp>
      <p:sp>
        <p:nvSpPr>
          <p:cNvPr id="70" name="Text 22">
            <a:extLst>
              <a:ext uri="{FF2B5EF4-FFF2-40B4-BE49-F238E27FC236}">
                <a16:creationId xmlns:a16="http://schemas.microsoft.com/office/drawing/2014/main" id="{58221C4E-293B-4259-97A0-98ED6DC4E50C}"/>
              </a:ext>
            </a:extLst>
          </p:cNvPr>
          <p:cNvSpPr/>
          <p:nvPr/>
        </p:nvSpPr>
        <p:spPr>
          <a:xfrm>
            <a:off x="7193128" y="4398143"/>
            <a:ext cx="3992728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언어, 현장/비현장, 유산, 관심 카테고리</a:t>
            </a:r>
            <a:endParaRPr lang="en-US" sz="1000" dirty="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D0772D5C-A555-450C-BE14-546CA7583CEC}"/>
              </a:ext>
            </a:extLst>
          </p:cNvPr>
          <p:cNvSpPr/>
          <p:nvPr/>
        </p:nvSpPr>
        <p:spPr>
          <a:xfrm>
            <a:off x="822960" y="4725443"/>
            <a:ext cx="1054577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24">
            <a:extLst>
              <a:ext uri="{FF2B5EF4-FFF2-40B4-BE49-F238E27FC236}">
                <a16:creationId xmlns:a16="http://schemas.microsoft.com/office/drawing/2014/main" id="{7BE73131-ACBE-4F12-BE81-C714BA8E3423}"/>
              </a:ext>
            </a:extLst>
          </p:cNvPr>
          <p:cNvSpPr/>
          <p:nvPr/>
        </p:nvSpPr>
        <p:spPr>
          <a:xfrm>
            <a:off x="822960" y="4725443"/>
            <a:ext cx="1828800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결과</a:t>
            </a:r>
            <a:endParaRPr lang="en-US" sz="1050" dirty="0"/>
          </a:p>
        </p:txBody>
      </p:sp>
      <p:sp>
        <p:nvSpPr>
          <p:cNvPr id="73" name="Text 25">
            <a:extLst>
              <a:ext uri="{FF2B5EF4-FFF2-40B4-BE49-F238E27FC236}">
                <a16:creationId xmlns:a16="http://schemas.microsoft.com/office/drawing/2014/main" id="{1A52B28F-6683-4097-A5DE-A7906F181BE7}"/>
              </a:ext>
            </a:extLst>
          </p:cNvPr>
          <p:cNvSpPr/>
          <p:nvPr/>
        </p:nvSpPr>
        <p:spPr>
          <a:xfrm>
            <a:off x="2834640" y="4725443"/>
            <a:ext cx="3992728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답변 또는 생성 이미지</a:t>
            </a:r>
            <a:endParaRPr lang="en-US" sz="1000" dirty="0"/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B4514821-1813-4ADB-91E1-3FCAB40213E4}"/>
              </a:ext>
            </a:extLst>
          </p:cNvPr>
          <p:cNvSpPr/>
          <p:nvPr/>
        </p:nvSpPr>
        <p:spPr>
          <a:xfrm>
            <a:off x="7193128" y="4725443"/>
            <a:ext cx="3992728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해설, TTS, 다음 유산 추천, 콘텐츠 연결</a:t>
            </a:r>
            <a:endParaRPr lang="en-US" sz="1000" dirty="0"/>
          </a:p>
        </p:txBody>
      </p:sp>
      <p:sp>
        <p:nvSpPr>
          <p:cNvPr id="75" name="Shape 27">
            <a:extLst>
              <a:ext uri="{FF2B5EF4-FFF2-40B4-BE49-F238E27FC236}">
                <a16:creationId xmlns:a16="http://schemas.microsoft.com/office/drawing/2014/main" id="{10402D65-7599-4001-8559-0797A21A5B75}"/>
              </a:ext>
            </a:extLst>
          </p:cNvPr>
          <p:cNvSpPr/>
          <p:nvPr/>
        </p:nvSpPr>
        <p:spPr>
          <a:xfrm>
            <a:off x="822960" y="5052743"/>
            <a:ext cx="1054577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28">
            <a:extLst>
              <a:ext uri="{FF2B5EF4-FFF2-40B4-BE49-F238E27FC236}">
                <a16:creationId xmlns:a16="http://schemas.microsoft.com/office/drawing/2014/main" id="{5F7C0EB4-00D2-496D-B959-D2434B2C06A8}"/>
              </a:ext>
            </a:extLst>
          </p:cNvPr>
          <p:cNvSpPr/>
          <p:nvPr/>
        </p:nvSpPr>
        <p:spPr>
          <a:xfrm>
            <a:off x="822960" y="5052743"/>
            <a:ext cx="1828800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 맥락</a:t>
            </a:r>
            <a:endParaRPr lang="en-US" sz="1050" dirty="0"/>
          </a:p>
        </p:txBody>
      </p:sp>
      <p:sp>
        <p:nvSpPr>
          <p:cNvPr id="77" name="Text 29">
            <a:extLst>
              <a:ext uri="{FF2B5EF4-FFF2-40B4-BE49-F238E27FC236}">
                <a16:creationId xmlns:a16="http://schemas.microsoft.com/office/drawing/2014/main" id="{BDCF4CBD-FEC2-43FE-812F-9B1A12F585EB}"/>
              </a:ext>
            </a:extLst>
          </p:cNvPr>
          <p:cNvSpPr/>
          <p:nvPr/>
        </p:nvSpPr>
        <p:spPr>
          <a:xfrm>
            <a:off x="2834640" y="5052743"/>
            <a:ext cx="3992728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체험 / 정보 탐색</a:t>
            </a:r>
            <a:endParaRPr lang="en-US" sz="1000" dirty="0"/>
          </a:p>
        </p:txBody>
      </p:sp>
      <p:sp>
        <p:nvSpPr>
          <p:cNvPr id="78" name="Text 30">
            <a:extLst>
              <a:ext uri="{FF2B5EF4-FFF2-40B4-BE49-F238E27FC236}">
                <a16:creationId xmlns:a16="http://schemas.microsoft.com/office/drawing/2014/main" id="{9C1120C4-BF23-46A1-A7C2-E7009B977F44}"/>
              </a:ext>
            </a:extLst>
          </p:cNvPr>
          <p:cNvSpPr/>
          <p:nvPr/>
        </p:nvSpPr>
        <p:spPr>
          <a:xfrm>
            <a:off x="7193128" y="5052743"/>
            <a:ext cx="3992728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실제 관람 / 탐방 흐름</a:t>
            </a:r>
            <a:endParaRPr lang="en-US" sz="1000" dirty="0"/>
          </a:p>
        </p:txBody>
      </p:sp>
      <p:sp>
        <p:nvSpPr>
          <p:cNvPr id="79" name="Shape 31">
            <a:extLst>
              <a:ext uri="{FF2B5EF4-FFF2-40B4-BE49-F238E27FC236}">
                <a16:creationId xmlns:a16="http://schemas.microsoft.com/office/drawing/2014/main" id="{9BCD92B8-F5E6-4D6B-ABA3-F3DBB14C908D}"/>
              </a:ext>
            </a:extLst>
          </p:cNvPr>
          <p:cNvSpPr/>
          <p:nvPr/>
        </p:nvSpPr>
        <p:spPr>
          <a:xfrm>
            <a:off x="822960" y="5380043"/>
            <a:ext cx="10545775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795BFA22-F3A8-4C52-98CB-9482CF3CB189}"/>
              </a:ext>
            </a:extLst>
          </p:cNvPr>
          <p:cNvSpPr/>
          <p:nvPr/>
        </p:nvSpPr>
        <p:spPr>
          <a:xfrm>
            <a:off x="822960" y="5408503"/>
            <a:ext cx="1828800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차별점</a:t>
            </a:r>
            <a:endParaRPr lang="en-US" sz="1050" dirty="0"/>
          </a:p>
        </p:txBody>
      </p:sp>
      <p:sp>
        <p:nvSpPr>
          <p:cNvPr id="81" name="Text 33">
            <a:extLst>
              <a:ext uri="{FF2B5EF4-FFF2-40B4-BE49-F238E27FC236}">
                <a16:creationId xmlns:a16="http://schemas.microsoft.com/office/drawing/2014/main" id="{1094F146-AC30-4B2E-9367-69BAC30C1FCE}"/>
              </a:ext>
            </a:extLst>
          </p:cNvPr>
          <p:cNvSpPr/>
          <p:nvPr/>
        </p:nvSpPr>
        <p:spPr>
          <a:xfrm>
            <a:off x="2834640" y="5408503"/>
            <a:ext cx="3992728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국가유산을 AI로 묻고 생성</a:t>
            </a:r>
            <a:endParaRPr lang="en-US" sz="1000" dirty="0"/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6BBF0CA4-4100-42A2-851D-64FEF7F3FAE1}"/>
              </a:ext>
            </a:extLst>
          </p:cNvPr>
          <p:cNvSpPr/>
          <p:nvPr/>
        </p:nvSpPr>
        <p:spPr>
          <a:xfrm>
            <a:off x="7193128" y="5408503"/>
            <a:ext cx="3992728" cy="32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국가유산을 따라가며 경험</a:t>
            </a:r>
            <a:endParaRPr lang="en-US" sz="100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9CCD7CC0-2D7A-4CC9-8AE6-8CFCE3DA4A11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000" dirty="0"/>
          </a:p>
        </p:txBody>
      </p:sp>
      <p:sp>
        <p:nvSpPr>
          <p:cNvPr id="87" name="Text 3">
            <a:extLst>
              <a:ext uri="{FF2B5EF4-FFF2-40B4-BE49-F238E27FC236}">
                <a16:creationId xmlns:a16="http://schemas.microsoft.com/office/drawing/2014/main" id="{21A14788-4331-437C-B589-E4EE6EBB8AF3}"/>
              </a:ext>
            </a:extLst>
          </p:cNvPr>
          <p:cNvSpPr/>
          <p:nvPr/>
        </p:nvSpPr>
        <p:spPr>
          <a:xfrm>
            <a:off x="1463040" y="84124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질문형 </a:t>
            </a:r>
            <a:r>
              <a:rPr lang="en-US" altLang="ko-KR" sz="2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</a:t>
            </a:r>
            <a:r>
              <a:rPr lang="ko-KR" altLang="en-US" sz="2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를 넘어 관람 흐름형 </a:t>
            </a:r>
            <a:r>
              <a:rPr lang="en-US" altLang="ko-KR" sz="2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</a:t>
            </a:r>
            <a:r>
              <a:rPr lang="ko-KR" altLang="en-US" sz="2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해설로</a:t>
            </a:r>
            <a:endParaRPr lang="en-US" sz="2200" dirty="0"/>
          </a:p>
        </p:txBody>
      </p:sp>
      <p:sp>
        <p:nvSpPr>
          <p:cNvPr id="89" name="Shape 1">
            <a:extLst>
              <a:ext uri="{FF2B5EF4-FFF2-40B4-BE49-F238E27FC236}">
                <a16:creationId xmlns:a16="http://schemas.microsoft.com/office/drawing/2014/main" id="{23479D82-9234-47AB-9931-FD61C5FB6C20}"/>
              </a:ext>
            </a:extLst>
          </p:cNvPr>
          <p:cNvSpPr/>
          <p:nvPr/>
        </p:nvSpPr>
        <p:spPr>
          <a:xfrm>
            <a:off x="822960" y="868680"/>
            <a:ext cx="502920" cy="411480"/>
          </a:xfrm>
          <a:prstGeom prst="rect">
            <a:avLst/>
          </a:prstGeom>
          <a:solidFill>
            <a:srgbClr val="1B4D47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2">
            <a:extLst>
              <a:ext uri="{FF2B5EF4-FFF2-40B4-BE49-F238E27FC236}">
                <a16:creationId xmlns:a16="http://schemas.microsoft.com/office/drawing/2014/main" id="{1D5BAF86-435C-4BF9-A7FA-4F7D0E516594}"/>
              </a:ext>
            </a:extLst>
          </p:cNvPr>
          <p:cNvSpPr/>
          <p:nvPr/>
        </p:nvSpPr>
        <p:spPr>
          <a:xfrm>
            <a:off x="822960" y="868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최종 문제 정의 : 사용자 맥락에 맞는 해설 경험의 부족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2125986"/>
            <a:ext cx="2829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 경로 부족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3332378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3323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방문 이후 </a:t>
            </a:r>
            <a:r>
              <a:rPr lang="en-US" sz="10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사용자는</a:t>
            </a: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ko-KR" alt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무엇을 먼저 보고</a:t>
            </a:r>
            <a:r>
              <a:rPr lang="en-US" altLang="ko-KR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 </a:t>
            </a:r>
            <a:r>
              <a:rPr lang="ko-KR" alt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어떤 순서로 이해하고</a:t>
            </a:r>
            <a:r>
              <a:rPr lang="en-US" altLang="ko-KR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 </a:t>
            </a:r>
            <a:r>
              <a:rPr lang="ko-KR" alt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다음에 무엇을 탐색할지</a:t>
            </a: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안내받기</a:t>
            </a: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어렵습니다</a:t>
            </a: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29658" y="1965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32578" y="2011680"/>
            <a:ext cx="2829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고정형 해설과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 · 이해 접근성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29658" y="2743200"/>
            <a:ext cx="3332378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429658" y="2834640"/>
            <a:ext cx="33323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기존 해설은 사용자의 관심사, 탐방 맥락, 이해 </a:t>
            </a:r>
            <a:r>
              <a:rPr lang="en-US" sz="10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수준뿐만</a:t>
            </a: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아니라</a:t>
            </a: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언어권과 문화적 배경에 따라 달라지기 어렵습니다.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8368" y="3764982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70"/>
                </a:solidFill>
                <a:latin typeface="Nanum Myeongjo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600" dirty="0">
              <a:latin typeface="Nanum Myeongjo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10392" y="4191832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 카테고리 기반 해설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10392" y="462638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언어별 해설 데이터 / API 활용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10392" y="5017402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텍스트 + TTS + 이미지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36357" y="1965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539277" y="2125986"/>
            <a:ext cx="2829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해설의 신뢰성 문제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36357" y="2743200"/>
            <a:ext cx="3332378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036357" y="2834640"/>
            <a:ext cx="33323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생성형 AI는 자연스러운 설명이 가능하지만,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역사</a:t>
            </a: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해설 오류, 환각, 출처 불명 답변의 위험이 있습니다.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2960" y="5897880"/>
            <a:ext cx="10545775" cy="685800"/>
          </a:xfrm>
          <a:prstGeom prst="rect">
            <a:avLst/>
          </a:prstGeom>
          <a:solidFill>
            <a:srgbClr val="1B4D47"/>
          </a:solidFill>
          <a:ln w="12700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993504" y="5912113"/>
            <a:ext cx="104224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7FD4C8"/>
                </a:solidFill>
                <a:latin typeface="Nanum Myeongjo" pitchFamily="34" charset="0"/>
                <a:ea typeface="Nanum Myeongjo" pitchFamily="34" charset="-122"/>
              </a:rPr>
              <a:t>문제 정의  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이음은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국가유산 정보를 더 많이 보여주는 서비스가 아니라, </a:t>
            </a:r>
          </a:p>
          <a:p>
            <a:pPr marL="0" indent="0" algn="just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                  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사용자의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상황과 관심사에 맞춰 신뢰할 수 있는 해설과 다음 탐색을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이어주는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서비스</a:t>
            </a:r>
            <a:r>
              <a:rPr lang="ko-KR" alt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입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니다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sz="1200" dirty="0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7B95543E-2AC5-4C84-A17E-67A9878437F5}"/>
              </a:ext>
            </a:extLst>
          </p:cNvPr>
          <p:cNvSpPr/>
          <p:nvPr/>
        </p:nvSpPr>
        <p:spPr>
          <a:xfrm>
            <a:off x="4622940" y="4277893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2">
            <a:extLst>
              <a:ext uri="{FF2B5EF4-FFF2-40B4-BE49-F238E27FC236}">
                <a16:creationId xmlns:a16="http://schemas.microsoft.com/office/drawing/2014/main" id="{F15043F3-9028-4E24-BA77-21069B728E9F}"/>
              </a:ext>
            </a:extLst>
          </p:cNvPr>
          <p:cNvSpPr/>
          <p:nvPr/>
        </p:nvSpPr>
        <p:spPr>
          <a:xfrm>
            <a:off x="4622940" y="4697613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2">
            <a:extLst>
              <a:ext uri="{FF2B5EF4-FFF2-40B4-BE49-F238E27FC236}">
                <a16:creationId xmlns:a16="http://schemas.microsoft.com/office/drawing/2014/main" id="{85DF575C-9FC9-4BBF-94BD-9C01CE4E7334}"/>
              </a:ext>
            </a:extLst>
          </p:cNvPr>
          <p:cNvSpPr/>
          <p:nvPr/>
        </p:nvSpPr>
        <p:spPr>
          <a:xfrm>
            <a:off x="4618368" y="5096865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B48DE2E4-D8DD-42F0-BC91-ADC61E8A2C00}"/>
              </a:ext>
            </a:extLst>
          </p:cNvPr>
          <p:cNvSpPr/>
          <p:nvPr/>
        </p:nvSpPr>
        <p:spPr>
          <a:xfrm>
            <a:off x="8225067" y="3809168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70"/>
                </a:solidFill>
                <a:latin typeface="Nanum Myeongjo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600" dirty="0">
              <a:latin typeface="Nanum Myeongjo"/>
            </a:endParaRPr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49BA953F-294E-4150-B567-97273023352F}"/>
              </a:ext>
            </a:extLst>
          </p:cNvPr>
          <p:cNvSpPr/>
          <p:nvPr/>
        </p:nvSpPr>
        <p:spPr>
          <a:xfrm>
            <a:off x="8417091" y="423601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공식 자료 기반 </a:t>
            </a:r>
            <a:r>
              <a:rPr lang="en-US" altLang="ko-KR" sz="13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RAG</a:t>
            </a:r>
            <a:endParaRPr lang="en-US" sz="13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EE8ADAC1-CDE6-44EC-830F-6A0DC35258D8}"/>
              </a:ext>
            </a:extLst>
          </p:cNvPr>
          <p:cNvSpPr/>
          <p:nvPr/>
        </p:nvSpPr>
        <p:spPr>
          <a:xfrm>
            <a:off x="8417091" y="4670574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A1A1A"/>
                </a:solidFill>
                <a:latin typeface="Nanum Myeongjo" pitchFamily="34" charset="0"/>
              </a:rPr>
              <a:t>출처 표시</a:t>
            </a:r>
            <a:endParaRPr lang="en-US" sz="1300" dirty="0"/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F72928B3-8D0B-486F-869D-F42C1CBF7873}"/>
              </a:ext>
            </a:extLst>
          </p:cNvPr>
          <p:cNvSpPr/>
          <p:nvPr/>
        </p:nvSpPr>
        <p:spPr>
          <a:xfrm>
            <a:off x="8417091" y="506158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Fallback </a:t>
            </a:r>
            <a:r>
              <a:rPr lang="ko-KR" altLang="en-US" sz="1300" dirty="0"/>
              <a:t>응답</a:t>
            </a:r>
            <a:endParaRPr lang="en-US" sz="1300" dirty="0"/>
          </a:p>
        </p:txBody>
      </p:sp>
      <p:sp>
        <p:nvSpPr>
          <p:cNvPr id="62" name="Shape 42">
            <a:extLst>
              <a:ext uri="{FF2B5EF4-FFF2-40B4-BE49-F238E27FC236}">
                <a16:creationId xmlns:a16="http://schemas.microsoft.com/office/drawing/2014/main" id="{65A16D70-AFB3-4788-8153-7C81C0460FEB}"/>
              </a:ext>
            </a:extLst>
          </p:cNvPr>
          <p:cNvSpPr/>
          <p:nvPr/>
        </p:nvSpPr>
        <p:spPr>
          <a:xfrm>
            <a:off x="8229639" y="4322079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42">
            <a:extLst>
              <a:ext uri="{FF2B5EF4-FFF2-40B4-BE49-F238E27FC236}">
                <a16:creationId xmlns:a16="http://schemas.microsoft.com/office/drawing/2014/main" id="{78C0B0B4-0322-4954-A2AE-E026F0639777}"/>
              </a:ext>
            </a:extLst>
          </p:cNvPr>
          <p:cNvSpPr/>
          <p:nvPr/>
        </p:nvSpPr>
        <p:spPr>
          <a:xfrm>
            <a:off x="8229639" y="4741799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42">
            <a:extLst>
              <a:ext uri="{FF2B5EF4-FFF2-40B4-BE49-F238E27FC236}">
                <a16:creationId xmlns:a16="http://schemas.microsoft.com/office/drawing/2014/main" id="{19BEDD58-B2CA-4519-8CE0-A5CD5EA07819}"/>
              </a:ext>
            </a:extLst>
          </p:cNvPr>
          <p:cNvSpPr/>
          <p:nvPr/>
        </p:nvSpPr>
        <p:spPr>
          <a:xfrm>
            <a:off x="8225067" y="5141051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45E926D8-8426-4113-BC98-641040A681A3}"/>
              </a:ext>
            </a:extLst>
          </p:cNvPr>
          <p:cNvSpPr/>
          <p:nvPr/>
        </p:nvSpPr>
        <p:spPr>
          <a:xfrm>
            <a:off x="1016241" y="3768090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70"/>
                </a:solidFill>
                <a:latin typeface="Nanum Myeongjo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600" dirty="0">
              <a:latin typeface="Nanum Myeongjo"/>
            </a:endParaRPr>
          </a:p>
        </p:txBody>
      </p:sp>
      <p:sp>
        <p:nvSpPr>
          <p:cNvPr id="66" name="Text 21">
            <a:extLst>
              <a:ext uri="{FF2B5EF4-FFF2-40B4-BE49-F238E27FC236}">
                <a16:creationId xmlns:a16="http://schemas.microsoft.com/office/drawing/2014/main" id="{0560E957-1E70-4C13-866F-C956348BC6A8}"/>
              </a:ext>
            </a:extLst>
          </p:cNvPr>
          <p:cNvSpPr/>
          <p:nvPr/>
        </p:nvSpPr>
        <p:spPr>
          <a:xfrm>
            <a:off x="1208265" y="419494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현장 </a:t>
            </a:r>
            <a:r>
              <a:rPr lang="en-US" altLang="ko-KR" sz="13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/ </a:t>
            </a:r>
            <a:r>
              <a:rPr lang="ko-KR" altLang="en-US" sz="1300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비현장</a:t>
            </a:r>
            <a:r>
              <a:rPr lang="ko-KR" altLang="en-US" sz="13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선택</a:t>
            </a:r>
            <a:endParaRPr lang="en-US" sz="1300" dirty="0"/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4F334ACA-33B0-47B2-BADF-A6FCECA8672D}"/>
              </a:ext>
            </a:extLst>
          </p:cNvPr>
          <p:cNvSpPr/>
          <p:nvPr/>
        </p:nvSpPr>
        <p:spPr>
          <a:xfrm>
            <a:off x="1208265" y="4629496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유산 선택 흐름</a:t>
            </a:r>
            <a:endParaRPr lang="en-US" sz="1300" dirty="0"/>
          </a:p>
        </p:txBody>
      </p:sp>
      <p:sp>
        <p:nvSpPr>
          <p:cNvPr id="68" name="Text 25">
            <a:extLst>
              <a:ext uri="{FF2B5EF4-FFF2-40B4-BE49-F238E27FC236}">
                <a16:creationId xmlns:a16="http://schemas.microsoft.com/office/drawing/2014/main" id="{51C14B8C-06AA-4AFD-B246-905D954285C7}"/>
              </a:ext>
            </a:extLst>
          </p:cNvPr>
          <p:cNvSpPr/>
          <p:nvPr/>
        </p:nvSpPr>
        <p:spPr>
          <a:xfrm>
            <a:off x="1208265" y="502051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 유산 추천</a:t>
            </a:r>
            <a:endParaRPr lang="en-US" sz="1300" dirty="0"/>
          </a:p>
        </p:txBody>
      </p:sp>
      <p:sp>
        <p:nvSpPr>
          <p:cNvPr id="69" name="Shape 42">
            <a:extLst>
              <a:ext uri="{FF2B5EF4-FFF2-40B4-BE49-F238E27FC236}">
                <a16:creationId xmlns:a16="http://schemas.microsoft.com/office/drawing/2014/main" id="{6C685A12-6D4E-4119-A429-99F71662B996}"/>
              </a:ext>
            </a:extLst>
          </p:cNvPr>
          <p:cNvSpPr/>
          <p:nvPr/>
        </p:nvSpPr>
        <p:spPr>
          <a:xfrm>
            <a:off x="1020813" y="4281001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42">
            <a:extLst>
              <a:ext uri="{FF2B5EF4-FFF2-40B4-BE49-F238E27FC236}">
                <a16:creationId xmlns:a16="http://schemas.microsoft.com/office/drawing/2014/main" id="{BD5F5B19-56F0-4447-B19F-CF149AC76231}"/>
              </a:ext>
            </a:extLst>
          </p:cNvPr>
          <p:cNvSpPr/>
          <p:nvPr/>
        </p:nvSpPr>
        <p:spPr>
          <a:xfrm>
            <a:off x="1020813" y="4700721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42">
            <a:extLst>
              <a:ext uri="{FF2B5EF4-FFF2-40B4-BE49-F238E27FC236}">
                <a16:creationId xmlns:a16="http://schemas.microsoft.com/office/drawing/2014/main" id="{81C6F554-1803-4661-895E-A85106D5105A}"/>
              </a:ext>
            </a:extLst>
          </p:cNvPr>
          <p:cNvSpPr/>
          <p:nvPr/>
        </p:nvSpPr>
        <p:spPr>
          <a:xfrm>
            <a:off x="1016241" y="5099973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92C1CD1B-EB29-44FF-81C5-E973DCA54465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000" dirty="0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D5947967-A5E7-41B0-B97C-B80CB5D79690}"/>
              </a:ext>
            </a:extLst>
          </p:cNvPr>
          <p:cNvSpPr/>
          <p:nvPr/>
        </p:nvSpPr>
        <p:spPr>
          <a:xfrm>
            <a:off x="822960" y="1481328"/>
            <a:ext cx="105457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8E5F8C1-8B36-13AE-81ED-CC85A922BADF}"/>
              </a:ext>
            </a:extLst>
          </p:cNvPr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000" dirty="0">
              <a:solidFill>
                <a:srgbClr val="2E7D7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 descr="3. 《훈민정음》 해례본과 언해본은 어떤 책인가요? ~ 한국어(한글) &amp; EPS-TOPIK">
            <a:extLst>
              <a:ext uri="{FF2B5EF4-FFF2-40B4-BE49-F238E27FC236}">
                <a16:creationId xmlns:a16="http://schemas.microsoft.com/office/drawing/2014/main" id="{FF64EAE9-0E0F-4121-8309-B3067E0F2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566" y="3631"/>
            <a:ext cx="5194433" cy="338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"/>
          <p:cNvSpPr/>
          <p:nvPr/>
        </p:nvSpPr>
        <p:spPr>
          <a:xfrm>
            <a:off x="6830568" y="1040747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90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9000" dirty="0"/>
          </a:p>
        </p:txBody>
      </p:sp>
      <p:sp>
        <p:nvSpPr>
          <p:cNvPr id="6" name="Text 3"/>
          <p:cNvSpPr/>
          <p:nvPr/>
        </p:nvSpPr>
        <p:spPr>
          <a:xfrm>
            <a:off x="822960" y="237432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</a:t>
            </a:r>
            <a:r>
              <a:rPr lang="ko-KR" altLang="en-US" sz="4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활용 기술</a:t>
            </a:r>
            <a:endParaRPr lang="en-US" altLang="ko-KR" sz="4800" dirty="0"/>
          </a:p>
        </p:txBody>
      </p:sp>
      <p:sp>
        <p:nvSpPr>
          <p:cNvPr id="7" name="Text 4"/>
          <p:cNvSpPr/>
          <p:nvPr/>
        </p:nvSpPr>
        <p:spPr>
          <a:xfrm>
            <a:off x="868680" y="342588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공식 자료 기반 RAG로 정확성을 </a:t>
            </a:r>
            <a:r>
              <a:rPr lang="en-US" sz="15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확보하고</a:t>
            </a:r>
            <a:r>
              <a:rPr lang="en-US" sz="15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 </a:t>
            </a:r>
            <a:r>
              <a:rPr lang="en-US" sz="15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</a:t>
            </a:r>
            <a:r>
              <a:rPr lang="en-US" sz="15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맥락에 맞게 해설을 재구성하는 AI 구조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4020242"/>
            <a:ext cx="2011680" cy="0"/>
          </a:xfrm>
          <a:prstGeom prst="line">
            <a:avLst/>
          </a:prstGeom>
          <a:noFill/>
          <a:ln w="1905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22960" y="4572000"/>
            <a:ext cx="34564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22960" y="4572000"/>
            <a:ext cx="3456432" cy="4572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97280" y="4736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50292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</a:t>
            </a:r>
            <a:r>
              <a:rPr lang="ko-KR" altLang="en-US" sz="15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시스템 구조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541324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통합 DB · RAG · 멀티모달 해설의 핵심 기술 구조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35424" y="4572000"/>
            <a:ext cx="34564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535424" y="4572000"/>
            <a:ext cx="3456432" cy="4572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4809744" y="4736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09744" y="50292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데이터 DB 설계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09744" y="541324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유물 / 유적 ID 기준의 통합 데이터 연결 구조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247888" y="4572000"/>
            <a:ext cx="34564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8247888" y="4572000"/>
            <a:ext cx="3456432" cy="4572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8522208" y="4736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22208" y="50292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 </a:t>
            </a:r>
            <a:r>
              <a:rPr lang="en-US" sz="15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</a:t>
            </a:r>
            <a:r>
              <a:rPr lang="ko-KR" altLang="en-US" sz="15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기능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522208" y="541324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정확성 · 개인화 · 연결성을 위한 AI 활용 전략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10611BB1-4129-789D-51BA-F77A349FE3AC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2"/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우리 서비스 </a:t>
            </a:r>
            <a:r>
              <a:rPr lang="en-US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AI </a:t>
            </a:r>
            <a:r>
              <a:rPr lang="zh-CN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구조 요약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612720" y="1245895"/>
            <a:ext cx="109659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사용자가 선택한 언어 </a:t>
            </a:r>
            <a:r>
              <a:rPr lang="en-US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이용 장소 </a:t>
            </a:r>
            <a:r>
              <a:rPr lang="en-US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유물</a:t>
            </a:r>
            <a:r>
              <a:rPr lang="en-US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/</a:t>
            </a:r>
            <a:r>
              <a:rPr lang="zh-CN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유적 </a:t>
            </a:r>
            <a:r>
              <a:rPr lang="en-US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관심 카테고리를 바탕으로 공식 자료를 검색하고</a:t>
            </a:r>
            <a:r>
              <a:rPr lang="en-US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, AI</a:t>
            </a:r>
            <a:r>
              <a:rPr lang="zh-CN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가 이미지 </a:t>
            </a:r>
            <a:r>
              <a:rPr lang="en-US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텍스트 </a:t>
            </a:r>
            <a:r>
              <a:rPr lang="en-US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· TTS </a:t>
            </a:r>
            <a:r>
              <a:rPr lang="zh-CN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해설로 재구성합니다</a:t>
            </a:r>
            <a:r>
              <a:rPr lang="en-US" sz="13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" name="Connector 4"/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93" name="Rectangle 27"/>
          <p:cNvSpPr/>
          <p:nvPr/>
        </p:nvSpPr>
        <p:spPr>
          <a:xfrm>
            <a:off x="612720" y="3310200"/>
            <a:ext cx="6400440" cy="86832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Rectangle 28"/>
          <p:cNvSpPr/>
          <p:nvPr/>
        </p:nvSpPr>
        <p:spPr>
          <a:xfrm>
            <a:off x="612720" y="3310200"/>
            <a:ext cx="54360" cy="868320"/>
          </a:xfrm>
          <a:prstGeom prst="rect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29"/>
          <p:cNvSpPr/>
          <p:nvPr/>
        </p:nvSpPr>
        <p:spPr>
          <a:xfrm>
            <a:off x="932760" y="3496320"/>
            <a:ext cx="5851800" cy="49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25000"/>
              </a:lnSpc>
            </a:pPr>
            <a:r>
              <a:rPr lang="zh-CN" sz="1250" b="1" strike="noStrike" spc="-1">
                <a:solidFill>
                  <a:srgbClr val="2E7D70"/>
                </a:solidFill>
                <a:latin typeface="Nanum Myeongjo"/>
                <a:ea typeface="Nanum Myeongjo"/>
              </a:rPr>
              <a:t>핵심 기준   </a:t>
            </a:r>
            <a:r>
              <a:rPr lang="en-US" sz="13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AI</a:t>
            </a:r>
            <a:r>
              <a:rPr lang="zh-CN" sz="13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가 새로 지어내는 설명이 아니라</a:t>
            </a:r>
            <a:r>
              <a:rPr lang="en-US" sz="13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, </a:t>
            </a:r>
            <a:r>
              <a:rPr lang="zh-CN" sz="13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공식 자료를 검색한 뒤 사용자 상황에 맞게 해설 흐름을 재구성합니다</a:t>
            </a:r>
            <a:r>
              <a:rPr lang="en-US" sz="13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30"/>
          <p:cNvSpPr/>
          <p:nvPr/>
        </p:nvSpPr>
        <p:spPr>
          <a:xfrm>
            <a:off x="7333560" y="3413880"/>
            <a:ext cx="4245120" cy="69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50" b="1" strike="noStrike" spc="-1">
                <a:solidFill>
                  <a:srgbClr val="2E7D70"/>
                </a:solidFill>
                <a:latin typeface="Nanum Myeongjo"/>
                <a:ea typeface="Nanum Myeongjo"/>
              </a:rPr>
              <a:t>사용자 </a:t>
            </a:r>
            <a:r>
              <a:rPr lang="en-US" sz="1250" b="1" strike="noStrike" spc="-1">
                <a:solidFill>
                  <a:srgbClr val="2E7D70"/>
                </a:solidFill>
                <a:latin typeface="Nanum Myeongjo"/>
                <a:ea typeface="Nanum Myeongjo"/>
              </a:rPr>
              <a:t>Context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400"/>
              </a:spcBef>
            </a:pP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언어 </a:t>
            </a: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/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현장 </a:t>
            </a: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·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비현장 </a:t>
            </a: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/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현재 장소 </a:t>
            </a: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/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선택 유물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관심 카테고리 </a:t>
            </a: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/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이전 추천 </a:t>
            </a: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·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선택 이력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7" name="Connector 31"/>
          <p:cNvCxnSpPr/>
          <p:nvPr/>
        </p:nvCxnSpPr>
        <p:spPr>
          <a:xfrm>
            <a:off x="612360" y="4443840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98" name="TextBox 32"/>
          <p:cNvSpPr/>
          <p:nvPr/>
        </p:nvSpPr>
        <p:spPr>
          <a:xfrm>
            <a:off x="612720" y="4572000"/>
            <a:ext cx="3441600" cy="70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ko-KR" sz="1200" b="1" spc="-1" dirty="0">
                <a:solidFill>
                  <a:srgbClr val="2E7D70"/>
                </a:solidFill>
                <a:latin typeface="Georgia"/>
                <a:ea typeface="Nanum Myeongjo"/>
              </a:rPr>
              <a:t>핵심 </a:t>
            </a:r>
            <a:r>
              <a:rPr lang="ko-KR" altLang="en-US" sz="1200" b="1" spc="-1" dirty="0">
                <a:solidFill>
                  <a:srgbClr val="2E7D70"/>
                </a:solidFill>
                <a:latin typeface="Georgia"/>
                <a:ea typeface="Nanum Myeongjo"/>
              </a:rPr>
              <a:t>１</a:t>
            </a:r>
            <a:r>
              <a:rPr lang="en-US" altLang="ko-KR" sz="1200" b="1" spc="-1" dirty="0">
                <a:solidFill>
                  <a:srgbClr val="2E7D70"/>
                </a:solidFill>
                <a:latin typeface="Nanum Myeongjo"/>
                <a:ea typeface="Georgia"/>
              </a:rPr>
              <a:t> </a:t>
            </a:r>
            <a:r>
              <a:rPr lang="zh-CN" sz="1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정확성</a:t>
            </a:r>
            <a:endParaRPr lang="en-US" sz="1400" b="0" strike="noStrike" spc="-1" dirty="0">
              <a:solidFill>
                <a:srgbClr val="000000"/>
              </a:solidFill>
              <a:latin typeface="Nanum Myeongjo"/>
            </a:endParaRPr>
          </a:p>
          <a:p>
            <a:pPr defTabSz="457200">
              <a:lnSpc>
                <a:spcPct val="128000"/>
              </a:lnSpc>
              <a:spcBef>
                <a:spcPts val="499"/>
              </a:spcBef>
            </a:pP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AI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가 기억으로 말하는 것이 아니라 공식 자료를 먼저 검색한 뒤 해설을 생성합니다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sz="1100" b="0" strike="noStrike" spc="-1" dirty="0">
              <a:solidFill>
                <a:srgbClr val="000000"/>
              </a:solidFill>
              <a:latin typeface="Nanum Myeongjo"/>
            </a:endParaRPr>
          </a:p>
        </p:txBody>
      </p:sp>
      <p:sp>
        <p:nvSpPr>
          <p:cNvPr id="99" name="TextBox 33"/>
          <p:cNvSpPr/>
          <p:nvPr/>
        </p:nvSpPr>
        <p:spPr>
          <a:xfrm>
            <a:off x="4374720" y="4572000"/>
            <a:ext cx="3441600" cy="70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00" b="1" strike="noStrike" spc="-1" dirty="0">
                <a:solidFill>
                  <a:srgbClr val="2E7D70"/>
                </a:solidFill>
                <a:latin typeface="Nanum Myeongjo"/>
                <a:ea typeface="Nanum Myeongjo"/>
              </a:rPr>
              <a:t>핵심 </a:t>
            </a:r>
            <a:r>
              <a:rPr lang="en-US" sz="1200" b="1" strike="noStrike" spc="-1" dirty="0">
                <a:solidFill>
                  <a:srgbClr val="2E7D70"/>
                </a:solidFill>
                <a:latin typeface="Nanum Myeongjo"/>
                <a:ea typeface="Georgia"/>
              </a:rPr>
              <a:t>2  </a:t>
            </a:r>
            <a:r>
              <a:rPr lang="zh-CN" sz="1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개인화</a:t>
            </a:r>
            <a:endParaRPr lang="en-US" sz="1400" b="0" strike="noStrike" spc="-1" dirty="0">
              <a:solidFill>
                <a:srgbClr val="000000"/>
              </a:solidFill>
              <a:latin typeface="Nanum Myeongjo"/>
            </a:endParaRPr>
          </a:p>
          <a:p>
            <a:pPr defTabSz="457200">
              <a:lnSpc>
                <a:spcPct val="128000"/>
              </a:lnSpc>
              <a:spcBef>
                <a:spcPts val="499"/>
              </a:spcBef>
            </a:pP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사용 언어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이용 장소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관심 카테고리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이전 행동을 해설 조건으로 반영합니다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sz="1100" b="0" strike="noStrike" spc="-1" dirty="0">
              <a:solidFill>
                <a:srgbClr val="000000"/>
              </a:solidFill>
              <a:latin typeface="Nanum Myeongjo"/>
            </a:endParaRPr>
          </a:p>
        </p:txBody>
      </p:sp>
      <p:sp>
        <p:nvSpPr>
          <p:cNvPr id="100" name="TextBox 34"/>
          <p:cNvSpPr/>
          <p:nvPr/>
        </p:nvSpPr>
        <p:spPr>
          <a:xfrm>
            <a:off x="8137080" y="4572000"/>
            <a:ext cx="3441600" cy="70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00" b="1" strike="noStrike" spc="-1" dirty="0">
                <a:solidFill>
                  <a:srgbClr val="2E7D70"/>
                </a:solidFill>
                <a:latin typeface="Georgia"/>
                <a:ea typeface="Nanum Myeongjo"/>
              </a:rPr>
              <a:t>핵심 </a:t>
            </a:r>
            <a:r>
              <a:rPr lang="en-US" sz="1200" b="1" strike="noStrike" spc="-1" dirty="0">
                <a:solidFill>
                  <a:srgbClr val="2E7D70"/>
                </a:solidFill>
                <a:latin typeface="Nanum Myeongjo"/>
                <a:ea typeface="Georgia"/>
              </a:rPr>
              <a:t>3  </a:t>
            </a:r>
            <a:r>
              <a:rPr lang="zh-CN" sz="1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연결성</a:t>
            </a:r>
            <a:endParaRPr lang="en-US" sz="1400" b="0" strike="noStrike" spc="-1" dirty="0">
              <a:solidFill>
                <a:srgbClr val="000000"/>
              </a:solidFill>
              <a:latin typeface="Nanum Myeongjo"/>
            </a:endParaRPr>
          </a:p>
          <a:p>
            <a:pPr defTabSz="457200">
              <a:lnSpc>
                <a:spcPct val="128000"/>
              </a:lnSpc>
              <a:spcBef>
                <a:spcPts val="499"/>
              </a:spcBef>
            </a:pP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하나의 설명에서 끝나지 않고 다음 유산과 관련 콘텐츠 추천으로 경험을 확장합니다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sz="1100" b="0" strike="noStrike" spc="-1" dirty="0">
              <a:solidFill>
                <a:srgbClr val="000000"/>
              </a:solidFill>
              <a:latin typeface="Nanum Myeongjo"/>
            </a:endParaRPr>
          </a:p>
        </p:txBody>
      </p:sp>
      <p:sp>
        <p:nvSpPr>
          <p:cNvPr id="101" name="Rectangle 35"/>
          <p:cNvSpPr/>
          <p:nvPr/>
        </p:nvSpPr>
        <p:spPr>
          <a:xfrm>
            <a:off x="612720" y="5650920"/>
            <a:ext cx="10965960" cy="603000"/>
          </a:xfrm>
          <a:prstGeom prst="rect">
            <a:avLst/>
          </a:prstGeom>
          <a:solidFill>
            <a:srgbClr val="1B4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36"/>
          <p:cNvSpPr/>
          <p:nvPr/>
        </p:nvSpPr>
        <p:spPr>
          <a:xfrm>
            <a:off x="978480" y="5836908"/>
            <a:ext cx="10325880" cy="231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en-US" sz="1200" b="1" strike="noStrike" spc="-1" dirty="0">
                <a:solidFill>
                  <a:srgbClr val="7FD4C8"/>
                </a:solidFill>
                <a:latin typeface="Nanum Myeongjo"/>
                <a:ea typeface="Nanum Myeongjo"/>
              </a:rPr>
              <a:t>OVERVIEW</a:t>
            </a:r>
            <a:r>
              <a:rPr lang="en-US" sz="1200" b="1" strike="noStrike" spc="-1" dirty="0">
                <a:solidFill>
                  <a:srgbClr val="9FC8C0"/>
                </a:solidFill>
                <a:latin typeface="Nanum Myeongjo"/>
                <a:ea typeface="Nanum Myeongjo"/>
              </a:rPr>
              <a:t>   </a:t>
            </a:r>
            <a:r>
              <a:rPr lang="zh-CN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공식 자료 → 검색 → 재구성 → 멀티모달 해설 → 다음 추천</a:t>
            </a:r>
            <a:r>
              <a:rPr lang="en-US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. </a:t>
            </a:r>
            <a:r>
              <a:rPr lang="zh-CN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이음의 </a:t>
            </a:r>
            <a:r>
              <a:rPr lang="en-US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AI</a:t>
            </a:r>
            <a:r>
              <a:rPr lang="zh-CN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는 하나의 해설 파이프라인으로 동작합니다</a:t>
            </a:r>
            <a:r>
              <a:rPr lang="en-US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.</a:t>
            </a:r>
            <a:endParaRPr lang="en-US" sz="135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BDCFC529-617D-4DF3-A8DA-09D205255C50}"/>
              </a:ext>
            </a:extLst>
          </p:cNvPr>
          <p:cNvSpPr/>
          <p:nvPr/>
        </p:nvSpPr>
        <p:spPr>
          <a:xfrm>
            <a:off x="822960" y="2148840"/>
            <a:ext cx="1173045" cy="96012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BA884598-53D2-42AD-A4FE-612BBFDDC787}"/>
              </a:ext>
            </a:extLst>
          </p:cNvPr>
          <p:cNvSpPr/>
          <p:nvPr/>
        </p:nvSpPr>
        <p:spPr>
          <a:xfrm>
            <a:off x="822960" y="2148840"/>
            <a:ext cx="117304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통합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국가유산 DB</a:t>
            </a:r>
            <a:endParaRPr lang="en-US" sz="105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84E3D39A-42C5-42B3-A229-54F1C2059506}"/>
              </a:ext>
            </a:extLst>
          </p:cNvPr>
          <p:cNvSpPr/>
          <p:nvPr/>
        </p:nvSpPr>
        <p:spPr>
          <a:xfrm>
            <a:off x="1959429" y="21488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32186C7E-E741-4867-B197-FA254F7A2C19}"/>
              </a:ext>
            </a:extLst>
          </p:cNvPr>
          <p:cNvSpPr/>
          <p:nvPr/>
        </p:nvSpPr>
        <p:spPr>
          <a:xfrm>
            <a:off x="2380053" y="2148840"/>
            <a:ext cx="1173045" cy="96012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6858DD27-B2DC-4717-8475-ED28C344FB05}"/>
              </a:ext>
            </a:extLst>
          </p:cNvPr>
          <p:cNvSpPr/>
          <p:nvPr/>
        </p:nvSpPr>
        <p:spPr>
          <a:xfrm>
            <a:off x="2380053" y="2148840"/>
            <a:ext cx="117304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문서 Chunk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+ Metadata</a:t>
            </a:r>
            <a:endParaRPr lang="en-US" sz="105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50038263-3BE0-4D94-8C26-7C6C405AE383}"/>
              </a:ext>
            </a:extLst>
          </p:cNvPr>
          <p:cNvSpPr/>
          <p:nvPr/>
        </p:nvSpPr>
        <p:spPr>
          <a:xfrm>
            <a:off x="3516521" y="21488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AFA40497-1A86-48A5-A04B-2257809C6DDF}"/>
              </a:ext>
            </a:extLst>
          </p:cNvPr>
          <p:cNvSpPr/>
          <p:nvPr/>
        </p:nvSpPr>
        <p:spPr>
          <a:xfrm>
            <a:off x="3937145" y="2148840"/>
            <a:ext cx="1173045" cy="96012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2EC2C190-48DA-4C5C-8CEB-B043AC724DF8}"/>
              </a:ext>
            </a:extLst>
          </p:cNvPr>
          <p:cNvSpPr/>
          <p:nvPr/>
        </p:nvSpPr>
        <p:spPr>
          <a:xfrm>
            <a:off x="3937145" y="2148840"/>
            <a:ext cx="117304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Embedding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+ Vector DB</a:t>
            </a:r>
            <a:endParaRPr lang="en-US" sz="1050" dirty="0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DB8CDB86-FAD5-4A0C-A3E2-BE6D890C9486}"/>
              </a:ext>
            </a:extLst>
          </p:cNvPr>
          <p:cNvSpPr/>
          <p:nvPr/>
        </p:nvSpPr>
        <p:spPr>
          <a:xfrm>
            <a:off x="5073614" y="21488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BCC3FFDE-C995-43DE-8F01-F2DD04382681}"/>
              </a:ext>
            </a:extLst>
          </p:cNvPr>
          <p:cNvSpPr/>
          <p:nvPr/>
        </p:nvSpPr>
        <p:spPr>
          <a:xfrm>
            <a:off x="5494238" y="2148840"/>
            <a:ext cx="1173045" cy="960120"/>
          </a:xfrm>
          <a:prstGeom prst="rect">
            <a:avLst/>
          </a:prstGeom>
          <a:solidFill>
            <a:srgbClr val="EAF4F2"/>
          </a:solidFill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A39D7E5C-BFB4-4A88-8ECC-9D84483376D3}"/>
              </a:ext>
            </a:extLst>
          </p:cNvPr>
          <p:cNvSpPr/>
          <p:nvPr/>
        </p:nvSpPr>
        <p:spPr>
          <a:xfrm>
            <a:off x="5494238" y="2148840"/>
            <a:ext cx="117304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endParaRPr lang="en-US" sz="1050" b="1" dirty="0">
              <a:solidFill>
                <a:srgbClr val="1A1A1A"/>
              </a:solidFill>
              <a:latin typeface="Nanum Myeongjo" pitchFamily="34" charset="0"/>
              <a:ea typeface="Nanum Myeongjo" pitchFamily="34" charset="-122"/>
              <a:cs typeface="Nanum Myeongjo" pitchFamily="34" charset="-120"/>
            </a:endParaRPr>
          </a:p>
          <a:p>
            <a:pPr marL="0" indent="0" algn="ctr">
              <a:lnSpc>
                <a:spcPts val="1300"/>
              </a:lnSpc>
              <a:buNone/>
            </a:pPr>
            <a:endParaRPr lang="en-US" sz="1050" b="1" dirty="0">
              <a:solidFill>
                <a:srgbClr val="1A1A1A"/>
              </a:solidFill>
              <a:latin typeface="Nanum Myeongjo" pitchFamily="34" charset="0"/>
              <a:ea typeface="Nanum Myeongjo" pitchFamily="34" charset="-122"/>
              <a:cs typeface="Nanum Myeongjo" pitchFamily="34" charset="-12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RAG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공식 </a:t>
            </a:r>
            <a:r>
              <a:rPr lang="en-US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자료</a:t>
            </a: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검색</a:t>
            </a:r>
            <a:endParaRPr lang="en-US" sz="1050" b="1" dirty="0">
              <a:solidFill>
                <a:srgbClr val="1A1A1A"/>
              </a:solidFill>
              <a:latin typeface="Nanum Myeongjo" pitchFamily="34" charset="0"/>
              <a:ea typeface="Nanum Myeongjo" pitchFamily="34" charset="-122"/>
              <a:cs typeface="Nanum Myeongjo" pitchFamily="34" charset="-120"/>
            </a:endParaRPr>
          </a:p>
          <a:p>
            <a:pPr marL="0" indent="0" algn="ctr">
              <a:lnSpc>
                <a:spcPts val="1300"/>
              </a:lnSpc>
              <a:buNone/>
            </a:pPr>
            <a:endParaRPr lang="en-US" sz="1050" b="1" dirty="0">
              <a:solidFill>
                <a:srgbClr val="1A1A1A"/>
              </a:solidFill>
              <a:latin typeface="Nanum Myeongjo" pitchFamily="34" charset="0"/>
              <a:ea typeface="Nanum Myeongjo" pitchFamily="34" charset="-122"/>
            </a:endParaRPr>
          </a:p>
          <a:p>
            <a:pPr marL="0" indent="0" algn="ctr">
              <a:lnSpc>
                <a:spcPts val="1300"/>
              </a:lnSpc>
              <a:buNone/>
            </a:pPr>
            <a:endParaRPr lang="en-US" sz="105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85715C62-34CE-4A48-81E6-A29176E087CD}"/>
              </a:ext>
            </a:extLst>
          </p:cNvPr>
          <p:cNvSpPr/>
          <p:nvPr/>
        </p:nvSpPr>
        <p:spPr>
          <a:xfrm>
            <a:off x="6630706" y="21488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90000A05-7AEE-474C-BFE5-2FE7533A8D13}"/>
              </a:ext>
            </a:extLst>
          </p:cNvPr>
          <p:cNvSpPr/>
          <p:nvPr/>
        </p:nvSpPr>
        <p:spPr>
          <a:xfrm>
            <a:off x="7051330" y="2148840"/>
            <a:ext cx="1173045" cy="960120"/>
          </a:xfrm>
          <a:prstGeom prst="rect">
            <a:avLst/>
          </a:prstGeom>
          <a:solidFill>
            <a:srgbClr val="EAF4F2"/>
          </a:solidFill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07408F51-8D09-428A-8DCC-620FDBE5814B}"/>
              </a:ext>
            </a:extLst>
          </p:cNvPr>
          <p:cNvSpPr/>
          <p:nvPr/>
        </p:nvSpPr>
        <p:spPr>
          <a:xfrm>
            <a:off x="7051330" y="2148840"/>
            <a:ext cx="117304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LLM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맞춤</a:t>
            </a: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</a:t>
            </a:r>
            <a:endParaRPr lang="en-US" sz="1050" b="1" dirty="0">
              <a:solidFill>
                <a:srgbClr val="1A1A1A"/>
              </a:solidFill>
              <a:latin typeface="Nanum Myeongjo" pitchFamily="34" charset="0"/>
              <a:ea typeface="Nanum Myeongjo" pitchFamily="34" charset="-122"/>
              <a:cs typeface="Nanum Myeongjo" pitchFamily="34" charset="-120"/>
            </a:endParaRPr>
          </a:p>
          <a:p>
            <a:pPr marL="0" indent="0" algn="ctr">
              <a:lnSpc>
                <a:spcPts val="1300"/>
              </a:lnSpc>
              <a:buNone/>
            </a:pPr>
            <a:endParaRPr lang="en-US" sz="1050" b="1" dirty="0">
              <a:solidFill>
                <a:srgbClr val="1A1A1A"/>
              </a:solidFill>
              <a:latin typeface="Nanum Myeongjo" pitchFamily="34" charset="0"/>
              <a:ea typeface="Nanum Myeongjo" pitchFamily="34" charset="-122"/>
              <a:cs typeface="Nanum Myeongjo" pitchFamily="34" charset="-120"/>
            </a:endParaRPr>
          </a:p>
          <a:p>
            <a:pPr marL="0" indent="0" algn="ctr">
              <a:lnSpc>
                <a:spcPts val="1300"/>
              </a:lnSpc>
              <a:buNone/>
            </a:pPr>
            <a:endParaRPr lang="en-US" sz="105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90752940-4088-49F1-9186-67187B88F559}"/>
              </a:ext>
            </a:extLst>
          </p:cNvPr>
          <p:cNvSpPr/>
          <p:nvPr/>
        </p:nvSpPr>
        <p:spPr>
          <a:xfrm>
            <a:off x="8187799" y="21488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54" name="Shape 19">
            <a:extLst>
              <a:ext uri="{FF2B5EF4-FFF2-40B4-BE49-F238E27FC236}">
                <a16:creationId xmlns:a16="http://schemas.microsoft.com/office/drawing/2014/main" id="{D68449CE-5E40-4A73-A1AA-F56BE9824E42}"/>
              </a:ext>
            </a:extLst>
          </p:cNvPr>
          <p:cNvSpPr/>
          <p:nvPr/>
        </p:nvSpPr>
        <p:spPr>
          <a:xfrm>
            <a:off x="8608423" y="2148840"/>
            <a:ext cx="1173045" cy="96012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12542531-2D9D-4D37-B70B-C373046B7A60}"/>
              </a:ext>
            </a:extLst>
          </p:cNvPr>
          <p:cNvSpPr/>
          <p:nvPr/>
        </p:nvSpPr>
        <p:spPr>
          <a:xfrm>
            <a:off x="8608423" y="2148840"/>
            <a:ext cx="117304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이미지 · TTS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멀티모달</a:t>
            </a: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제공</a:t>
            </a:r>
            <a:endParaRPr lang="en-US" sz="1050" b="1" dirty="0">
              <a:solidFill>
                <a:srgbClr val="1A1A1A"/>
              </a:solidFill>
              <a:latin typeface="Nanum Myeongjo" pitchFamily="34" charset="0"/>
              <a:ea typeface="Nanum Myeongjo" pitchFamily="34" charset="-122"/>
              <a:cs typeface="Nanum Myeongjo" pitchFamily="34" charset="-120"/>
            </a:endParaRPr>
          </a:p>
          <a:p>
            <a:pPr marL="0" indent="0" algn="ctr">
              <a:lnSpc>
                <a:spcPts val="1300"/>
              </a:lnSpc>
              <a:buNone/>
            </a:pPr>
            <a:endParaRPr lang="en-US" sz="1050" b="1" dirty="0">
              <a:solidFill>
                <a:srgbClr val="1A1A1A"/>
              </a:solidFill>
              <a:latin typeface="Nanum Myeongjo" pitchFamily="34" charset="0"/>
              <a:ea typeface="Nanum Myeongjo" pitchFamily="34" charset="-122"/>
            </a:endParaRPr>
          </a:p>
          <a:p>
            <a:pPr marL="0" indent="0" algn="ctr">
              <a:lnSpc>
                <a:spcPts val="1300"/>
              </a:lnSpc>
              <a:buNone/>
            </a:pPr>
            <a:endParaRPr lang="en-US" sz="1050" dirty="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87B2709B-F6E5-4EF9-B78B-C203FAD202FA}"/>
              </a:ext>
            </a:extLst>
          </p:cNvPr>
          <p:cNvSpPr/>
          <p:nvPr/>
        </p:nvSpPr>
        <p:spPr>
          <a:xfrm>
            <a:off x="9744891" y="21488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D4F02A2E-21FD-41F0-B64C-51482B8A9466}"/>
              </a:ext>
            </a:extLst>
          </p:cNvPr>
          <p:cNvSpPr/>
          <p:nvPr/>
        </p:nvSpPr>
        <p:spPr>
          <a:xfrm>
            <a:off x="10165515" y="2148840"/>
            <a:ext cx="1173045" cy="96012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23">
            <a:extLst>
              <a:ext uri="{FF2B5EF4-FFF2-40B4-BE49-F238E27FC236}">
                <a16:creationId xmlns:a16="http://schemas.microsoft.com/office/drawing/2014/main" id="{89CC9751-D555-4EF9-BC7B-1778C2835799}"/>
              </a:ext>
            </a:extLst>
          </p:cNvPr>
          <p:cNvSpPr/>
          <p:nvPr/>
        </p:nvSpPr>
        <p:spPr>
          <a:xfrm>
            <a:off x="10165515" y="2148840"/>
            <a:ext cx="117304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 추천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유물 · 콘텐츠</a:t>
            </a:r>
            <a:endParaRPr lang="en-US" sz="1050" dirty="0"/>
          </a:p>
        </p:txBody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0E10D2BA-B918-4E3F-A058-6C0BA5FA6385}"/>
              </a:ext>
            </a:extLst>
          </p:cNvPr>
          <p:cNvSpPr/>
          <p:nvPr/>
        </p:nvSpPr>
        <p:spPr>
          <a:xfrm>
            <a:off x="6974528" y="2592324"/>
            <a:ext cx="1326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 · 장소 · 카테고리</a:t>
            </a:r>
            <a:endParaRPr lang="en-US" sz="900" dirty="0"/>
          </a:p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기반 LLM 생성</a:t>
            </a:r>
            <a:endParaRPr lang="en-US" sz="900" dirty="0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204BCD52-1671-48FD-AC44-7387E3B1BA7E}"/>
              </a:ext>
            </a:extLst>
          </p:cNvPr>
          <p:cNvSpPr/>
          <p:nvPr/>
        </p:nvSpPr>
        <p:spPr>
          <a:xfrm>
            <a:off x="8549910" y="2583180"/>
            <a:ext cx="1326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altLang="ko-KR" sz="9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이미지</a:t>
            </a:r>
            <a:r>
              <a:rPr lang="en-US" altLang="ko-KR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altLang="ko-KR" sz="9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텍스트</a:t>
            </a:r>
            <a:r>
              <a:rPr lang="en-US" altLang="ko-KR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TTS</a:t>
            </a:r>
            <a:endParaRPr lang="en-US" altLang="ko-KR" sz="900" dirty="0"/>
          </a:p>
          <a:p>
            <a:pPr marL="0" indent="0" algn="ctr">
              <a:lnSpc>
                <a:spcPts val="1150"/>
              </a:lnSpc>
              <a:buNone/>
            </a:pPr>
            <a:r>
              <a:rPr lang="en-US" altLang="ko-KR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</a:t>
            </a:r>
            <a:r>
              <a:rPr lang="en-US" altLang="ko-KR" sz="9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참고</a:t>
            </a:r>
            <a:r>
              <a:rPr lang="en-US" altLang="ko-KR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9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시각화</a:t>
            </a:r>
            <a:endParaRPr lang="en-US" altLang="ko-KR" sz="900" dirty="0"/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2B681797-2329-4DE9-9DC8-D7C3C681707E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B51EBF-8C6E-703E-F7ED-05CFACA6ECC4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C269D-A2BE-210A-D24D-2B7A8FDDA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6">
            <a:extLst>
              <a:ext uri="{FF2B5EF4-FFF2-40B4-BE49-F238E27FC236}">
                <a16:creationId xmlns:a16="http://schemas.microsoft.com/office/drawing/2014/main" id="{533D5FAA-962D-D28D-ED85-ECAC401CF1FF}"/>
              </a:ext>
            </a:extLst>
          </p:cNvPr>
          <p:cNvSpPr/>
          <p:nvPr/>
        </p:nvSpPr>
        <p:spPr>
          <a:xfrm>
            <a:off x="612720" y="2121480"/>
            <a:ext cx="54360" cy="712800"/>
          </a:xfrm>
          <a:prstGeom prst="rect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7">
            <a:extLst>
              <a:ext uri="{FF2B5EF4-FFF2-40B4-BE49-F238E27FC236}">
                <a16:creationId xmlns:a16="http://schemas.microsoft.com/office/drawing/2014/main" id="{F47492A6-9DFB-7B4E-A85C-50E8993273A2}"/>
              </a:ext>
            </a:extLst>
          </p:cNvPr>
          <p:cNvSpPr/>
          <p:nvPr/>
        </p:nvSpPr>
        <p:spPr>
          <a:xfrm>
            <a:off x="813960" y="2285640"/>
            <a:ext cx="2084400" cy="3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strike="noStrike" spc="199">
                <a:solidFill>
                  <a:srgbClr val="2E7D70"/>
                </a:solidFill>
                <a:latin typeface="Georgia"/>
                <a:ea typeface="Georgia"/>
              </a:rPr>
              <a:t>LAYER 1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zh-CN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데이터 소스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8">
            <a:extLst>
              <a:ext uri="{FF2B5EF4-FFF2-40B4-BE49-F238E27FC236}">
                <a16:creationId xmlns:a16="http://schemas.microsoft.com/office/drawing/2014/main" id="{BCC4B223-1677-CEBD-B9D5-608727F7C909}"/>
              </a:ext>
            </a:extLst>
          </p:cNvPr>
          <p:cNvSpPr/>
          <p:nvPr/>
        </p:nvSpPr>
        <p:spPr>
          <a:xfrm>
            <a:off x="3218760" y="2121480"/>
            <a:ext cx="8359920" cy="7128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9">
            <a:extLst>
              <a:ext uri="{FF2B5EF4-FFF2-40B4-BE49-F238E27FC236}">
                <a16:creationId xmlns:a16="http://schemas.microsoft.com/office/drawing/2014/main" id="{FA46A8F7-F3BD-C101-7667-78D619F588E7}"/>
              </a:ext>
            </a:extLst>
          </p:cNvPr>
          <p:cNvSpPr/>
          <p:nvPr/>
        </p:nvSpPr>
        <p:spPr>
          <a:xfrm>
            <a:off x="3291840" y="2389320"/>
            <a:ext cx="124668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zh-CN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국가유산검색 </a:t>
            </a:r>
            <a:r>
              <a:rPr lang="en-US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API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3" name="Connector 10">
            <a:extLst>
              <a:ext uri="{FF2B5EF4-FFF2-40B4-BE49-F238E27FC236}">
                <a16:creationId xmlns:a16="http://schemas.microsoft.com/office/drawing/2014/main" id="{052B893C-82BA-8FBD-3826-402CE1F5649D}"/>
              </a:ext>
            </a:extLst>
          </p:cNvPr>
          <p:cNvCxnSpPr/>
          <p:nvPr/>
        </p:nvCxnSpPr>
        <p:spPr>
          <a:xfrm rot="16200000">
            <a:off x="4401720" y="2477880"/>
            <a:ext cx="4208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14" name="TextBox 11">
            <a:extLst>
              <a:ext uri="{FF2B5EF4-FFF2-40B4-BE49-F238E27FC236}">
                <a16:creationId xmlns:a16="http://schemas.microsoft.com/office/drawing/2014/main" id="{B5AB254C-E0ED-E25B-AA15-D42B3F094974}"/>
              </a:ext>
            </a:extLst>
          </p:cNvPr>
          <p:cNvSpPr/>
          <p:nvPr/>
        </p:nvSpPr>
        <p:spPr>
          <a:xfrm>
            <a:off x="4685400" y="2301480"/>
            <a:ext cx="1246680" cy="35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zh-CN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궁궐</a:t>
            </a:r>
            <a:r>
              <a:rPr lang="en-US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·</a:t>
            </a:r>
            <a:r>
              <a:rPr lang="zh-CN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종묘 </a:t>
            </a:r>
            <a:r>
              <a:rPr lang="en-US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Open API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5" name="Connector 12">
            <a:extLst>
              <a:ext uri="{FF2B5EF4-FFF2-40B4-BE49-F238E27FC236}">
                <a16:creationId xmlns:a16="http://schemas.microsoft.com/office/drawing/2014/main" id="{E97AA4FE-4778-F7BF-40D5-D240273238B6}"/>
              </a:ext>
            </a:extLst>
          </p:cNvPr>
          <p:cNvCxnSpPr/>
          <p:nvPr/>
        </p:nvCxnSpPr>
        <p:spPr>
          <a:xfrm rot="16200000">
            <a:off x="5794920" y="2477880"/>
            <a:ext cx="4208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16" name="TextBox 13">
            <a:extLst>
              <a:ext uri="{FF2B5EF4-FFF2-40B4-BE49-F238E27FC236}">
                <a16:creationId xmlns:a16="http://schemas.microsoft.com/office/drawing/2014/main" id="{84A2D8A2-7073-91AF-8593-C12656270E61}"/>
              </a:ext>
            </a:extLst>
          </p:cNvPr>
          <p:cNvSpPr/>
          <p:nvPr/>
        </p:nvSpPr>
        <p:spPr>
          <a:xfrm>
            <a:off x="6078600" y="2389320"/>
            <a:ext cx="124668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zh-CN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국가유산 지식이음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7" name="Connector 14">
            <a:extLst>
              <a:ext uri="{FF2B5EF4-FFF2-40B4-BE49-F238E27FC236}">
                <a16:creationId xmlns:a16="http://schemas.microsoft.com/office/drawing/2014/main" id="{3CE8F8B2-D5DF-FBC7-0370-D1A3B61D356C}"/>
              </a:ext>
            </a:extLst>
          </p:cNvPr>
          <p:cNvCxnSpPr/>
          <p:nvPr/>
        </p:nvCxnSpPr>
        <p:spPr>
          <a:xfrm rot="16200000">
            <a:off x="7188480" y="2477880"/>
            <a:ext cx="4208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18" name="TextBox 15">
            <a:extLst>
              <a:ext uri="{FF2B5EF4-FFF2-40B4-BE49-F238E27FC236}">
                <a16:creationId xmlns:a16="http://schemas.microsoft.com/office/drawing/2014/main" id="{2FA90D01-4CE1-3884-B8D8-1A6C162F7262}"/>
              </a:ext>
            </a:extLst>
          </p:cNvPr>
          <p:cNvSpPr/>
          <p:nvPr/>
        </p:nvSpPr>
        <p:spPr>
          <a:xfrm>
            <a:off x="7472160" y="2389320"/>
            <a:ext cx="124668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zh-CN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이뮤지엄 </a:t>
            </a:r>
            <a:r>
              <a:rPr lang="en-US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API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9" name="Connector 16">
            <a:extLst>
              <a:ext uri="{FF2B5EF4-FFF2-40B4-BE49-F238E27FC236}">
                <a16:creationId xmlns:a16="http://schemas.microsoft.com/office/drawing/2014/main" id="{69F11F44-BF28-C74D-553C-633FECBA96CB}"/>
              </a:ext>
            </a:extLst>
          </p:cNvPr>
          <p:cNvCxnSpPr/>
          <p:nvPr/>
        </p:nvCxnSpPr>
        <p:spPr>
          <a:xfrm rot="16200000">
            <a:off x="8581680" y="2477880"/>
            <a:ext cx="4208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20" name="TextBox 17">
            <a:extLst>
              <a:ext uri="{FF2B5EF4-FFF2-40B4-BE49-F238E27FC236}">
                <a16:creationId xmlns:a16="http://schemas.microsoft.com/office/drawing/2014/main" id="{E7F7A3E1-93C2-61A4-E9EC-DFF4E1844372}"/>
              </a:ext>
            </a:extLst>
          </p:cNvPr>
          <p:cNvSpPr/>
          <p:nvPr/>
        </p:nvSpPr>
        <p:spPr>
          <a:xfrm>
            <a:off x="8865360" y="2389320"/>
            <a:ext cx="124668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Tour API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1" name="Connector 18">
            <a:extLst>
              <a:ext uri="{FF2B5EF4-FFF2-40B4-BE49-F238E27FC236}">
                <a16:creationId xmlns:a16="http://schemas.microsoft.com/office/drawing/2014/main" id="{7CE9FE43-8BFB-130A-CDD0-66A76966FC0D}"/>
              </a:ext>
            </a:extLst>
          </p:cNvPr>
          <p:cNvCxnSpPr/>
          <p:nvPr/>
        </p:nvCxnSpPr>
        <p:spPr>
          <a:xfrm rot="16200000">
            <a:off x="9975240" y="2477880"/>
            <a:ext cx="4208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22" name="TextBox 19">
            <a:extLst>
              <a:ext uri="{FF2B5EF4-FFF2-40B4-BE49-F238E27FC236}">
                <a16:creationId xmlns:a16="http://schemas.microsoft.com/office/drawing/2014/main" id="{6C6205EB-8896-4639-D408-3DC736A9CC57}"/>
              </a:ext>
            </a:extLst>
          </p:cNvPr>
          <p:cNvSpPr/>
          <p:nvPr/>
        </p:nvSpPr>
        <p:spPr>
          <a:xfrm>
            <a:off x="10258920" y="2389320"/>
            <a:ext cx="124668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zh-CN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향토문화전자대전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20">
            <a:extLst>
              <a:ext uri="{FF2B5EF4-FFF2-40B4-BE49-F238E27FC236}">
                <a16:creationId xmlns:a16="http://schemas.microsoft.com/office/drawing/2014/main" id="{5452DEA9-4942-D243-397D-6BE0148747FE}"/>
              </a:ext>
            </a:extLst>
          </p:cNvPr>
          <p:cNvSpPr/>
          <p:nvPr/>
        </p:nvSpPr>
        <p:spPr>
          <a:xfrm>
            <a:off x="1527120" y="2891880"/>
            <a:ext cx="456840" cy="21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↓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 21">
            <a:extLst>
              <a:ext uri="{FF2B5EF4-FFF2-40B4-BE49-F238E27FC236}">
                <a16:creationId xmlns:a16="http://schemas.microsoft.com/office/drawing/2014/main" id="{B7F6392E-0691-BFAA-7BE4-69937F16CB33}"/>
              </a:ext>
            </a:extLst>
          </p:cNvPr>
          <p:cNvSpPr/>
          <p:nvPr/>
        </p:nvSpPr>
        <p:spPr>
          <a:xfrm>
            <a:off x="612720" y="2999160"/>
            <a:ext cx="54360" cy="712800"/>
          </a:xfrm>
          <a:prstGeom prst="rect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22">
            <a:extLst>
              <a:ext uri="{FF2B5EF4-FFF2-40B4-BE49-F238E27FC236}">
                <a16:creationId xmlns:a16="http://schemas.microsoft.com/office/drawing/2014/main" id="{FC54F173-F36C-C36C-2C2A-264F8F5A3FCC}"/>
              </a:ext>
            </a:extLst>
          </p:cNvPr>
          <p:cNvSpPr/>
          <p:nvPr/>
        </p:nvSpPr>
        <p:spPr>
          <a:xfrm>
            <a:off x="813960" y="3163320"/>
            <a:ext cx="2084400" cy="3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strike="noStrike" spc="199">
                <a:solidFill>
                  <a:srgbClr val="2E7D70"/>
                </a:solidFill>
                <a:latin typeface="Georgia"/>
                <a:ea typeface="Georgia"/>
              </a:rPr>
              <a:t>LAYER 2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zh-CN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검색 </a:t>
            </a:r>
            <a:r>
              <a:rPr lang="en-US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· </a:t>
            </a:r>
            <a:r>
              <a:rPr lang="zh-CN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추론 엔진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 23">
            <a:extLst>
              <a:ext uri="{FF2B5EF4-FFF2-40B4-BE49-F238E27FC236}">
                <a16:creationId xmlns:a16="http://schemas.microsoft.com/office/drawing/2014/main" id="{2AA6C399-0771-7859-EFD9-6623F109EDFE}"/>
              </a:ext>
            </a:extLst>
          </p:cNvPr>
          <p:cNvSpPr/>
          <p:nvPr/>
        </p:nvSpPr>
        <p:spPr>
          <a:xfrm>
            <a:off x="3218760" y="2999160"/>
            <a:ext cx="8359920" cy="7128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24">
            <a:extLst>
              <a:ext uri="{FF2B5EF4-FFF2-40B4-BE49-F238E27FC236}">
                <a16:creationId xmlns:a16="http://schemas.microsoft.com/office/drawing/2014/main" id="{F118D5F9-0486-2F7E-072F-DB89EB143E22}"/>
              </a:ext>
            </a:extLst>
          </p:cNvPr>
          <p:cNvSpPr/>
          <p:nvPr/>
        </p:nvSpPr>
        <p:spPr>
          <a:xfrm>
            <a:off x="3291840" y="3267000"/>
            <a:ext cx="194328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RAG </a:t>
            </a:r>
            <a:r>
              <a:rPr lang="zh-CN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검색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8" name="Connector 25">
            <a:extLst>
              <a:ext uri="{FF2B5EF4-FFF2-40B4-BE49-F238E27FC236}">
                <a16:creationId xmlns:a16="http://schemas.microsoft.com/office/drawing/2014/main" id="{5F75DFC4-6DE3-9020-7656-9EB38CEB2C37}"/>
              </a:ext>
            </a:extLst>
          </p:cNvPr>
          <p:cNvCxnSpPr/>
          <p:nvPr/>
        </p:nvCxnSpPr>
        <p:spPr>
          <a:xfrm rot="16200000">
            <a:off x="5098320" y="3355560"/>
            <a:ext cx="42120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29" name="TextBox 26">
            <a:extLst>
              <a:ext uri="{FF2B5EF4-FFF2-40B4-BE49-F238E27FC236}">
                <a16:creationId xmlns:a16="http://schemas.microsoft.com/office/drawing/2014/main" id="{B101516A-DE32-EFE9-7DB4-7F820FE60455}"/>
              </a:ext>
            </a:extLst>
          </p:cNvPr>
          <p:cNvSpPr/>
          <p:nvPr/>
        </p:nvSpPr>
        <p:spPr>
          <a:xfrm>
            <a:off x="5382000" y="3267000"/>
            <a:ext cx="194328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Vector DB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0" name="Connector 27">
            <a:extLst>
              <a:ext uri="{FF2B5EF4-FFF2-40B4-BE49-F238E27FC236}">
                <a16:creationId xmlns:a16="http://schemas.microsoft.com/office/drawing/2014/main" id="{DB64B108-3D47-21E0-DE83-8AE0AE88E549}"/>
              </a:ext>
            </a:extLst>
          </p:cNvPr>
          <p:cNvCxnSpPr/>
          <p:nvPr/>
        </p:nvCxnSpPr>
        <p:spPr>
          <a:xfrm rot="16200000">
            <a:off x="7188480" y="3355560"/>
            <a:ext cx="42120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31" name="TextBox 28">
            <a:extLst>
              <a:ext uri="{FF2B5EF4-FFF2-40B4-BE49-F238E27FC236}">
                <a16:creationId xmlns:a16="http://schemas.microsoft.com/office/drawing/2014/main" id="{4B2B3200-3F5F-936E-B91E-DCF8E498526D}"/>
              </a:ext>
            </a:extLst>
          </p:cNvPr>
          <p:cNvSpPr/>
          <p:nvPr/>
        </p:nvSpPr>
        <p:spPr>
          <a:xfrm>
            <a:off x="7472160" y="3267000"/>
            <a:ext cx="194328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Knowledge Graph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2" name="Connector 29">
            <a:extLst>
              <a:ext uri="{FF2B5EF4-FFF2-40B4-BE49-F238E27FC236}">
                <a16:creationId xmlns:a16="http://schemas.microsoft.com/office/drawing/2014/main" id="{A908D78F-62DC-FB9E-A43E-9C4552DB5AFA}"/>
              </a:ext>
            </a:extLst>
          </p:cNvPr>
          <p:cNvCxnSpPr/>
          <p:nvPr/>
        </p:nvCxnSpPr>
        <p:spPr>
          <a:xfrm rot="16200000">
            <a:off x="9278640" y="3355560"/>
            <a:ext cx="42120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33" name="TextBox 30">
            <a:extLst>
              <a:ext uri="{FF2B5EF4-FFF2-40B4-BE49-F238E27FC236}">
                <a16:creationId xmlns:a16="http://schemas.microsoft.com/office/drawing/2014/main" id="{BAF6E568-57E3-7F52-6505-69BF1DDC96AD}"/>
              </a:ext>
            </a:extLst>
          </p:cNvPr>
          <p:cNvSpPr/>
          <p:nvPr/>
        </p:nvSpPr>
        <p:spPr>
          <a:xfrm>
            <a:off x="9561960" y="3267000"/>
            <a:ext cx="194328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Context Prompt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31">
            <a:extLst>
              <a:ext uri="{FF2B5EF4-FFF2-40B4-BE49-F238E27FC236}">
                <a16:creationId xmlns:a16="http://schemas.microsoft.com/office/drawing/2014/main" id="{10B6A1AB-DCEE-A194-DF1C-43C531F91704}"/>
              </a:ext>
            </a:extLst>
          </p:cNvPr>
          <p:cNvSpPr/>
          <p:nvPr/>
        </p:nvSpPr>
        <p:spPr>
          <a:xfrm>
            <a:off x="1527120" y="3769920"/>
            <a:ext cx="456840" cy="21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↓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ectangle 32">
            <a:extLst>
              <a:ext uri="{FF2B5EF4-FFF2-40B4-BE49-F238E27FC236}">
                <a16:creationId xmlns:a16="http://schemas.microsoft.com/office/drawing/2014/main" id="{E616459E-9D81-CA30-D798-B8BA72A490F0}"/>
              </a:ext>
            </a:extLst>
          </p:cNvPr>
          <p:cNvSpPr/>
          <p:nvPr/>
        </p:nvSpPr>
        <p:spPr>
          <a:xfrm>
            <a:off x="612720" y="3877200"/>
            <a:ext cx="54360" cy="712800"/>
          </a:xfrm>
          <a:prstGeom prst="rect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33">
            <a:extLst>
              <a:ext uri="{FF2B5EF4-FFF2-40B4-BE49-F238E27FC236}">
                <a16:creationId xmlns:a16="http://schemas.microsoft.com/office/drawing/2014/main" id="{A11FF7F8-4933-211E-84BD-C256BDA22BF9}"/>
              </a:ext>
            </a:extLst>
          </p:cNvPr>
          <p:cNvSpPr/>
          <p:nvPr/>
        </p:nvSpPr>
        <p:spPr>
          <a:xfrm>
            <a:off x="813960" y="4041360"/>
            <a:ext cx="2084400" cy="3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strike="noStrike" spc="199">
                <a:solidFill>
                  <a:srgbClr val="2E7D70"/>
                </a:solidFill>
                <a:latin typeface="Georgia"/>
                <a:ea typeface="Georgia"/>
              </a:rPr>
              <a:t>LAYER 3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zh-CN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생성 </a:t>
            </a:r>
            <a:r>
              <a:rPr lang="en-US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· </a:t>
            </a:r>
            <a:r>
              <a:rPr lang="zh-CN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멀티모달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 34">
            <a:extLst>
              <a:ext uri="{FF2B5EF4-FFF2-40B4-BE49-F238E27FC236}">
                <a16:creationId xmlns:a16="http://schemas.microsoft.com/office/drawing/2014/main" id="{082726A1-E4C2-BCA7-EDF2-FF50901D1830}"/>
              </a:ext>
            </a:extLst>
          </p:cNvPr>
          <p:cNvSpPr/>
          <p:nvPr/>
        </p:nvSpPr>
        <p:spPr>
          <a:xfrm>
            <a:off x="3218760" y="3877200"/>
            <a:ext cx="8359920" cy="7128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35">
            <a:extLst>
              <a:ext uri="{FF2B5EF4-FFF2-40B4-BE49-F238E27FC236}">
                <a16:creationId xmlns:a16="http://schemas.microsoft.com/office/drawing/2014/main" id="{47BCEFE0-66C9-EDCD-44F0-6ABC3609C85D}"/>
              </a:ext>
            </a:extLst>
          </p:cNvPr>
          <p:cNvSpPr/>
          <p:nvPr/>
        </p:nvSpPr>
        <p:spPr>
          <a:xfrm>
            <a:off x="3291840" y="4145040"/>
            <a:ext cx="264024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LLM </a:t>
            </a:r>
            <a:r>
              <a:rPr lang="zh-CN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맞춤 해설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9" name="Connector 36">
            <a:extLst>
              <a:ext uri="{FF2B5EF4-FFF2-40B4-BE49-F238E27FC236}">
                <a16:creationId xmlns:a16="http://schemas.microsoft.com/office/drawing/2014/main" id="{72820D79-7D6E-FADC-004F-BD83404CDB10}"/>
              </a:ext>
            </a:extLst>
          </p:cNvPr>
          <p:cNvCxnSpPr/>
          <p:nvPr/>
        </p:nvCxnSpPr>
        <p:spPr>
          <a:xfrm rot="16200000">
            <a:off x="5794920" y="4233600"/>
            <a:ext cx="4208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40" name="TextBox 37">
            <a:extLst>
              <a:ext uri="{FF2B5EF4-FFF2-40B4-BE49-F238E27FC236}">
                <a16:creationId xmlns:a16="http://schemas.microsoft.com/office/drawing/2014/main" id="{1060CFD9-1E5B-91C3-30BE-6A8BF3B7C039}"/>
              </a:ext>
            </a:extLst>
          </p:cNvPr>
          <p:cNvSpPr/>
          <p:nvPr/>
        </p:nvSpPr>
        <p:spPr>
          <a:xfrm>
            <a:off x="6078600" y="4145040"/>
            <a:ext cx="264024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TTS </a:t>
            </a:r>
            <a:r>
              <a:rPr lang="zh-CN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음성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1" name="Connector 38">
            <a:extLst>
              <a:ext uri="{FF2B5EF4-FFF2-40B4-BE49-F238E27FC236}">
                <a16:creationId xmlns:a16="http://schemas.microsoft.com/office/drawing/2014/main" id="{9450B91E-53F7-986B-9771-7DE27C52312B}"/>
              </a:ext>
            </a:extLst>
          </p:cNvPr>
          <p:cNvCxnSpPr/>
          <p:nvPr/>
        </p:nvCxnSpPr>
        <p:spPr>
          <a:xfrm rot="16200000">
            <a:off x="8581680" y="4233600"/>
            <a:ext cx="4208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42" name="TextBox 39">
            <a:extLst>
              <a:ext uri="{FF2B5EF4-FFF2-40B4-BE49-F238E27FC236}">
                <a16:creationId xmlns:a16="http://schemas.microsoft.com/office/drawing/2014/main" id="{55876CA5-71A0-E69E-28E3-59CB7EC3AB21}"/>
              </a:ext>
            </a:extLst>
          </p:cNvPr>
          <p:cNvSpPr/>
          <p:nvPr/>
        </p:nvSpPr>
        <p:spPr>
          <a:xfrm>
            <a:off x="8865360" y="4059943"/>
            <a:ext cx="2640240" cy="3469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ko-KR" altLang="en-US" sz="11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공식 이미지 연결</a:t>
            </a:r>
            <a:endParaRPr lang="en-US" altLang="ko-KR" sz="1100" b="0" strike="noStrike" spc="-1" dirty="0">
              <a:solidFill>
                <a:srgbClr val="1A1A1A"/>
              </a:solidFill>
              <a:latin typeface="Nanum Myeongjo"/>
              <a:ea typeface="Nanum Myeongjo"/>
            </a:endParaRPr>
          </a:p>
          <a:p>
            <a:pPr algn="ctr" defTabSz="457200">
              <a:lnSpc>
                <a:spcPct val="105000"/>
              </a:lnSpc>
            </a:pPr>
            <a:r>
              <a:rPr lang="en-US" altLang="ko-KR" sz="11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AI </a:t>
            </a:r>
            <a:r>
              <a:rPr lang="ko-KR" altLang="en-US" sz="11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참고 시각화</a:t>
            </a:r>
            <a:r>
              <a:rPr lang="en-US" altLang="ko-KR" sz="11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(</a:t>
            </a:r>
            <a:r>
              <a:rPr lang="ko-KR" altLang="en-US" sz="11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확장</a:t>
            </a:r>
            <a:r>
              <a:rPr lang="en-US" altLang="ko-KR" sz="11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)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40">
            <a:extLst>
              <a:ext uri="{FF2B5EF4-FFF2-40B4-BE49-F238E27FC236}">
                <a16:creationId xmlns:a16="http://schemas.microsoft.com/office/drawing/2014/main" id="{CB9A2257-1977-A395-B292-67C615924F12}"/>
              </a:ext>
            </a:extLst>
          </p:cNvPr>
          <p:cNvSpPr/>
          <p:nvPr/>
        </p:nvSpPr>
        <p:spPr>
          <a:xfrm>
            <a:off x="1527120" y="4647600"/>
            <a:ext cx="456840" cy="21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↓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ectangle 41">
            <a:extLst>
              <a:ext uri="{FF2B5EF4-FFF2-40B4-BE49-F238E27FC236}">
                <a16:creationId xmlns:a16="http://schemas.microsoft.com/office/drawing/2014/main" id="{D6228BC4-0F76-7B59-A730-D041C3B3DB02}"/>
              </a:ext>
            </a:extLst>
          </p:cNvPr>
          <p:cNvSpPr/>
          <p:nvPr/>
        </p:nvSpPr>
        <p:spPr>
          <a:xfrm>
            <a:off x="612720" y="4754880"/>
            <a:ext cx="54360" cy="712800"/>
          </a:xfrm>
          <a:prstGeom prst="rect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42">
            <a:extLst>
              <a:ext uri="{FF2B5EF4-FFF2-40B4-BE49-F238E27FC236}">
                <a16:creationId xmlns:a16="http://schemas.microsoft.com/office/drawing/2014/main" id="{4816D2DA-B838-CCC0-5950-B2DD09C8EA05}"/>
              </a:ext>
            </a:extLst>
          </p:cNvPr>
          <p:cNvSpPr/>
          <p:nvPr/>
        </p:nvSpPr>
        <p:spPr>
          <a:xfrm>
            <a:off x="813960" y="4919040"/>
            <a:ext cx="2084400" cy="3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strike="noStrike" spc="199">
                <a:solidFill>
                  <a:srgbClr val="2E7D70"/>
                </a:solidFill>
                <a:latin typeface="Georgia"/>
                <a:ea typeface="Georgia"/>
              </a:rPr>
              <a:t>LAYER 4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zh-CN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사용자 경험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43">
            <a:extLst>
              <a:ext uri="{FF2B5EF4-FFF2-40B4-BE49-F238E27FC236}">
                <a16:creationId xmlns:a16="http://schemas.microsoft.com/office/drawing/2014/main" id="{73DD5C3B-9024-ABE4-09C2-01FB283F8E27}"/>
              </a:ext>
            </a:extLst>
          </p:cNvPr>
          <p:cNvSpPr/>
          <p:nvPr/>
        </p:nvSpPr>
        <p:spPr>
          <a:xfrm>
            <a:off x="3218760" y="4754880"/>
            <a:ext cx="8359920" cy="7128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44">
            <a:extLst>
              <a:ext uri="{FF2B5EF4-FFF2-40B4-BE49-F238E27FC236}">
                <a16:creationId xmlns:a16="http://schemas.microsoft.com/office/drawing/2014/main" id="{0EE6F3AB-FA18-D2D2-F412-86AA9E546A62}"/>
              </a:ext>
            </a:extLst>
          </p:cNvPr>
          <p:cNvSpPr/>
          <p:nvPr/>
        </p:nvSpPr>
        <p:spPr>
          <a:xfrm>
            <a:off x="3291840" y="5022720"/>
            <a:ext cx="264024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zh-CN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맞춤 해설 제공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8" name="Connector 45">
            <a:extLst>
              <a:ext uri="{FF2B5EF4-FFF2-40B4-BE49-F238E27FC236}">
                <a16:creationId xmlns:a16="http://schemas.microsoft.com/office/drawing/2014/main" id="{AF6E03AB-CED3-403A-3560-C64619205C77}"/>
              </a:ext>
            </a:extLst>
          </p:cNvPr>
          <p:cNvCxnSpPr/>
          <p:nvPr/>
        </p:nvCxnSpPr>
        <p:spPr>
          <a:xfrm rot="16200000">
            <a:off x="5794920" y="5111280"/>
            <a:ext cx="4208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49" name="TextBox 46">
            <a:extLst>
              <a:ext uri="{FF2B5EF4-FFF2-40B4-BE49-F238E27FC236}">
                <a16:creationId xmlns:a16="http://schemas.microsoft.com/office/drawing/2014/main" id="{2604BBB3-9494-2527-BAE6-B72D559EAB59}"/>
              </a:ext>
            </a:extLst>
          </p:cNvPr>
          <p:cNvSpPr/>
          <p:nvPr/>
        </p:nvSpPr>
        <p:spPr>
          <a:xfrm>
            <a:off x="6078600" y="5022720"/>
            <a:ext cx="264024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zh-CN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다음 유산 추천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0" name="Connector 47">
            <a:extLst>
              <a:ext uri="{FF2B5EF4-FFF2-40B4-BE49-F238E27FC236}">
                <a16:creationId xmlns:a16="http://schemas.microsoft.com/office/drawing/2014/main" id="{90E6183A-5E31-70AB-C546-8E26B4EB32DD}"/>
              </a:ext>
            </a:extLst>
          </p:cNvPr>
          <p:cNvCxnSpPr/>
          <p:nvPr/>
        </p:nvCxnSpPr>
        <p:spPr>
          <a:xfrm rot="16200000">
            <a:off x="8581680" y="5111280"/>
            <a:ext cx="4208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51" name="TextBox 48">
            <a:extLst>
              <a:ext uri="{FF2B5EF4-FFF2-40B4-BE49-F238E27FC236}">
                <a16:creationId xmlns:a16="http://schemas.microsoft.com/office/drawing/2014/main" id="{629091B7-3BCB-BA84-E759-D5CD46EE9898}"/>
              </a:ext>
            </a:extLst>
          </p:cNvPr>
          <p:cNvSpPr/>
          <p:nvPr/>
        </p:nvSpPr>
        <p:spPr>
          <a:xfrm>
            <a:off x="8865360" y="5022720"/>
            <a:ext cx="264024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K-</a:t>
            </a:r>
            <a:r>
              <a:rPr lang="zh-CN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콘텐츠 연결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49">
            <a:extLst>
              <a:ext uri="{FF2B5EF4-FFF2-40B4-BE49-F238E27FC236}">
                <a16:creationId xmlns:a16="http://schemas.microsoft.com/office/drawing/2014/main" id="{3EE9FD9B-ED54-D49C-06AE-335DB4EFA279}"/>
              </a:ext>
            </a:extLst>
          </p:cNvPr>
          <p:cNvSpPr/>
          <p:nvPr/>
        </p:nvSpPr>
        <p:spPr>
          <a:xfrm>
            <a:off x="612720" y="5650920"/>
            <a:ext cx="10965960" cy="548280"/>
          </a:xfrm>
          <a:prstGeom prst="rect">
            <a:avLst/>
          </a:prstGeom>
          <a:solidFill>
            <a:srgbClr val="1B4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50">
            <a:extLst>
              <a:ext uri="{FF2B5EF4-FFF2-40B4-BE49-F238E27FC236}">
                <a16:creationId xmlns:a16="http://schemas.microsoft.com/office/drawing/2014/main" id="{BC3D0756-2A63-C7AC-8F12-D3543786C146}"/>
              </a:ext>
            </a:extLst>
          </p:cNvPr>
          <p:cNvSpPr/>
          <p:nvPr/>
        </p:nvSpPr>
        <p:spPr>
          <a:xfrm>
            <a:off x="978480" y="5811311"/>
            <a:ext cx="10325880" cy="2274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en-US" sz="1200" b="1" strike="noStrike" spc="-1" dirty="0">
                <a:solidFill>
                  <a:srgbClr val="7FD4C8"/>
                </a:solidFill>
                <a:latin typeface="Nanum Myeongjo"/>
                <a:ea typeface="Nanum Myeongjo"/>
              </a:rPr>
              <a:t>MVP </a:t>
            </a:r>
            <a:r>
              <a:rPr lang="zh-CN" sz="1200" b="1" strike="noStrike" spc="-1" dirty="0">
                <a:solidFill>
                  <a:srgbClr val="7FD4C8"/>
                </a:solidFill>
                <a:latin typeface="Nanum Myeongjo"/>
                <a:ea typeface="Nanum Myeongjo"/>
              </a:rPr>
              <a:t>기준   </a:t>
            </a:r>
            <a:r>
              <a:rPr lang="en-US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RAG </a:t>
            </a:r>
            <a:r>
              <a:rPr lang="zh-CN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기반 맞춤 해설을 먼저 완성하고</a:t>
            </a:r>
            <a:r>
              <a:rPr lang="en-US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, </a:t>
            </a:r>
            <a:r>
              <a:rPr lang="zh-CN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지식 그래프 </a:t>
            </a:r>
            <a:r>
              <a:rPr lang="en-US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· </a:t>
            </a:r>
            <a:r>
              <a:rPr lang="zh-CN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프로파일링은 확장 기능으로 단계적 적용합니다</a:t>
            </a:r>
            <a:r>
              <a:rPr lang="en-US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.</a:t>
            </a:r>
            <a:endParaRPr lang="en-US" sz="135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651F4806-ED35-4594-8FFD-E7FE26A04079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000" dirty="0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5697289-E076-59E8-2D49-EEA6C8041297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altLang="en-US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전체 </a:t>
            </a:r>
            <a:r>
              <a:rPr lang="en-US" altLang="ko-KR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AI </a:t>
            </a:r>
            <a:r>
              <a:rPr lang="ko-KR" altLang="en-US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시스템 구조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B8A3C22-F738-F25F-F899-3C1A17715287}"/>
              </a:ext>
            </a:extLst>
          </p:cNvPr>
          <p:cNvSpPr/>
          <p:nvPr/>
        </p:nvSpPr>
        <p:spPr>
          <a:xfrm>
            <a:off x="612720" y="1245895"/>
            <a:ext cx="109659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외부 공공 데이터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, RAG,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지식 그래프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개인화 엔진이 하나의 해설 파이프라인으로 동작</a:t>
            </a:r>
            <a:endParaRPr lang="en-US" altLang="ko-KR" sz="13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" name="Connector 4">
            <a:extLst>
              <a:ext uri="{FF2B5EF4-FFF2-40B4-BE49-F238E27FC236}">
                <a16:creationId xmlns:a16="http://schemas.microsoft.com/office/drawing/2014/main" id="{1251F0F4-91FF-8E5C-F940-7DCC1B0851DB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5" name="TextBox 1">
            <a:extLst>
              <a:ext uri="{FF2B5EF4-FFF2-40B4-BE49-F238E27FC236}">
                <a16:creationId xmlns:a16="http://schemas.microsoft.com/office/drawing/2014/main" id="{997BA327-0B30-0CDD-D8C7-1D70824DC0E3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4839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5"/>
          <p:cNvSpPr/>
          <p:nvPr/>
        </p:nvSpPr>
        <p:spPr>
          <a:xfrm>
            <a:off x="612720" y="1947071"/>
            <a:ext cx="3200040" cy="566640"/>
          </a:xfrm>
          <a:prstGeom prst="rect">
            <a:avLst/>
          </a:prstGeom>
          <a:solidFill>
            <a:srgbClr val="FFFFFF"/>
          </a:solidFill>
          <a:ln>
            <a:solidFill>
              <a:srgbClr val="BBBB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6"/>
          <p:cNvSpPr/>
          <p:nvPr/>
        </p:nvSpPr>
        <p:spPr>
          <a:xfrm>
            <a:off x="612720" y="2130671"/>
            <a:ext cx="3200040" cy="19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공식</a:t>
            </a:r>
            <a:r>
              <a:rPr lang="en-US" sz="13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·</a:t>
            </a:r>
            <a:r>
              <a:rPr lang="zh-CN" sz="13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공공 데이터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7"/>
          <p:cNvSpPr/>
          <p:nvPr/>
        </p:nvSpPr>
        <p:spPr>
          <a:xfrm>
            <a:off x="3925800" y="2053271"/>
            <a:ext cx="45684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→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ctangle 8"/>
          <p:cNvSpPr/>
          <p:nvPr/>
        </p:nvSpPr>
        <p:spPr>
          <a:xfrm>
            <a:off x="4495680" y="1947071"/>
            <a:ext cx="32000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9"/>
          <p:cNvSpPr/>
          <p:nvPr/>
        </p:nvSpPr>
        <p:spPr>
          <a:xfrm>
            <a:off x="4495680" y="2130671"/>
            <a:ext cx="3200040" cy="19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통합 국가유산 </a:t>
            </a:r>
            <a:r>
              <a:rPr lang="en-US" sz="13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DB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7808760" y="2053271"/>
            <a:ext cx="45684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→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ectangle 11"/>
          <p:cNvSpPr/>
          <p:nvPr/>
        </p:nvSpPr>
        <p:spPr>
          <a:xfrm>
            <a:off x="8378640" y="1947071"/>
            <a:ext cx="3200040" cy="566640"/>
          </a:xfrm>
          <a:prstGeom prst="rect">
            <a:avLst/>
          </a:prstGeom>
          <a:solidFill>
            <a:srgbClr val="FFFFFF"/>
          </a:solidFill>
          <a:ln>
            <a:solidFill>
              <a:srgbClr val="BBBB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12"/>
          <p:cNvSpPr/>
          <p:nvPr/>
        </p:nvSpPr>
        <p:spPr>
          <a:xfrm>
            <a:off x="8378640" y="2130671"/>
            <a:ext cx="3200040" cy="19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RAG </a:t>
            </a:r>
            <a:r>
              <a:rPr lang="zh-CN" sz="13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해설 </a:t>
            </a:r>
            <a:r>
              <a:rPr lang="en-US" sz="13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· </a:t>
            </a:r>
            <a:r>
              <a:rPr lang="zh-CN" sz="13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추천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13"/>
          <p:cNvSpPr/>
          <p:nvPr/>
        </p:nvSpPr>
        <p:spPr>
          <a:xfrm>
            <a:off x="612720" y="2751671"/>
            <a:ext cx="27428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5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데이터 소스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4"/>
          <p:cNvSpPr/>
          <p:nvPr/>
        </p:nvSpPr>
        <p:spPr>
          <a:xfrm>
            <a:off x="4512369" y="2751671"/>
            <a:ext cx="27428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5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주요 데이터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5"/>
          <p:cNvSpPr/>
          <p:nvPr/>
        </p:nvSpPr>
        <p:spPr>
          <a:xfrm>
            <a:off x="8451458" y="2751671"/>
            <a:ext cx="27428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5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서비스 활용 역할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1" name="Connector 17"/>
          <p:cNvCxnSpPr/>
          <p:nvPr/>
        </p:nvCxnSpPr>
        <p:spPr>
          <a:xfrm>
            <a:off x="612360" y="3099071"/>
            <a:ext cx="10967040" cy="360"/>
          </a:xfrm>
          <a:prstGeom prst="bentConnector2">
            <a:avLst/>
          </a:prstGeom>
          <a:ln w="12700">
            <a:solidFill>
              <a:srgbClr val="1A1A1A"/>
            </a:solidFill>
            <a:round/>
          </a:ln>
        </p:spPr>
      </p:cxnSp>
      <p:sp>
        <p:nvSpPr>
          <p:cNvPr id="172" name="TextBox 18"/>
          <p:cNvSpPr/>
          <p:nvPr/>
        </p:nvSpPr>
        <p:spPr>
          <a:xfrm>
            <a:off x="612720" y="3292031"/>
            <a:ext cx="30171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국가유산검색 </a:t>
            </a:r>
            <a:r>
              <a:rPr lang="en-US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API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19"/>
          <p:cNvSpPr/>
          <p:nvPr/>
        </p:nvSpPr>
        <p:spPr>
          <a:xfrm>
            <a:off x="4512369" y="3295991"/>
            <a:ext cx="274284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명칭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주소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좌표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설명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20"/>
          <p:cNvSpPr/>
          <p:nvPr/>
        </p:nvSpPr>
        <p:spPr>
          <a:xfrm>
            <a:off x="8451458" y="3295991"/>
            <a:ext cx="255996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기본 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DB 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기준 데이터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7" name="Connector 23"/>
          <p:cNvCxnSpPr/>
          <p:nvPr/>
        </p:nvCxnSpPr>
        <p:spPr>
          <a:xfrm>
            <a:off x="612360" y="3551591"/>
            <a:ext cx="10967040" cy="360"/>
          </a:xfrm>
          <a:prstGeom prst="bentConnector2">
            <a:avLst/>
          </a:prstGeom>
          <a:ln w="6350">
            <a:solidFill>
              <a:srgbClr val="E0E0E0"/>
            </a:solidFill>
            <a:round/>
          </a:ln>
        </p:spPr>
      </p:cxnSp>
      <p:sp>
        <p:nvSpPr>
          <p:cNvPr id="178" name="TextBox 24"/>
          <p:cNvSpPr/>
          <p:nvPr/>
        </p:nvSpPr>
        <p:spPr>
          <a:xfrm>
            <a:off x="612720" y="3635111"/>
            <a:ext cx="30171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궁궐</a:t>
            </a:r>
            <a:r>
              <a:rPr lang="en-US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·</a:t>
            </a: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종묘 </a:t>
            </a:r>
            <a:r>
              <a:rPr lang="en-US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Open API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25"/>
          <p:cNvSpPr/>
          <p:nvPr/>
        </p:nvSpPr>
        <p:spPr>
          <a:xfrm>
            <a:off x="4512369" y="3639071"/>
            <a:ext cx="274284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해설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이미지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26"/>
          <p:cNvSpPr/>
          <p:nvPr/>
        </p:nvSpPr>
        <p:spPr>
          <a:xfrm>
            <a:off x="8451458" y="3639071"/>
            <a:ext cx="255996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현장 데모 핵심 해설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3" name="Connector 29"/>
          <p:cNvCxnSpPr/>
          <p:nvPr/>
        </p:nvCxnSpPr>
        <p:spPr>
          <a:xfrm>
            <a:off x="612360" y="3894671"/>
            <a:ext cx="10967040" cy="360"/>
          </a:xfrm>
          <a:prstGeom prst="bentConnector2">
            <a:avLst/>
          </a:prstGeom>
          <a:ln w="6350">
            <a:solidFill>
              <a:srgbClr val="E0E0E0"/>
            </a:solidFill>
            <a:round/>
          </a:ln>
        </p:spPr>
      </p:cxnSp>
      <p:sp>
        <p:nvSpPr>
          <p:cNvPr id="184" name="TextBox 30"/>
          <p:cNvSpPr/>
          <p:nvPr/>
        </p:nvSpPr>
        <p:spPr>
          <a:xfrm>
            <a:off x="612720" y="3977831"/>
            <a:ext cx="30171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국가유산 지식이음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31"/>
          <p:cNvSpPr/>
          <p:nvPr/>
        </p:nvSpPr>
        <p:spPr>
          <a:xfrm>
            <a:off x="4512369" y="3981791"/>
            <a:ext cx="274284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보존과학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전통재료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32"/>
          <p:cNvSpPr/>
          <p:nvPr/>
        </p:nvSpPr>
        <p:spPr>
          <a:xfrm>
            <a:off x="8451458" y="3981791"/>
            <a:ext cx="255996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RAG 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보강 문서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9" name="Connector 35"/>
          <p:cNvCxnSpPr/>
          <p:nvPr/>
        </p:nvCxnSpPr>
        <p:spPr>
          <a:xfrm>
            <a:off x="612360" y="4237391"/>
            <a:ext cx="10967040" cy="360"/>
          </a:xfrm>
          <a:prstGeom prst="bentConnector2">
            <a:avLst/>
          </a:prstGeom>
          <a:ln w="6350">
            <a:solidFill>
              <a:srgbClr val="E0E0E0"/>
            </a:solidFill>
            <a:round/>
          </a:ln>
        </p:spPr>
      </p:cxnSp>
      <p:sp>
        <p:nvSpPr>
          <p:cNvPr id="190" name="TextBox 36"/>
          <p:cNvSpPr/>
          <p:nvPr/>
        </p:nvSpPr>
        <p:spPr>
          <a:xfrm>
            <a:off x="612720" y="4320911"/>
            <a:ext cx="30171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왕실유물보존처리이야기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37"/>
          <p:cNvSpPr/>
          <p:nvPr/>
        </p:nvSpPr>
        <p:spPr>
          <a:xfrm>
            <a:off x="4512369" y="4324871"/>
            <a:ext cx="274284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보존처리 설명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38"/>
          <p:cNvSpPr/>
          <p:nvPr/>
        </p:nvSpPr>
        <p:spPr>
          <a:xfrm>
            <a:off x="8451458" y="4324871"/>
            <a:ext cx="255996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심화 해설 보강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5" name="Connector 41"/>
          <p:cNvCxnSpPr/>
          <p:nvPr/>
        </p:nvCxnSpPr>
        <p:spPr>
          <a:xfrm>
            <a:off x="612360" y="4580471"/>
            <a:ext cx="10967040" cy="360"/>
          </a:xfrm>
          <a:prstGeom prst="bentConnector2">
            <a:avLst/>
          </a:prstGeom>
          <a:ln w="6350">
            <a:solidFill>
              <a:srgbClr val="E0E0E0"/>
            </a:solidFill>
            <a:round/>
          </a:ln>
        </p:spPr>
      </p:cxnSp>
      <p:sp>
        <p:nvSpPr>
          <p:cNvPr id="196" name="TextBox 42"/>
          <p:cNvSpPr/>
          <p:nvPr/>
        </p:nvSpPr>
        <p:spPr>
          <a:xfrm>
            <a:off x="612720" y="4663631"/>
            <a:ext cx="30171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TourAPI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43"/>
          <p:cNvSpPr/>
          <p:nvPr/>
        </p:nvSpPr>
        <p:spPr>
          <a:xfrm>
            <a:off x="4512369" y="4667591"/>
            <a:ext cx="274284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관광지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주변 장소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44"/>
          <p:cNvSpPr/>
          <p:nvPr/>
        </p:nvSpPr>
        <p:spPr>
          <a:xfrm>
            <a:off x="8451458" y="4667591"/>
            <a:ext cx="255996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탐방 흐름 추천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1" name="Connector 47"/>
          <p:cNvCxnSpPr/>
          <p:nvPr/>
        </p:nvCxnSpPr>
        <p:spPr>
          <a:xfrm>
            <a:off x="612360" y="4923191"/>
            <a:ext cx="10967040" cy="360"/>
          </a:xfrm>
          <a:prstGeom prst="bentConnector2">
            <a:avLst/>
          </a:prstGeom>
          <a:ln w="6350">
            <a:solidFill>
              <a:srgbClr val="E0E0E0"/>
            </a:solidFill>
            <a:round/>
          </a:ln>
        </p:spPr>
      </p:cxnSp>
      <p:sp>
        <p:nvSpPr>
          <p:cNvPr id="202" name="TextBox 48"/>
          <p:cNvSpPr/>
          <p:nvPr/>
        </p:nvSpPr>
        <p:spPr>
          <a:xfrm>
            <a:off x="612720" y="5006711"/>
            <a:ext cx="30171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이뮤지엄 </a:t>
            </a:r>
            <a:r>
              <a:rPr lang="en-US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API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49"/>
          <p:cNvSpPr/>
          <p:nvPr/>
        </p:nvSpPr>
        <p:spPr>
          <a:xfrm>
            <a:off x="4512369" y="5010671"/>
            <a:ext cx="274284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유물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소장품 이미지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50"/>
          <p:cNvSpPr/>
          <p:nvPr/>
        </p:nvSpPr>
        <p:spPr>
          <a:xfrm>
            <a:off x="8451458" y="5010671"/>
            <a:ext cx="255996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관련 유물 연결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7" name="Connector 53"/>
          <p:cNvCxnSpPr/>
          <p:nvPr/>
        </p:nvCxnSpPr>
        <p:spPr>
          <a:xfrm>
            <a:off x="612360" y="5266271"/>
            <a:ext cx="10967040" cy="360"/>
          </a:xfrm>
          <a:prstGeom prst="bentConnector2">
            <a:avLst/>
          </a:prstGeom>
          <a:ln w="6350">
            <a:solidFill>
              <a:srgbClr val="E0E0E0"/>
            </a:solidFill>
            <a:round/>
          </a:ln>
        </p:spPr>
      </p:cxnSp>
      <p:sp>
        <p:nvSpPr>
          <p:cNvPr id="208" name="TextBox 54"/>
          <p:cNvSpPr/>
          <p:nvPr/>
        </p:nvSpPr>
        <p:spPr>
          <a:xfrm>
            <a:off x="612720" y="5349431"/>
            <a:ext cx="30171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향토문화전자대전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55"/>
          <p:cNvSpPr/>
          <p:nvPr/>
        </p:nvSpPr>
        <p:spPr>
          <a:xfrm>
            <a:off x="4512369" y="5353391"/>
            <a:ext cx="274284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설화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인물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지역문화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56"/>
          <p:cNvSpPr/>
          <p:nvPr/>
        </p:nvSpPr>
        <p:spPr>
          <a:xfrm>
            <a:off x="8451458" y="5353391"/>
            <a:ext cx="255996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지역 스토리 확장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60"/>
          <p:cNvSpPr/>
          <p:nvPr/>
        </p:nvSpPr>
        <p:spPr>
          <a:xfrm>
            <a:off x="612720" y="6199560"/>
            <a:ext cx="109659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00" b="1" strike="noStrike" spc="-1">
                <a:solidFill>
                  <a:srgbClr val="1B4D47"/>
                </a:solidFill>
                <a:latin typeface="Nanum Myeongjo"/>
                <a:ea typeface="Nanum Myeongjo"/>
              </a:rPr>
              <a:t>각 데이터는 유산 </a:t>
            </a:r>
            <a:r>
              <a:rPr lang="en-US" sz="1300" b="1" strike="noStrike" spc="-1">
                <a:solidFill>
                  <a:srgbClr val="1B4D47"/>
                </a:solidFill>
                <a:latin typeface="Nanum Myeongjo"/>
                <a:ea typeface="Nanum Myeongjo"/>
              </a:rPr>
              <a:t>ID</a:t>
            </a:r>
            <a:r>
              <a:rPr lang="zh-CN" sz="1300" b="1" strike="noStrike" spc="-1">
                <a:solidFill>
                  <a:srgbClr val="1B4D47"/>
                </a:solidFill>
                <a:latin typeface="Nanum Myeongjo"/>
                <a:ea typeface="Nanum Myeongjo"/>
              </a:rPr>
              <a:t>를 기준으로 기본 정보</a:t>
            </a:r>
            <a:r>
              <a:rPr lang="en-US" sz="1300" b="1" strike="noStrike" spc="-1">
                <a:solidFill>
                  <a:srgbClr val="1B4D47"/>
                </a:solidFill>
                <a:latin typeface="Nanum Myeongjo"/>
                <a:ea typeface="Nanum Myeongjo"/>
              </a:rPr>
              <a:t>, </a:t>
            </a:r>
            <a:r>
              <a:rPr lang="zh-CN" sz="1300" b="1" strike="noStrike" spc="-1">
                <a:solidFill>
                  <a:srgbClr val="1B4D47"/>
                </a:solidFill>
                <a:latin typeface="Nanum Myeongjo"/>
                <a:ea typeface="Nanum Myeongjo"/>
              </a:rPr>
              <a:t>설명 문서</a:t>
            </a:r>
            <a:r>
              <a:rPr lang="en-US" sz="1300" b="1" strike="noStrike" spc="-1">
                <a:solidFill>
                  <a:srgbClr val="1B4D47"/>
                </a:solidFill>
                <a:latin typeface="Nanum Myeongjo"/>
                <a:ea typeface="Nanum Myeongjo"/>
              </a:rPr>
              <a:t>, </a:t>
            </a:r>
            <a:r>
              <a:rPr lang="zh-CN" sz="1300" b="1" strike="noStrike" spc="-1">
                <a:solidFill>
                  <a:srgbClr val="1B4D47"/>
                </a:solidFill>
                <a:latin typeface="Nanum Myeongjo"/>
                <a:ea typeface="Nanum Myeongjo"/>
              </a:rPr>
              <a:t>이미지</a:t>
            </a:r>
            <a:r>
              <a:rPr lang="en-US" sz="1300" b="1" strike="noStrike" spc="-1">
                <a:solidFill>
                  <a:srgbClr val="1B4D47"/>
                </a:solidFill>
                <a:latin typeface="Nanum Myeongjo"/>
                <a:ea typeface="Nanum Myeongjo"/>
              </a:rPr>
              <a:t>, </a:t>
            </a:r>
            <a:r>
              <a:rPr lang="zh-CN" sz="1300" b="1" strike="noStrike" spc="-1">
                <a:solidFill>
                  <a:srgbClr val="1B4D47"/>
                </a:solidFill>
                <a:latin typeface="Nanum Myeongjo"/>
                <a:ea typeface="Nanum Myeongjo"/>
              </a:rPr>
              <a:t>카테고리</a:t>
            </a:r>
            <a:r>
              <a:rPr lang="en-US" sz="1300" b="1" strike="noStrike" spc="-1">
                <a:solidFill>
                  <a:srgbClr val="1B4D47"/>
                </a:solidFill>
                <a:latin typeface="Nanum Myeongjo"/>
                <a:ea typeface="Nanum Myeongjo"/>
              </a:rPr>
              <a:t>, </a:t>
            </a:r>
            <a:r>
              <a:rPr lang="zh-CN" sz="1300" b="1" strike="noStrike" spc="-1">
                <a:solidFill>
                  <a:srgbClr val="1B4D47"/>
                </a:solidFill>
                <a:latin typeface="Nanum Myeongjo"/>
                <a:ea typeface="Nanum Myeongjo"/>
              </a:rPr>
              <a:t>추천 관계로 연결됩니다</a:t>
            </a:r>
            <a:r>
              <a:rPr lang="en-US" sz="1300" b="1" strike="noStrike" spc="-1">
                <a:solidFill>
                  <a:srgbClr val="1B4D47"/>
                </a:solidFill>
                <a:latin typeface="Nanum Myeongjo"/>
                <a:ea typeface="Nanum Myeongjo"/>
              </a:rPr>
              <a:t>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6EE9C72F-A6A3-472C-9BF9-905E9B35C22B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0DD716-B5FB-F4D0-DC84-36D53532BA89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03D72513-610D-272A-7D13-42227C33C0AB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altLang="en-US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공식</a:t>
            </a:r>
            <a:r>
              <a:rPr lang="en-US" altLang="ko-KR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·</a:t>
            </a:r>
            <a:r>
              <a:rPr lang="ko-KR" altLang="en-US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공공 데이터 수집 현황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6C56FE6D-64C9-98A4-82E6-A591C6DA2708}"/>
              </a:ext>
            </a:extLst>
          </p:cNvPr>
          <p:cNvSpPr/>
          <p:nvPr/>
        </p:nvSpPr>
        <p:spPr>
          <a:xfrm>
            <a:off x="612720" y="1245895"/>
            <a:ext cx="109659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단일 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API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에 의존하지 않고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공식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·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공공 데이터를 유산 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ID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중심으로 연결하는 통합 데이터 구조를 지향합니다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altLang="ko-KR" sz="13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" name="Connector 4">
            <a:extLst>
              <a:ext uri="{FF2B5EF4-FFF2-40B4-BE49-F238E27FC236}">
                <a16:creationId xmlns:a16="http://schemas.microsoft.com/office/drawing/2014/main" id="{673F479C-B6F4-1862-5374-0DBA562BB105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 1"/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 6"/>
          <p:cNvSpPr/>
          <p:nvPr/>
        </p:nvSpPr>
        <p:spPr>
          <a:xfrm>
            <a:off x="612720" y="2331720"/>
            <a:ext cx="54360" cy="1188360"/>
          </a:xfrm>
          <a:prstGeom prst="rect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TextBox 7"/>
          <p:cNvSpPr/>
          <p:nvPr/>
        </p:nvSpPr>
        <p:spPr>
          <a:xfrm>
            <a:off x="887040" y="2788200"/>
            <a:ext cx="237708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1A1A1A"/>
                </a:solidFill>
                <a:latin typeface="Georgia"/>
                <a:ea typeface="Georgia"/>
              </a:rPr>
              <a:t>Vector DB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2" name="Connector 8"/>
          <p:cNvCxnSpPr/>
          <p:nvPr/>
        </p:nvCxnSpPr>
        <p:spPr>
          <a:xfrm rot="16200000">
            <a:off x="2788920" y="2925720"/>
            <a:ext cx="104256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223" name="TextBox 9"/>
          <p:cNvSpPr/>
          <p:nvPr/>
        </p:nvSpPr>
        <p:spPr>
          <a:xfrm>
            <a:off x="3538800" y="2570040"/>
            <a:ext cx="2099520" cy="71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00" b="1" strike="noStrike" spc="-1">
                <a:solidFill>
                  <a:srgbClr val="2E7D70"/>
                </a:solidFill>
                <a:latin typeface="Malgun Gothic"/>
                <a:ea typeface="Malgun Gothic"/>
              </a:rPr>
              <a:t>서비스에서의 역할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499"/>
              </a:spcBef>
            </a:pPr>
            <a:r>
              <a:rPr lang="zh-CN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사료 </a:t>
            </a:r>
            <a:r>
              <a:rPr lang="en-US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관광 텍스트를 임베딩하여 </a:t>
            </a:r>
            <a:r>
              <a:rPr lang="en-US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RAG </a:t>
            </a:r>
            <a:r>
              <a:rPr lang="zh-CN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검색에 활용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ectangle 10"/>
          <p:cNvSpPr/>
          <p:nvPr/>
        </p:nvSpPr>
        <p:spPr>
          <a:xfrm>
            <a:off x="6461640" y="2331720"/>
            <a:ext cx="54360" cy="1188360"/>
          </a:xfrm>
          <a:prstGeom prst="rect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11"/>
          <p:cNvSpPr/>
          <p:nvPr/>
        </p:nvSpPr>
        <p:spPr>
          <a:xfrm>
            <a:off x="6735960" y="2788200"/>
            <a:ext cx="237708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1A1A1A"/>
                </a:solidFill>
                <a:latin typeface="Georgia"/>
                <a:ea typeface="Georgia"/>
              </a:rPr>
              <a:t>Graph DB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6" name="Connector 12"/>
          <p:cNvCxnSpPr/>
          <p:nvPr/>
        </p:nvCxnSpPr>
        <p:spPr>
          <a:xfrm rot="16200000">
            <a:off x="8637840" y="2925720"/>
            <a:ext cx="104256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227" name="TextBox 13"/>
          <p:cNvSpPr/>
          <p:nvPr/>
        </p:nvSpPr>
        <p:spPr>
          <a:xfrm>
            <a:off x="9387720" y="2446560"/>
            <a:ext cx="2099520" cy="95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00" b="1" strike="noStrike" spc="-1">
                <a:solidFill>
                  <a:srgbClr val="2E7D70"/>
                </a:solidFill>
                <a:latin typeface="Malgun Gothic"/>
                <a:ea typeface="Malgun Gothic"/>
              </a:rPr>
              <a:t>서비스에서의 역할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499"/>
              </a:spcBef>
            </a:pPr>
            <a:r>
              <a:rPr lang="zh-CN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유물–시대–인물–콘텐츠 관계를 저장하여 추천 경로 생성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ectangle 14"/>
          <p:cNvSpPr/>
          <p:nvPr/>
        </p:nvSpPr>
        <p:spPr>
          <a:xfrm>
            <a:off x="612720" y="4023360"/>
            <a:ext cx="54360" cy="1188360"/>
          </a:xfrm>
          <a:prstGeom prst="rect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15"/>
          <p:cNvSpPr/>
          <p:nvPr/>
        </p:nvSpPr>
        <p:spPr>
          <a:xfrm>
            <a:off x="887040" y="4479840"/>
            <a:ext cx="237708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1A1A1A"/>
                </a:solidFill>
                <a:latin typeface="Georgia"/>
                <a:ea typeface="Georgia"/>
              </a:rPr>
              <a:t>PostgreSQL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0" name="Connector 16"/>
          <p:cNvCxnSpPr/>
          <p:nvPr/>
        </p:nvCxnSpPr>
        <p:spPr>
          <a:xfrm rot="16200000">
            <a:off x="2788920" y="4617360"/>
            <a:ext cx="104256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231" name="TextBox 17"/>
          <p:cNvSpPr/>
          <p:nvPr/>
        </p:nvSpPr>
        <p:spPr>
          <a:xfrm>
            <a:off x="3538800" y="4261680"/>
            <a:ext cx="2099520" cy="71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00" b="1" strike="noStrike" spc="-1">
                <a:solidFill>
                  <a:srgbClr val="2E7D70"/>
                </a:solidFill>
                <a:latin typeface="Malgun Gothic"/>
                <a:ea typeface="Malgun Gothic"/>
              </a:rPr>
              <a:t>서비스에서의 역할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499"/>
              </a:spcBef>
            </a:pPr>
            <a:r>
              <a:rPr lang="zh-CN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사용자 관심 벡터</a:t>
            </a:r>
            <a:r>
              <a:rPr lang="en-US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행동 로그</a:t>
            </a:r>
            <a:r>
              <a:rPr lang="en-US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탐방 기록 저장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ectangle 18"/>
          <p:cNvSpPr/>
          <p:nvPr/>
        </p:nvSpPr>
        <p:spPr>
          <a:xfrm>
            <a:off x="6461640" y="4023360"/>
            <a:ext cx="54360" cy="1188360"/>
          </a:xfrm>
          <a:prstGeom prst="rect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19"/>
          <p:cNvSpPr/>
          <p:nvPr/>
        </p:nvSpPr>
        <p:spPr>
          <a:xfrm>
            <a:off x="6735960" y="4479840"/>
            <a:ext cx="237708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1A1A1A"/>
                </a:solidFill>
                <a:latin typeface="Georgia"/>
                <a:ea typeface="Georgia"/>
              </a:rPr>
              <a:t>Redis Cache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4" name="Connector 20"/>
          <p:cNvCxnSpPr/>
          <p:nvPr/>
        </p:nvCxnSpPr>
        <p:spPr>
          <a:xfrm rot="16200000">
            <a:off x="8637840" y="4617360"/>
            <a:ext cx="104256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235" name="TextBox 21"/>
          <p:cNvSpPr/>
          <p:nvPr/>
        </p:nvSpPr>
        <p:spPr>
          <a:xfrm>
            <a:off x="9387720" y="4261680"/>
            <a:ext cx="2099520" cy="71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00" b="1" strike="noStrike" spc="-1">
                <a:solidFill>
                  <a:srgbClr val="2E7D70"/>
                </a:solidFill>
                <a:latin typeface="Malgun Gothic"/>
                <a:ea typeface="Malgun Gothic"/>
              </a:rPr>
              <a:t>서비스에서의 역할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499"/>
              </a:spcBef>
            </a:pPr>
            <a:r>
              <a:rPr lang="zh-CN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실시간 위치 </a:t>
            </a:r>
            <a:r>
              <a:rPr lang="en-US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세션 </a:t>
            </a:r>
            <a:r>
              <a:rPr lang="en-US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2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행동 이벤트를 캐싱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Rectangle 22"/>
          <p:cNvSpPr/>
          <p:nvPr/>
        </p:nvSpPr>
        <p:spPr>
          <a:xfrm>
            <a:off x="612720" y="5532120"/>
            <a:ext cx="10965960" cy="731160"/>
          </a:xfrm>
          <a:prstGeom prst="rect">
            <a:avLst/>
          </a:prstGeom>
          <a:solidFill>
            <a:srgbClr val="1B4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23"/>
          <p:cNvSpPr/>
          <p:nvPr/>
        </p:nvSpPr>
        <p:spPr>
          <a:xfrm>
            <a:off x="978480" y="5650560"/>
            <a:ext cx="10325880" cy="49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en-US" sz="1200" b="1" strike="noStrike" spc="-1" dirty="0">
                <a:solidFill>
                  <a:srgbClr val="7FD4C8"/>
                </a:solidFill>
                <a:latin typeface="Nanum Myeongjo"/>
                <a:ea typeface="Nanum Myeongjo"/>
              </a:rPr>
              <a:t>DB </a:t>
            </a:r>
            <a:r>
              <a:rPr lang="zh-CN" sz="1200" b="1" strike="noStrike" spc="-1" dirty="0">
                <a:solidFill>
                  <a:srgbClr val="7FD4C8"/>
                </a:solidFill>
                <a:latin typeface="Nanum Myeongjo"/>
                <a:ea typeface="Nanum Myeongjo"/>
              </a:rPr>
              <a:t>설계 원칙   </a:t>
            </a:r>
            <a:r>
              <a:rPr lang="en-US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MVP</a:t>
            </a:r>
            <a:r>
              <a:rPr lang="zh-CN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에서는 </a:t>
            </a:r>
            <a:r>
              <a:rPr lang="en-US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PostgreSQL + Vector DB </a:t>
            </a:r>
            <a:r>
              <a:rPr lang="zh-CN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중심으로 구현하고</a:t>
            </a:r>
            <a:r>
              <a:rPr lang="en-US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,</a:t>
            </a:r>
            <a:endParaRPr lang="en-US" sz="135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                     Graph DB</a:t>
            </a:r>
            <a:r>
              <a:rPr lang="zh-CN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와 </a:t>
            </a:r>
            <a:r>
              <a:rPr lang="en-US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Redis</a:t>
            </a:r>
            <a:r>
              <a:rPr lang="zh-CN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는 추천 고도화 및 실시간 처리 확장 단계에서 적용합니다</a:t>
            </a:r>
            <a:r>
              <a:rPr lang="en-US" sz="135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.</a:t>
            </a:r>
            <a:endParaRPr lang="en-US" sz="135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A8BFF742-A51A-4DD0-AEF7-9853B6EC730F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20</a:t>
            </a:r>
            <a:endParaRPr lang="en-US" sz="1000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3C28A73-F7B9-7ED7-0902-086D9C0F7E6D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altLang="en-US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데이터 </a:t>
            </a:r>
            <a:r>
              <a:rPr lang="en-US" altLang="ko-KR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· DB </a:t>
            </a:r>
            <a:r>
              <a:rPr lang="ko-KR" altLang="en-US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설계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7AD5191-5E31-EBE2-DE39-F99443190447}"/>
              </a:ext>
            </a:extLst>
          </p:cNvPr>
          <p:cNvSpPr/>
          <p:nvPr/>
        </p:nvSpPr>
        <p:spPr>
          <a:xfrm>
            <a:off x="612720" y="1245895"/>
            <a:ext cx="109659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유물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/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유적 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ID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를 중심으로 기본 정보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설명 문서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이미지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카테고리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추천 관계를 연결</a:t>
            </a:r>
            <a:endParaRPr lang="en-US" altLang="ko-KR" sz="13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" name="Connector 4">
            <a:extLst>
              <a:ext uri="{FF2B5EF4-FFF2-40B4-BE49-F238E27FC236}">
                <a16:creationId xmlns:a16="http://schemas.microsoft.com/office/drawing/2014/main" id="{5FEFE053-982B-1C63-C8D8-7A6FB25ED4DC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5"/>
          <p:cNvSpPr/>
          <p:nvPr/>
        </p:nvSpPr>
        <p:spPr>
          <a:xfrm>
            <a:off x="612720" y="1938600"/>
            <a:ext cx="2364120" cy="785880"/>
          </a:xfrm>
          <a:prstGeom prst="rect">
            <a:avLst/>
          </a:prstGeom>
          <a:solidFill>
            <a:srgbClr val="FFFFFF"/>
          </a:solidFill>
          <a:ln>
            <a:solidFill>
              <a:srgbClr val="BBBB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6"/>
          <p:cNvSpPr/>
          <p:nvPr/>
        </p:nvSpPr>
        <p:spPr>
          <a:xfrm>
            <a:off x="795600" y="2129040"/>
            <a:ext cx="208980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D70"/>
                </a:solidFill>
                <a:latin typeface="Georgia"/>
                <a:ea typeface="Georgia"/>
              </a:rPr>
              <a:t>1   </a:t>
            </a:r>
            <a:r>
              <a:rPr lang="zh-CN" sz="13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사용자 선택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Bef>
                <a:spcPts val="300"/>
              </a:spcBef>
            </a:pPr>
            <a:r>
              <a:rPr lang="zh-CN" sz="10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경복궁 </a:t>
            </a:r>
            <a:r>
              <a:rPr lang="en-US" sz="10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+ </a:t>
            </a:r>
            <a:r>
              <a:rPr lang="zh-CN" sz="10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건축 카테고리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7"/>
          <p:cNvSpPr/>
          <p:nvPr/>
        </p:nvSpPr>
        <p:spPr>
          <a:xfrm>
            <a:off x="2999880" y="2044800"/>
            <a:ext cx="45684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→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ectangle 8"/>
          <p:cNvSpPr/>
          <p:nvPr/>
        </p:nvSpPr>
        <p:spPr>
          <a:xfrm>
            <a:off x="3480120" y="1938600"/>
            <a:ext cx="2364120" cy="785880"/>
          </a:xfrm>
          <a:prstGeom prst="rect">
            <a:avLst/>
          </a:prstGeom>
          <a:solidFill>
            <a:srgbClr val="FFFFFF"/>
          </a:solidFill>
          <a:ln>
            <a:solidFill>
              <a:srgbClr val="BBBB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9"/>
          <p:cNvSpPr/>
          <p:nvPr/>
        </p:nvSpPr>
        <p:spPr>
          <a:xfrm>
            <a:off x="3663000" y="2129040"/>
            <a:ext cx="208980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D70"/>
                </a:solidFill>
                <a:latin typeface="Georgia"/>
                <a:ea typeface="Georgia"/>
              </a:rPr>
              <a:t>2   </a:t>
            </a:r>
            <a:r>
              <a:rPr lang="zh-CN" sz="13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공식 자료 검색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Bef>
                <a:spcPts val="300"/>
              </a:spcBef>
            </a:pPr>
            <a:r>
              <a:rPr lang="zh-CN" sz="10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국가유산 </a:t>
            </a:r>
            <a:r>
              <a:rPr lang="en-US" sz="10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DB</a:t>
            </a:r>
            <a:r>
              <a:rPr lang="zh-CN" sz="10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에서 관련 </a:t>
            </a:r>
            <a:r>
              <a:rPr lang="en-US" sz="10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chunk </a:t>
            </a:r>
            <a:r>
              <a:rPr lang="zh-CN" sz="10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검색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10"/>
          <p:cNvSpPr/>
          <p:nvPr/>
        </p:nvSpPr>
        <p:spPr>
          <a:xfrm>
            <a:off x="5867280" y="2044800"/>
            <a:ext cx="45684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→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ectangle 11"/>
          <p:cNvSpPr/>
          <p:nvPr/>
        </p:nvSpPr>
        <p:spPr>
          <a:xfrm>
            <a:off x="6347160" y="1938600"/>
            <a:ext cx="2364120" cy="785880"/>
          </a:xfrm>
          <a:prstGeom prst="rect">
            <a:avLst/>
          </a:prstGeom>
          <a:solidFill>
            <a:srgbClr val="FFFFFF"/>
          </a:solidFill>
          <a:ln>
            <a:solidFill>
              <a:srgbClr val="BBBB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12"/>
          <p:cNvSpPr/>
          <p:nvPr/>
        </p:nvSpPr>
        <p:spPr>
          <a:xfrm>
            <a:off x="6530040" y="2129040"/>
            <a:ext cx="208980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D70"/>
                </a:solidFill>
                <a:latin typeface="Georgia"/>
                <a:ea typeface="Georgia"/>
              </a:rPr>
              <a:t>3   </a:t>
            </a:r>
            <a:r>
              <a:rPr lang="zh-CN" sz="13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근거 전달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Bef>
                <a:spcPts val="300"/>
              </a:spcBef>
            </a:pPr>
            <a:r>
              <a:rPr lang="zh-CN" sz="10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검색 결과를 </a:t>
            </a:r>
            <a:r>
              <a:rPr lang="en-US" sz="10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LLM</a:t>
            </a:r>
            <a:r>
              <a:rPr lang="zh-CN" sz="10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에게 함께 제공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3"/>
          <p:cNvSpPr/>
          <p:nvPr/>
        </p:nvSpPr>
        <p:spPr>
          <a:xfrm>
            <a:off x="8734680" y="2044800"/>
            <a:ext cx="45684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→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Rectangle 14"/>
          <p:cNvSpPr/>
          <p:nvPr/>
        </p:nvSpPr>
        <p:spPr>
          <a:xfrm>
            <a:off x="9214560" y="1938600"/>
            <a:ext cx="2364120" cy="78588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15"/>
          <p:cNvSpPr/>
          <p:nvPr/>
        </p:nvSpPr>
        <p:spPr>
          <a:xfrm>
            <a:off x="9397440" y="2129040"/>
            <a:ext cx="208980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D70"/>
                </a:solidFill>
                <a:latin typeface="Georgia"/>
                <a:ea typeface="Georgia"/>
              </a:rPr>
              <a:t>4   </a:t>
            </a:r>
            <a:r>
              <a:rPr lang="zh-CN" sz="13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맞춤 해설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Bef>
                <a:spcPts val="300"/>
              </a:spcBef>
            </a:pPr>
            <a:r>
              <a:rPr lang="zh-CN" sz="10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건축 관점의 해설 생성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29"/>
          <p:cNvSpPr/>
          <p:nvPr/>
        </p:nvSpPr>
        <p:spPr>
          <a:xfrm>
            <a:off x="6578363" y="3019656"/>
            <a:ext cx="4199400" cy="69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5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기존 방식의 위험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8000"/>
              </a:lnSpc>
              <a:spcBef>
                <a:spcPts val="400"/>
              </a:spcBef>
            </a:pPr>
            <a:r>
              <a:rPr lang="zh-CN" sz="115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생성형 </a:t>
            </a:r>
            <a:r>
              <a:rPr lang="en-US" sz="115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AI</a:t>
            </a:r>
            <a:r>
              <a:rPr lang="zh-CN" sz="115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가 사전 학습 지식만으로 문화유산을 설명하면</a:t>
            </a:r>
            <a:r>
              <a:rPr lang="en-US" sz="115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15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실제 공식 자료와 다른 정보가 생성될 위험이 있습니다</a:t>
            </a:r>
            <a:r>
              <a:rPr lang="en-US" sz="115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30"/>
          <p:cNvSpPr/>
          <p:nvPr/>
        </p:nvSpPr>
        <p:spPr>
          <a:xfrm>
            <a:off x="6578363" y="4174338"/>
            <a:ext cx="4199400" cy="69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strike="noStrike" spc="-1" dirty="0">
                <a:solidFill>
                  <a:srgbClr val="2E7D70"/>
                </a:solidFill>
                <a:latin typeface="Nanum Myeongjo"/>
                <a:ea typeface="Nanum Myeongjo"/>
              </a:rPr>
              <a:t>RAG </a:t>
            </a:r>
            <a:r>
              <a:rPr lang="zh-CN" sz="1250" b="1" strike="noStrike" spc="-1" dirty="0">
                <a:solidFill>
                  <a:srgbClr val="2E7D70"/>
                </a:solidFill>
                <a:latin typeface="Nanum Myeongjo"/>
                <a:ea typeface="Nanum Myeongjo"/>
              </a:rPr>
              <a:t>적용 후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8000"/>
              </a:lnSpc>
              <a:spcBef>
                <a:spcPts val="400"/>
              </a:spcBef>
            </a:pPr>
            <a:r>
              <a:rPr lang="zh-CN" sz="115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공식 자료를 먼저 검색한 뒤 해설을 생성하므로 정보 정확도와 신뢰성을 높일 수 있습니다</a:t>
            </a:r>
            <a:r>
              <a:rPr lang="en-US" sz="115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Rectangle 31"/>
          <p:cNvSpPr/>
          <p:nvPr/>
        </p:nvSpPr>
        <p:spPr>
          <a:xfrm>
            <a:off x="612720" y="5376600"/>
            <a:ext cx="10965960" cy="493560"/>
          </a:xfrm>
          <a:prstGeom prst="rect">
            <a:avLst/>
          </a:prstGeom>
          <a:solidFill>
            <a:srgbClr val="1B4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32"/>
          <p:cNvSpPr/>
          <p:nvPr/>
        </p:nvSpPr>
        <p:spPr>
          <a:xfrm>
            <a:off x="978480" y="5520723"/>
            <a:ext cx="10325880" cy="205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sz="1200" b="1" strike="noStrike" spc="-1" dirty="0">
                <a:solidFill>
                  <a:srgbClr val="7FD4C8"/>
                </a:solidFill>
                <a:latin typeface="Nanum Myeongjo"/>
                <a:ea typeface="Nanum Myeongjo"/>
              </a:rPr>
              <a:t>핵심  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이음의 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AI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는 지식을 임의로 생성하지 않습니다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.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공식 자료를 검색한 뒤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,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사용자 맥락에 맞는 해설로 재구성합니다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.</a:t>
            </a:r>
            <a:endParaRPr lang="en-US" sz="120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ectangle 33"/>
          <p:cNvSpPr/>
          <p:nvPr/>
        </p:nvSpPr>
        <p:spPr>
          <a:xfrm>
            <a:off x="612720" y="5943600"/>
            <a:ext cx="10965960" cy="4932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Rectangle 34"/>
          <p:cNvSpPr/>
          <p:nvPr/>
        </p:nvSpPr>
        <p:spPr>
          <a:xfrm>
            <a:off x="612720" y="5943600"/>
            <a:ext cx="54360" cy="493200"/>
          </a:xfrm>
          <a:prstGeom prst="rect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35"/>
          <p:cNvSpPr/>
          <p:nvPr/>
        </p:nvSpPr>
        <p:spPr>
          <a:xfrm>
            <a:off x="932760" y="6077181"/>
            <a:ext cx="10417320" cy="2122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25000"/>
              </a:lnSpc>
            </a:pPr>
            <a:r>
              <a:rPr lang="zh-CN" sz="1200" b="1" strike="noStrike" spc="-1" dirty="0">
                <a:solidFill>
                  <a:srgbClr val="2E7D70"/>
                </a:solidFill>
                <a:latin typeface="Nanum Myeongjo"/>
                <a:ea typeface="Nanum Myeongjo"/>
              </a:rPr>
              <a:t>정리  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카테고리는 </a:t>
            </a:r>
            <a:r>
              <a:rPr lang="en-US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Metadata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로 저장하고</a:t>
            </a:r>
            <a:r>
              <a:rPr lang="en-US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, Vector DB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는 그 조건 안에서 가장 관련성 높은 문서를 찾아 </a:t>
            </a:r>
            <a:r>
              <a:rPr lang="en-US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RAG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품질을 높입니다</a:t>
            </a:r>
            <a:r>
              <a:rPr lang="en-US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DC2B33B2-FA7B-4F54-995F-FB6353BBAF14}"/>
              </a:ext>
            </a:extLst>
          </p:cNvPr>
          <p:cNvSpPr/>
          <p:nvPr/>
        </p:nvSpPr>
        <p:spPr>
          <a:xfrm>
            <a:off x="779432" y="3263748"/>
            <a:ext cx="2198285" cy="204244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60CBC-95AB-483F-BB37-12523837C0AE}"/>
              </a:ext>
            </a:extLst>
          </p:cNvPr>
          <p:cNvSpPr/>
          <p:nvPr/>
        </p:nvSpPr>
        <p:spPr>
          <a:xfrm>
            <a:off x="779432" y="2795688"/>
            <a:ext cx="2198285" cy="46806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7F48DD2E-5632-49EC-8389-85E636F91FB6}"/>
              </a:ext>
            </a:extLst>
          </p:cNvPr>
          <p:cNvSpPr/>
          <p:nvPr/>
        </p:nvSpPr>
        <p:spPr>
          <a:xfrm>
            <a:off x="612360" y="2795688"/>
            <a:ext cx="2365357" cy="468061"/>
          </a:xfrm>
          <a:prstGeom prst="rect">
            <a:avLst/>
          </a:prstGeom>
          <a:noFill/>
          <a:ln>
            <a:solidFill>
              <a:srgbClr val="2E7D7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Metadata  =  구분용</a:t>
            </a:r>
            <a:endParaRPr lang="en-US" sz="1300" dirty="0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9D604FA0-C791-4AA2-B11A-C2B9CD5AE59F}"/>
              </a:ext>
            </a:extLst>
          </p:cNvPr>
          <p:cNvSpPr/>
          <p:nvPr/>
        </p:nvSpPr>
        <p:spPr>
          <a:xfrm>
            <a:off x="985242" y="3554004"/>
            <a:ext cx="45735" cy="4680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A4AA9456-CA9D-4986-8915-09A4616F56A0}"/>
              </a:ext>
            </a:extLst>
          </p:cNvPr>
          <p:cNvSpPr/>
          <p:nvPr/>
        </p:nvSpPr>
        <p:spPr>
          <a:xfrm>
            <a:off x="1122448" y="3459483"/>
            <a:ext cx="1989493" cy="255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유물 / 유적명</a:t>
            </a:r>
            <a:endParaRPr lang="en-US" sz="1200" dirty="0"/>
          </a:p>
        </p:txBody>
      </p:sp>
      <p:sp>
        <p:nvSpPr>
          <p:cNvPr id="44" name="Shape 9">
            <a:extLst>
              <a:ext uri="{FF2B5EF4-FFF2-40B4-BE49-F238E27FC236}">
                <a16:creationId xmlns:a16="http://schemas.microsoft.com/office/drawing/2014/main" id="{FA6244A0-97BA-44E5-9FFF-BEB678D2AAD9}"/>
              </a:ext>
            </a:extLst>
          </p:cNvPr>
          <p:cNvSpPr/>
          <p:nvPr/>
        </p:nvSpPr>
        <p:spPr>
          <a:xfrm>
            <a:off x="985242" y="3911433"/>
            <a:ext cx="45735" cy="4680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62B63476-EFF4-421B-B727-0C070707AB4C}"/>
              </a:ext>
            </a:extLst>
          </p:cNvPr>
          <p:cNvSpPr/>
          <p:nvPr/>
        </p:nvSpPr>
        <p:spPr>
          <a:xfrm>
            <a:off x="1122448" y="3816911"/>
            <a:ext cx="1989493" cy="255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 카테고리</a:t>
            </a:r>
            <a:endParaRPr lang="en-US" sz="1200" dirty="0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D603191D-2F1A-4AE6-8D09-C24A26B848EA}"/>
              </a:ext>
            </a:extLst>
          </p:cNvPr>
          <p:cNvSpPr/>
          <p:nvPr/>
        </p:nvSpPr>
        <p:spPr>
          <a:xfrm>
            <a:off x="985242" y="4268860"/>
            <a:ext cx="45735" cy="4680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8D7BC0BA-C2C6-4F11-BF02-DC2B37FCC1FD}"/>
              </a:ext>
            </a:extLst>
          </p:cNvPr>
          <p:cNvSpPr/>
          <p:nvPr/>
        </p:nvSpPr>
        <p:spPr>
          <a:xfrm>
            <a:off x="1122448" y="4174338"/>
            <a:ext cx="1989493" cy="255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</a:t>
            </a:r>
            <a:endParaRPr lang="en-US" sz="120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E21DC1EA-DEDB-4D20-9939-12D5BEA9A68C}"/>
              </a:ext>
            </a:extLst>
          </p:cNvPr>
          <p:cNvSpPr/>
          <p:nvPr/>
        </p:nvSpPr>
        <p:spPr>
          <a:xfrm>
            <a:off x="985242" y="4626289"/>
            <a:ext cx="45735" cy="4680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C2103D50-CE66-4052-A808-DE62BC2A5C4C}"/>
              </a:ext>
            </a:extLst>
          </p:cNvPr>
          <p:cNvSpPr/>
          <p:nvPr/>
        </p:nvSpPr>
        <p:spPr>
          <a:xfrm>
            <a:off x="1122448" y="4531767"/>
            <a:ext cx="1989493" cy="255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출처</a:t>
            </a:r>
            <a:endParaRPr lang="en-US" sz="1200" dirty="0"/>
          </a:p>
        </p:txBody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50D1028C-1AF0-4C35-924D-63824F5E8A74}"/>
              </a:ext>
            </a:extLst>
          </p:cNvPr>
          <p:cNvSpPr/>
          <p:nvPr/>
        </p:nvSpPr>
        <p:spPr>
          <a:xfrm>
            <a:off x="985242" y="4983716"/>
            <a:ext cx="45735" cy="4680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93429D47-B45B-41F1-AED7-01317BC1EFCA}"/>
              </a:ext>
            </a:extLst>
          </p:cNvPr>
          <p:cNvSpPr/>
          <p:nvPr/>
        </p:nvSpPr>
        <p:spPr>
          <a:xfrm>
            <a:off x="1122448" y="4889195"/>
            <a:ext cx="1989493" cy="255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시대 · 지역</a:t>
            </a:r>
            <a:endParaRPr lang="en-US" sz="1200" dirty="0"/>
          </a:p>
        </p:txBody>
      </p:sp>
      <p:sp>
        <p:nvSpPr>
          <p:cNvPr id="53" name="Shape 18">
            <a:extLst>
              <a:ext uri="{FF2B5EF4-FFF2-40B4-BE49-F238E27FC236}">
                <a16:creationId xmlns:a16="http://schemas.microsoft.com/office/drawing/2014/main" id="{C5C483BA-B81A-4469-A961-273DCBF75749}"/>
              </a:ext>
            </a:extLst>
          </p:cNvPr>
          <p:cNvSpPr/>
          <p:nvPr/>
        </p:nvSpPr>
        <p:spPr>
          <a:xfrm>
            <a:off x="3478882" y="2795687"/>
            <a:ext cx="2365357" cy="468061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D0A87AEE-3879-46C4-9EA5-252C86C91696}"/>
              </a:ext>
            </a:extLst>
          </p:cNvPr>
          <p:cNvSpPr/>
          <p:nvPr/>
        </p:nvSpPr>
        <p:spPr>
          <a:xfrm>
            <a:off x="3511373" y="2795688"/>
            <a:ext cx="2260924" cy="468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Vector  =  의미 검색용</a:t>
            </a:r>
            <a:endParaRPr lang="en-US" sz="1300" dirty="0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CE120146-1521-44C1-AF41-F4A706A5EED8}"/>
              </a:ext>
            </a:extLst>
          </p:cNvPr>
          <p:cNvSpPr/>
          <p:nvPr/>
        </p:nvSpPr>
        <p:spPr>
          <a:xfrm>
            <a:off x="3659775" y="3294000"/>
            <a:ext cx="2218170" cy="68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조선</a:t>
            </a: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궁궐</a:t>
            </a: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건축과</a:t>
            </a: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의미적으로</a:t>
            </a:r>
            <a:endParaRPr lang="en-US" sz="1200" b="1" dirty="0">
              <a:solidFill>
                <a:srgbClr val="1A1A1A"/>
              </a:solidFill>
              <a:latin typeface="Nanum Myeongjo" pitchFamily="34" charset="0"/>
              <a:ea typeface="Nanum Myeongjo" pitchFamily="34" charset="-122"/>
              <a:cs typeface="Nanum Myeongjo" pitchFamily="34" charset="-120"/>
            </a:endParaRPr>
          </a:p>
          <a:p>
            <a:pPr marL="0" indent="0">
              <a:lnSpc>
                <a:spcPts val="1700"/>
              </a:lnSpc>
              <a:buNone/>
            </a:pPr>
            <a:r>
              <a:rPr lang="en-US" sz="12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가까운</a:t>
            </a: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설명</a:t>
            </a: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문서</a:t>
            </a: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검색</a:t>
            </a:r>
            <a:endParaRPr lang="en-US" sz="1200" dirty="0"/>
          </a:p>
        </p:txBody>
      </p:sp>
      <p:sp>
        <p:nvSpPr>
          <p:cNvPr id="70" name="TextBox 21">
            <a:extLst>
              <a:ext uri="{FF2B5EF4-FFF2-40B4-BE49-F238E27FC236}">
                <a16:creationId xmlns:a16="http://schemas.microsoft.com/office/drawing/2014/main" id="{10504D0C-13BC-416A-BB9B-43ADFD249C36}"/>
              </a:ext>
            </a:extLst>
          </p:cNvPr>
          <p:cNvSpPr/>
          <p:nvPr/>
        </p:nvSpPr>
        <p:spPr>
          <a:xfrm>
            <a:off x="3660174" y="4043321"/>
            <a:ext cx="914040" cy="15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00" b="1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예시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22">
            <a:extLst>
              <a:ext uri="{FF2B5EF4-FFF2-40B4-BE49-F238E27FC236}">
                <a16:creationId xmlns:a16="http://schemas.microsoft.com/office/drawing/2014/main" id="{79ED45FA-8695-4F99-BED8-1D3240F2AD3C}"/>
              </a:ext>
            </a:extLst>
          </p:cNvPr>
          <p:cNvSpPr/>
          <p:nvPr/>
        </p:nvSpPr>
        <p:spPr>
          <a:xfrm>
            <a:off x="3660174" y="4293612"/>
            <a:ext cx="237708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경복궁 근정전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24">
            <a:extLst>
              <a:ext uri="{FF2B5EF4-FFF2-40B4-BE49-F238E27FC236}">
                <a16:creationId xmlns:a16="http://schemas.microsoft.com/office/drawing/2014/main" id="{0DD1B0D4-163C-4100-8685-39049A18305E}"/>
              </a:ext>
            </a:extLst>
          </p:cNvPr>
          <p:cNvSpPr/>
          <p:nvPr/>
        </p:nvSpPr>
        <p:spPr>
          <a:xfrm>
            <a:off x="3660174" y="4604292"/>
            <a:ext cx="237708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창덕궁 인정전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26">
            <a:extLst>
              <a:ext uri="{FF2B5EF4-FFF2-40B4-BE49-F238E27FC236}">
                <a16:creationId xmlns:a16="http://schemas.microsoft.com/office/drawing/2014/main" id="{7FD051F3-29FA-424F-A361-748A721C6316}"/>
              </a:ext>
            </a:extLst>
          </p:cNvPr>
          <p:cNvSpPr/>
          <p:nvPr/>
        </p:nvSpPr>
        <p:spPr>
          <a:xfrm>
            <a:off x="3660174" y="4915332"/>
            <a:ext cx="237708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궁궐 배치 자료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18">
            <a:extLst>
              <a:ext uri="{FF2B5EF4-FFF2-40B4-BE49-F238E27FC236}">
                <a16:creationId xmlns:a16="http://schemas.microsoft.com/office/drawing/2014/main" id="{1322F80A-5258-4B29-B718-31EDA5BC776F}"/>
              </a:ext>
            </a:extLst>
          </p:cNvPr>
          <p:cNvSpPr/>
          <p:nvPr/>
        </p:nvSpPr>
        <p:spPr>
          <a:xfrm>
            <a:off x="2359800" y="4053889"/>
            <a:ext cx="1051200" cy="57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15000"/>
              </a:lnSpc>
            </a:pPr>
            <a:r>
              <a:rPr lang="zh-CN" sz="1000" b="0" strike="noStrike" spc="-1" dirty="0">
                <a:solidFill>
                  <a:srgbClr val="4A4A4A"/>
                </a:solidFill>
                <a:latin typeface="Malgun Gothic"/>
                <a:ea typeface="Malgun Gothic"/>
              </a:rPr>
              <a:t>조건 필터링 후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0" strike="noStrike" spc="-1" dirty="0">
                <a:solidFill>
                  <a:srgbClr val="4A4A4A"/>
                </a:solidFill>
                <a:latin typeface="Malgun Gothic"/>
                <a:ea typeface="Malgun Gothic"/>
              </a:rPr>
              <a:t>의미 검색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→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Connector 12">
            <a:extLst>
              <a:ext uri="{FF2B5EF4-FFF2-40B4-BE49-F238E27FC236}">
                <a16:creationId xmlns:a16="http://schemas.microsoft.com/office/drawing/2014/main" id="{F1317814-F1B8-40F3-AC3B-EADFEE26819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396043" y="3935130"/>
            <a:ext cx="1899444" cy="1"/>
          </a:xfrm>
          <a:prstGeom prst="bentConnector3">
            <a:avLst>
              <a:gd name="adj1" fmla="val 50000"/>
            </a:avLst>
          </a:prstGeom>
          <a:ln w="9525">
            <a:solidFill>
              <a:srgbClr val="E0E0E0"/>
            </a:solidFill>
            <a:round/>
          </a:ln>
        </p:spPr>
      </p:cxnSp>
      <p:sp>
        <p:nvSpPr>
          <p:cNvPr id="52" name="Text 21">
            <a:extLst>
              <a:ext uri="{FF2B5EF4-FFF2-40B4-BE49-F238E27FC236}">
                <a16:creationId xmlns:a16="http://schemas.microsoft.com/office/drawing/2014/main" id="{F922270B-091C-4538-84F1-4DB5CBA6F5CB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21</a:t>
            </a: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1F243B-7962-F430-1992-8A7B3F0DBB6C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D817A2EC-8B35-F16D-4EF7-1E7149D66543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ko-KR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RAG : </a:t>
            </a:r>
            <a:r>
              <a:rPr lang="ko-KR" altLang="en-US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공식 자료 기반 해설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53CA751-5EC4-3D53-B33E-AA0C07E2688E}"/>
              </a:ext>
            </a:extLst>
          </p:cNvPr>
          <p:cNvSpPr/>
          <p:nvPr/>
        </p:nvSpPr>
        <p:spPr>
          <a:xfrm>
            <a:off x="612720" y="1245895"/>
            <a:ext cx="109659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역사 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문화유산 분야에서는 자연스럽게 말하는 것보다 공식 자료를 근거로 틀리지 않게 설명하는 것이 더 중요합니다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altLang="ko-KR" sz="13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" name="Connector 4">
            <a:extLst>
              <a:ext uri="{FF2B5EF4-FFF2-40B4-BE49-F238E27FC236}">
                <a16:creationId xmlns:a16="http://schemas.microsoft.com/office/drawing/2014/main" id="{F1A80E8D-2CF9-C654-7E09-6FC224C65EBB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Box 1"/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20"/>
          <p:cNvSpPr/>
          <p:nvPr/>
        </p:nvSpPr>
        <p:spPr>
          <a:xfrm>
            <a:off x="612720" y="3499563"/>
            <a:ext cx="338076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50" b="1" strike="noStrike" spc="-1">
                <a:solidFill>
                  <a:srgbClr val="2E7D70"/>
                </a:solidFill>
                <a:latin typeface="Nanum Myeongjo"/>
                <a:ea typeface="Nanum Myeongjo"/>
              </a:rPr>
              <a:t>프롬프트에 들어가는 정보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5" name="Connector 21"/>
          <p:cNvCxnSpPr/>
          <p:nvPr/>
        </p:nvCxnSpPr>
        <p:spPr>
          <a:xfrm>
            <a:off x="612360" y="3865323"/>
            <a:ext cx="338148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296" name="TextBox 22"/>
          <p:cNvSpPr/>
          <p:nvPr/>
        </p:nvSpPr>
        <p:spPr>
          <a:xfrm>
            <a:off x="612720" y="4002483"/>
            <a:ext cx="3380760" cy="10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5000"/>
              </a:lnSpc>
            </a:pP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①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검색된 공식 사료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②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사용자 관심 카테고리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③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위치 </a:t>
            </a: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/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언어 </a:t>
            </a: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Context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④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그래프 추천 목록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Box 23"/>
          <p:cNvSpPr/>
          <p:nvPr/>
        </p:nvSpPr>
        <p:spPr>
          <a:xfrm>
            <a:off x="4405320" y="3499563"/>
            <a:ext cx="338076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50" b="1" strike="noStrike" spc="-1">
                <a:solidFill>
                  <a:srgbClr val="2E7D70"/>
                </a:solidFill>
                <a:latin typeface="Nanum Myeongjo"/>
                <a:ea typeface="Nanum Myeongjo"/>
              </a:rPr>
              <a:t>출력 결과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8" name="Connector 24"/>
          <p:cNvCxnSpPr/>
          <p:nvPr/>
        </p:nvCxnSpPr>
        <p:spPr>
          <a:xfrm>
            <a:off x="4404960" y="3865323"/>
            <a:ext cx="338148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299" name="TextBox 25"/>
          <p:cNvSpPr/>
          <p:nvPr/>
        </p:nvSpPr>
        <p:spPr>
          <a:xfrm>
            <a:off x="4405320" y="4002483"/>
            <a:ext cx="3380760" cy="10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5000"/>
              </a:lnSpc>
            </a:pP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공식 자료 기반 해설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관심사 맞춤 톤앤매너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관련 이미지 </a:t>
            </a: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· TTS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안내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다음 유물</a:t>
            </a: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/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유적 추천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26"/>
          <p:cNvSpPr/>
          <p:nvPr/>
        </p:nvSpPr>
        <p:spPr>
          <a:xfrm>
            <a:off x="8197920" y="3499563"/>
            <a:ext cx="338076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50" b="1" strike="noStrike" spc="-1">
                <a:solidFill>
                  <a:srgbClr val="2E7D70"/>
                </a:solidFill>
                <a:latin typeface="Nanum Myeongjo"/>
                <a:ea typeface="Nanum Myeongjo"/>
              </a:rPr>
              <a:t>신뢰성 장치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1" name="Connector 27"/>
          <p:cNvCxnSpPr/>
          <p:nvPr/>
        </p:nvCxnSpPr>
        <p:spPr>
          <a:xfrm>
            <a:off x="8197560" y="3865323"/>
            <a:ext cx="33818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302" name="TextBox 28"/>
          <p:cNvSpPr/>
          <p:nvPr/>
        </p:nvSpPr>
        <p:spPr>
          <a:xfrm>
            <a:off x="8197920" y="4002483"/>
            <a:ext cx="3380760" cy="10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5000"/>
              </a:lnSpc>
            </a:pP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Faithfulness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스코어링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출처 기반 답변 생성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공식 사료 부족 시 </a:t>
            </a: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Fallback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API </a:t>
            </a:r>
            <a:r>
              <a:rPr lang="zh-CN" sz="11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장애 시 텍스트 해설 유지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Rectangle 29"/>
          <p:cNvSpPr/>
          <p:nvPr/>
        </p:nvSpPr>
        <p:spPr>
          <a:xfrm>
            <a:off x="612720" y="5465523"/>
            <a:ext cx="10965960" cy="566640"/>
          </a:xfrm>
          <a:prstGeom prst="rect">
            <a:avLst/>
          </a:prstGeom>
          <a:solidFill>
            <a:srgbClr val="1B4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TextBox 30"/>
          <p:cNvSpPr/>
          <p:nvPr/>
        </p:nvSpPr>
        <p:spPr>
          <a:xfrm>
            <a:off x="978480" y="5646006"/>
            <a:ext cx="10325880" cy="205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sz="1200" b="1" strike="noStrike" spc="-1" dirty="0">
                <a:solidFill>
                  <a:srgbClr val="7FD4C8"/>
                </a:solidFill>
                <a:latin typeface="Nanum Myeongjo"/>
                <a:ea typeface="Nanum Myeongjo"/>
              </a:rPr>
              <a:t>핵심  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역사 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·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문화유산 분야에서는 “잘 말하는 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AI”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보다 “공식 자료를 근거로 틀리지 않게 설명하는 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AI”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가 핵심입니다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.</a:t>
            </a:r>
            <a:endParaRPr lang="en-US" sz="120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A3EF3168-D2A6-4BD3-88C4-DC636B00F4FD}"/>
              </a:ext>
            </a:extLst>
          </p:cNvPr>
          <p:cNvSpPr/>
          <p:nvPr/>
        </p:nvSpPr>
        <p:spPr>
          <a:xfrm>
            <a:off x="822960" y="1948711"/>
            <a:ext cx="1825142" cy="123444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422F84CF-B792-42B7-8277-7BCBDE581207}"/>
              </a:ext>
            </a:extLst>
          </p:cNvPr>
          <p:cNvSpPr/>
          <p:nvPr/>
        </p:nvSpPr>
        <p:spPr>
          <a:xfrm>
            <a:off x="896112" y="2040151"/>
            <a:ext cx="1678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Metadata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Pre-filtering</a:t>
            </a:r>
            <a:endParaRPr lang="en-US" sz="95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A4AE1803-6DCF-48D6-B4EE-EC62C00DEB15}"/>
              </a:ext>
            </a:extLst>
          </p:cNvPr>
          <p:cNvSpPr/>
          <p:nvPr/>
        </p:nvSpPr>
        <p:spPr>
          <a:xfrm>
            <a:off x="914400" y="2479063"/>
            <a:ext cx="16422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위치 · 언어 · 관심 카테고리로 검색 범위 사전 제한</a:t>
            </a:r>
            <a:endParaRPr lang="en-US" sz="900" dirty="0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AB9D5ADA-306F-4E0D-BE85-D496719216FB}"/>
              </a:ext>
            </a:extLst>
          </p:cNvPr>
          <p:cNvSpPr/>
          <p:nvPr/>
        </p:nvSpPr>
        <p:spPr>
          <a:xfrm>
            <a:off x="2629814" y="1948711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E4E07444-B688-45BA-94B5-B441979681CC}"/>
              </a:ext>
            </a:extLst>
          </p:cNvPr>
          <p:cNvSpPr/>
          <p:nvPr/>
        </p:nvSpPr>
        <p:spPr>
          <a:xfrm>
            <a:off x="2995574" y="1948711"/>
            <a:ext cx="1825142" cy="123444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1A746371-47A7-4BB6-9EEB-D2C7FAA3F26D}"/>
              </a:ext>
            </a:extLst>
          </p:cNvPr>
          <p:cNvSpPr/>
          <p:nvPr/>
        </p:nvSpPr>
        <p:spPr>
          <a:xfrm>
            <a:off x="3068726" y="2040151"/>
            <a:ext cx="1678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Hybrid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</a:t>
            </a:r>
            <a:endParaRPr lang="en-US" sz="95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E0B23FF0-C474-45A4-858C-3DD2EE52E6E1}"/>
              </a:ext>
            </a:extLst>
          </p:cNvPr>
          <p:cNvSpPr/>
          <p:nvPr/>
        </p:nvSpPr>
        <p:spPr>
          <a:xfrm>
            <a:off x="3087014" y="2479063"/>
            <a:ext cx="16422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BGE-m3 임베딩 + 키워드 검색으로 관련 사료 chunk 추출</a:t>
            </a:r>
            <a:endParaRPr lang="en-US" sz="9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BF9298F8-A58F-47E6-9564-D75056638015}"/>
              </a:ext>
            </a:extLst>
          </p:cNvPr>
          <p:cNvSpPr/>
          <p:nvPr/>
        </p:nvSpPr>
        <p:spPr>
          <a:xfrm>
            <a:off x="4802429" y="1948711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3F43C253-13B4-4B30-9D01-F60716921278}"/>
              </a:ext>
            </a:extLst>
          </p:cNvPr>
          <p:cNvSpPr/>
          <p:nvPr/>
        </p:nvSpPr>
        <p:spPr>
          <a:xfrm>
            <a:off x="5168189" y="1948711"/>
            <a:ext cx="1825142" cy="123444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634BDC83-197F-4ECB-B247-55CB9BA3BB30}"/>
              </a:ext>
            </a:extLst>
          </p:cNvPr>
          <p:cNvSpPr/>
          <p:nvPr/>
        </p:nvSpPr>
        <p:spPr>
          <a:xfrm>
            <a:off x="5241341" y="2040151"/>
            <a:ext cx="1678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Graph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Traversal</a:t>
            </a:r>
            <a:endParaRPr lang="en-US" sz="95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2DC8C027-31ED-410C-ADCB-D31302FFE9F8}"/>
              </a:ext>
            </a:extLst>
          </p:cNvPr>
          <p:cNvSpPr/>
          <p:nvPr/>
        </p:nvSpPr>
        <p:spPr>
          <a:xfrm>
            <a:off x="5259629" y="2479063"/>
            <a:ext cx="16422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동일 시대 · 인물 · 양식 · 콘텐츠 관계 노드 탐색</a:t>
            </a:r>
            <a:endParaRPr lang="en-US" sz="90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567963E3-6367-41C8-8570-48759D5B4F88}"/>
              </a:ext>
            </a:extLst>
          </p:cNvPr>
          <p:cNvSpPr/>
          <p:nvPr/>
        </p:nvSpPr>
        <p:spPr>
          <a:xfrm>
            <a:off x="6975043" y="1948711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C326F5CD-B33E-41A9-82BD-9E216619F98F}"/>
              </a:ext>
            </a:extLst>
          </p:cNvPr>
          <p:cNvSpPr/>
          <p:nvPr/>
        </p:nvSpPr>
        <p:spPr>
          <a:xfrm>
            <a:off x="7340803" y="1948711"/>
            <a:ext cx="1825142" cy="123444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591CA612-F79C-44DE-A053-2FAF69E1C16A}"/>
              </a:ext>
            </a:extLst>
          </p:cNvPr>
          <p:cNvSpPr/>
          <p:nvPr/>
        </p:nvSpPr>
        <p:spPr>
          <a:xfrm>
            <a:off x="7413955" y="2040151"/>
            <a:ext cx="1678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Multimodal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</a:t>
            </a:r>
            <a:endParaRPr lang="en-US" sz="95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4BE3C7A0-7BD8-4D5C-839D-1A0A1D8481E9}"/>
              </a:ext>
            </a:extLst>
          </p:cNvPr>
          <p:cNvSpPr/>
          <p:nvPr/>
        </p:nvSpPr>
        <p:spPr>
          <a:xfrm>
            <a:off x="7432243" y="2479063"/>
            <a:ext cx="16422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박물관 API 이미지 · 시각 자료 해설 화면에 연결</a:t>
            </a:r>
            <a:endParaRPr lang="en-US" sz="90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2D239124-0A86-4568-B06D-A64756CE3DF1}"/>
              </a:ext>
            </a:extLst>
          </p:cNvPr>
          <p:cNvSpPr/>
          <p:nvPr/>
        </p:nvSpPr>
        <p:spPr>
          <a:xfrm>
            <a:off x="9147658" y="1948711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22">
            <a:extLst>
              <a:ext uri="{FF2B5EF4-FFF2-40B4-BE49-F238E27FC236}">
                <a16:creationId xmlns:a16="http://schemas.microsoft.com/office/drawing/2014/main" id="{E753170A-9F4E-4F40-81C5-6D7168E07A38}"/>
              </a:ext>
            </a:extLst>
          </p:cNvPr>
          <p:cNvSpPr/>
          <p:nvPr/>
        </p:nvSpPr>
        <p:spPr>
          <a:xfrm>
            <a:off x="9513418" y="1948711"/>
            <a:ext cx="1825142" cy="1234440"/>
          </a:xfrm>
          <a:prstGeom prst="rect">
            <a:avLst/>
          </a:prstGeom>
          <a:solidFill>
            <a:srgbClr val="EAF4F2"/>
          </a:solidFill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DCCB4013-EBB7-408E-A9C3-446736929BA5}"/>
              </a:ext>
            </a:extLst>
          </p:cNvPr>
          <p:cNvSpPr/>
          <p:nvPr/>
        </p:nvSpPr>
        <p:spPr>
          <a:xfrm>
            <a:off x="9586570" y="2040151"/>
            <a:ext cx="1678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Personalized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FC8C97BE-C8D4-41D0-B697-6C87D690F366}"/>
              </a:ext>
            </a:extLst>
          </p:cNvPr>
          <p:cNvSpPr/>
          <p:nvPr/>
        </p:nvSpPr>
        <p:spPr>
          <a:xfrm>
            <a:off x="9604858" y="2479063"/>
            <a:ext cx="16422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RAG Context + 추천 목록 + 개인화 지침으로 LLM 생성</a:t>
            </a:r>
            <a:endParaRPr lang="en-US" sz="9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A8B003F6-4F01-449C-AF70-F48E031413C2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22</a:t>
            </a:r>
            <a:endParaRPr lang="en-US" sz="1000" dirty="0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4B114BEA-26A1-033D-56F9-B6C232687F6C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768FA8A2-AF06-E705-396F-D6756AE762C4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7EF35EAA-3EF4-37AA-D55B-BCC22BAE36A1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0188E691-B0FE-C46E-941A-33EF39DF41E1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2F899129-A73B-F58C-F97A-B746579ED531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altLang="en-US" sz="2400" b="1" strike="noStrike" spc="-1" dirty="0" err="1">
                <a:solidFill>
                  <a:srgbClr val="1A1A1A"/>
                </a:solidFill>
                <a:latin typeface="Nanum Myeongjo"/>
                <a:ea typeface="Nanum Myeongjo"/>
              </a:rPr>
              <a:t>멀티모달</a:t>
            </a:r>
            <a:r>
              <a:rPr lang="ko-KR" altLang="en-US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 </a:t>
            </a:r>
            <a:r>
              <a:rPr lang="en-US" altLang="ko-KR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RAG </a:t>
            </a:r>
            <a:r>
              <a:rPr lang="ko-KR" altLang="en-US" sz="24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실행 파이프라인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AACEFE8E-688A-E11A-CD0B-D3D1BD1B8E9E}"/>
              </a:ext>
            </a:extLst>
          </p:cNvPr>
          <p:cNvSpPr/>
          <p:nvPr/>
        </p:nvSpPr>
        <p:spPr>
          <a:xfrm>
            <a:off x="612720" y="1245895"/>
            <a:ext cx="109659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검색 범위를 먼저 좁히고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공식 자료와 그래프 추천을 함께 주입해 해설을 생성</a:t>
            </a:r>
            <a:endParaRPr lang="en-US" altLang="ko-KR" sz="13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" name="Connector 4">
            <a:extLst>
              <a:ext uri="{FF2B5EF4-FFF2-40B4-BE49-F238E27FC236}">
                <a16:creationId xmlns:a16="http://schemas.microsoft.com/office/drawing/2014/main" id="{354232B8-8E3C-6ABC-2365-37E4CBEA8256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Rectangle 5"/>
          <p:cNvSpPr/>
          <p:nvPr/>
        </p:nvSpPr>
        <p:spPr>
          <a:xfrm>
            <a:off x="612720" y="2157610"/>
            <a:ext cx="2009880" cy="749520"/>
          </a:xfrm>
          <a:prstGeom prst="rect">
            <a:avLst/>
          </a:prstGeom>
          <a:solidFill>
            <a:srgbClr val="FFFFFF"/>
          </a:solidFill>
          <a:ln w="1143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6"/>
          <p:cNvSpPr/>
          <p:nvPr/>
        </p:nvSpPr>
        <p:spPr>
          <a:xfrm>
            <a:off x="612720" y="2431930"/>
            <a:ext cx="2009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zh-CN" sz="12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언어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Rectangle 7"/>
          <p:cNvSpPr/>
          <p:nvPr/>
        </p:nvSpPr>
        <p:spPr>
          <a:xfrm>
            <a:off x="2851560" y="2157610"/>
            <a:ext cx="2009880" cy="749520"/>
          </a:xfrm>
          <a:prstGeom prst="rect">
            <a:avLst/>
          </a:prstGeom>
          <a:solidFill>
            <a:srgbClr val="FFFFFF"/>
          </a:solidFill>
          <a:ln w="1143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TextBox 8"/>
          <p:cNvSpPr/>
          <p:nvPr/>
        </p:nvSpPr>
        <p:spPr>
          <a:xfrm>
            <a:off x="2851560" y="2431930"/>
            <a:ext cx="2009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zh-CN" sz="12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현장 </a:t>
            </a:r>
            <a:r>
              <a:rPr lang="en-US" sz="12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/ </a:t>
            </a:r>
            <a:r>
              <a:rPr lang="zh-CN" sz="12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비현장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Rectangle 9"/>
          <p:cNvSpPr/>
          <p:nvPr/>
        </p:nvSpPr>
        <p:spPr>
          <a:xfrm>
            <a:off x="5090760" y="2157610"/>
            <a:ext cx="2009880" cy="749520"/>
          </a:xfrm>
          <a:prstGeom prst="rect">
            <a:avLst/>
          </a:prstGeom>
          <a:solidFill>
            <a:srgbClr val="FFFFFF"/>
          </a:solidFill>
          <a:ln w="1143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10"/>
          <p:cNvSpPr/>
          <p:nvPr/>
        </p:nvSpPr>
        <p:spPr>
          <a:xfrm>
            <a:off x="5090760" y="2340130"/>
            <a:ext cx="2009880" cy="3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zh-CN" sz="12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현재 장소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5000"/>
              </a:lnSpc>
            </a:pPr>
            <a:r>
              <a:rPr lang="zh-CN" sz="12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또는 선택 유물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Rectangle 11"/>
          <p:cNvSpPr/>
          <p:nvPr/>
        </p:nvSpPr>
        <p:spPr>
          <a:xfrm>
            <a:off x="7329600" y="2157610"/>
            <a:ext cx="2009880" cy="749520"/>
          </a:xfrm>
          <a:prstGeom prst="rect">
            <a:avLst/>
          </a:prstGeom>
          <a:solidFill>
            <a:srgbClr val="FFFFFF"/>
          </a:solidFill>
          <a:ln w="1143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TextBox 12"/>
          <p:cNvSpPr/>
          <p:nvPr/>
        </p:nvSpPr>
        <p:spPr>
          <a:xfrm>
            <a:off x="7329600" y="2431930"/>
            <a:ext cx="2009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zh-CN" sz="12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관심 카테고리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Rectangle 13"/>
          <p:cNvSpPr/>
          <p:nvPr/>
        </p:nvSpPr>
        <p:spPr>
          <a:xfrm>
            <a:off x="9568800" y="2157610"/>
            <a:ext cx="2009880" cy="749520"/>
          </a:xfrm>
          <a:prstGeom prst="rect">
            <a:avLst/>
          </a:prstGeom>
          <a:solidFill>
            <a:srgbClr val="FFFFFF"/>
          </a:solidFill>
          <a:ln w="1143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TextBox 14"/>
          <p:cNvSpPr/>
          <p:nvPr/>
        </p:nvSpPr>
        <p:spPr>
          <a:xfrm>
            <a:off x="9568800" y="2340130"/>
            <a:ext cx="2009880" cy="3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zh-CN" sz="12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이전 추천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5000"/>
              </a:lnSpc>
            </a:pPr>
            <a:r>
              <a:rPr lang="zh-CN" sz="12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선택 이력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Rectangle 15"/>
          <p:cNvSpPr/>
          <p:nvPr/>
        </p:nvSpPr>
        <p:spPr>
          <a:xfrm>
            <a:off x="612720" y="3437352"/>
            <a:ext cx="5254200" cy="191988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TextBox 16"/>
          <p:cNvSpPr/>
          <p:nvPr/>
        </p:nvSpPr>
        <p:spPr>
          <a:xfrm>
            <a:off x="978480" y="3711672"/>
            <a:ext cx="452268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일반 </a:t>
            </a:r>
            <a:r>
              <a:rPr lang="en-US" sz="13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Prompt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lang="en-US" sz="1400" b="0" i="1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“</a:t>
            </a:r>
            <a:r>
              <a:rPr lang="zh-CN" sz="1400" b="0" i="1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경복궁을 설명해주세요</a:t>
            </a:r>
            <a:r>
              <a:rPr lang="en-US" sz="1400" b="0" i="1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.”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22" name="Connector 17"/>
          <p:cNvCxnSpPr/>
          <p:nvPr/>
        </p:nvCxnSpPr>
        <p:spPr>
          <a:xfrm>
            <a:off x="978120" y="4717512"/>
            <a:ext cx="4523400" cy="360"/>
          </a:xfrm>
          <a:prstGeom prst="bentConnector2">
            <a:avLst/>
          </a:prstGeom>
          <a:ln w="6350">
            <a:solidFill>
              <a:srgbClr val="E0E0E0"/>
            </a:solidFill>
            <a:round/>
          </a:ln>
        </p:spPr>
      </p:cxnSp>
      <p:sp>
        <p:nvSpPr>
          <p:cNvPr id="323" name="TextBox 18"/>
          <p:cNvSpPr/>
          <p:nvPr/>
        </p:nvSpPr>
        <p:spPr>
          <a:xfrm>
            <a:off x="978480" y="4808952"/>
            <a:ext cx="4522680" cy="17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9E9E9E"/>
                </a:solidFill>
                <a:latin typeface="Nanum Myeongjo"/>
                <a:ea typeface="Nanum Myeongjo"/>
              </a:rPr>
              <a:t>→  </a:t>
            </a:r>
            <a:r>
              <a:rPr lang="zh-CN" sz="1150" b="0" strike="noStrike" spc="-1">
                <a:solidFill>
                  <a:srgbClr val="9E9E9E"/>
                </a:solidFill>
                <a:latin typeface="Nanum Myeongjo"/>
                <a:ea typeface="Nanum Myeongjo"/>
              </a:rPr>
              <a:t>모든 사용자에게 비슷한 답변 생성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ectangle 19"/>
          <p:cNvSpPr/>
          <p:nvPr/>
        </p:nvSpPr>
        <p:spPr>
          <a:xfrm>
            <a:off x="6324480" y="3437352"/>
            <a:ext cx="5254200" cy="1919880"/>
          </a:xfrm>
          <a:prstGeom prst="rect">
            <a:avLst/>
          </a:prstGeom>
          <a:solidFill>
            <a:srgbClr val="EA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Rectangle 20"/>
          <p:cNvSpPr/>
          <p:nvPr/>
        </p:nvSpPr>
        <p:spPr>
          <a:xfrm>
            <a:off x="6324480" y="3437352"/>
            <a:ext cx="54360" cy="1919880"/>
          </a:xfrm>
          <a:prstGeom prst="rect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6" name="TextBox 21"/>
          <p:cNvSpPr/>
          <p:nvPr/>
        </p:nvSpPr>
        <p:spPr>
          <a:xfrm>
            <a:off x="6690240" y="3711672"/>
            <a:ext cx="4522680" cy="112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D70"/>
                </a:solidFill>
                <a:latin typeface="Nanum Myeongjo"/>
                <a:ea typeface="Nanum Myeongjo"/>
              </a:rPr>
              <a:t>Context-Aware Prompt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  <a:spcBef>
                <a:spcPts val="1199"/>
              </a:spcBef>
            </a:pPr>
            <a:r>
              <a:rPr lang="zh-CN" sz="12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사용자는 한국어를 사용하고</a:t>
            </a:r>
            <a:r>
              <a:rPr lang="en-US" sz="12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, </a:t>
            </a:r>
            <a:r>
              <a:rPr lang="zh-CN" sz="12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현재 경복궁 현장에 있으며</a:t>
            </a:r>
            <a:r>
              <a:rPr lang="en-US" sz="12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, </a:t>
            </a:r>
            <a:r>
              <a:rPr lang="zh-CN" sz="12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건축 카테고리에 관심이 있다</a:t>
            </a:r>
            <a:r>
              <a:rPr lang="en-US" sz="12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. </a:t>
            </a:r>
            <a:r>
              <a:rPr lang="zh-CN" sz="12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공식 자료를 근거로 근정전의 건축적 특징을 쉽게 설명하라</a:t>
            </a:r>
            <a:r>
              <a:rPr lang="en-US" sz="1250" b="0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13C19A6C-6FF6-4CDA-93CA-1F4FD7A52749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000" dirty="0"/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90E1196A-E26F-DB8D-F7F3-9B09DAAD7E33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A78E0B47-8F6D-FB1A-EC30-6813DE056649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7729BC8A-2A6B-2748-A5EB-C4BCEB34232B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4B27C057-FEA0-42D5-68F9-D6C7C22D21F1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618A76C7-02D7-EA8C-227A-A96B791A2E70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2A6823B0-1D2A-8023-DFFF-7CB17CE04E94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/>
            <a:r>
              <a:rPr lang="en-US" altLang="ko-KR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Context-Aware Prompting</a:t>
            </a:r>
            <a:endParaRPr lang="en-US" altLang="ko-KR" sz="24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D517574D-158E-F033-F467-A74122560F11}"/>
              </a:ext>
            </a:extLst>
          </p:cNvPr>
          <p:cNvSpPr/>
          <p:nvPr/>
        </p:nvSpPr>
        <p:spPr>
          <a:xfrm>
            <a:off x="612720" y="1245895"/>
            <a:ext cx="109659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같은 국가유산이라도 사용자의 언어 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이용 장소 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관심 카테고리에 따라 다른 해설을 생성하기 위한 프롬프트 구성 방식입니다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altLang="ko-KR" sz="13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" name="Connector 4">
            <a:extLst>
              <a:ext uri="{FF2B5EF4-FFF2-40B4-BE49-F238E27FC236}">
                <a16:creationId xmlns:a16="http://schemas.microsoft.com/office/drawing/2014/main" id="{105BBE24-EA66-3E31-EAE4-AF0947E4A713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Box 5"/>
          <p:cNvSpPr/>
          <p:nvPr/>
        </p:nvSpPr>
        <p:spPr>
          <a:xfrm>
            <a:off x="612720" y="1886847"/>
            <a:ext cx="335016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입력</a:t>
            </a:r>
            <a:r>
              <a:rPr lang="en-US" sz="950" b="1" strike="noStrike" spc="148">
                <a:solidFill>
                  <a:srgbClr val="2E7D70"/>
                </a:solidFill>
                <a:latin typeface="Georgia"/>
                <a:ea typeface="Georgia"/>
              </a:rPr>
              <a:t>   INPUT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3" name="Connector 6"/>
          <p:cNvCxnSpPr/>
          <p:nvPr/>
        </p:nvCxnSpPr>
        <p:spPr>
          <a:xfrm>
            <a:off x="612360" y="2307327"/>
            <a:ext cx="33512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334" name="TextBox 7"/>
          <p:cNvSpPr/>
          <p:nvPr/>
        </p:nvSpPr>
        <p:spPr>
          <a:xfrm>
            <a:off x="612720" y="2501973"/>
            <a:ext cx="3350160" cy="1908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5000"/>
              </a:lnSpc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사용자 언어</a:t>
            </a:r>
            <a:endParaRPr lang="en-US" sz="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9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이용 장소</a:t>
            </a:r>
            <a:endParaRPr lang="en-US" altLang="zh-CN" sz="1200" b="0" strike="noStrike" spc="-1" dirty="0">
              <a:solidFill>
                <a:srgbClr val="1A1A1A"/>
              </a:solidFill>
              <a:latin typeface="Nanum Myeongjo"/>
              <a:ea typeface="Nanum Myeongjo"/>
            </a:endParaRPr>
          </a:p>
          <a:p>
            <a:pPr defTabSz="457200">
              <a:lnSpc>
                <a:spcPct val="115000"/>
              </a:lnSpc>
              <a:spcBef>
                <a:spcPts val="9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선택 유물 </a:t>
            </a:r>
            <a:r>
              <a:rPr lang="en-US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·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유적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9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관심 카테고리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9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공식 자료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9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해설 난이도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8"/>
          <p:cNvSpPr/>
          <p:nvPr/>
        </p:nvSpPr>
        <p:spPr>
          <a:xfrm>
            <a:off x="4008960" y="3273207"/>
            <a:ext cx="45684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→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9"/>
          <p:cNvSpPr/>
          <p:nvPr/>
        </p:nvSpPr>
        <p:spPr>
          <a:xfrm>
            <a:off x="4420440" y="1886847"/>
            <a:ext cx="335016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처리</a:t>
            </a:r>
            <a:r>
              <a:rPr lang="en-US" sz="950" b="1" strike="noStrike" spc="148">
                <a:solidFill>
                  <a:srgbClr val="2E7D70"/>
                </a:solidFill>
                <a:latin typeface="Georgia"/>
                <a:ea typeface="Georgia"/>
              </a:rPr>
              <a:t>   PROCESS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7" name="Connector 10"/>
          <p:cNvCxnSpPr/>
          <p:nvPr/>
        </p:nvCxnSpPr>
        <p:spPr>
          <a:xfrm>
            <a:off x="4420440" y="2307327"/>
            <a:ext cx="335088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338" name="TextBox 11"/>
          <p:cNvSpPr/>
          <p:nvPr/>
        </p:nvSpPr>
        <p:spPr>
          <a:xfrm>
            <a:off x="4511880" y="2651487"/>
            <a:ext cx="3350160" cy="150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5000"/>
              </a:lnSpc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en-US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Context Prompt + LLM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9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카테고리별 설명 재구성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9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비교 해설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9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추천 이유 생성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9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다국어 해설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Box 12"/>
          <p:cNvSpPr/>
          <p:nvPr/>
        </p:nvSpPr>
        <p:spPr>
          <a:xfrm>
            <a:off x="7817040" y="3273207"/>
            <a:ext cx="45684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→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Box 13"/>
          <p:cNvSpPr/>
          <p:nvPr/>
        </p:nvSpPr>
        <p:spPr>
          <a:xfrm>
            <a:off x="8228520" y="1886847"/>
            <a:ext cx="335016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출력</a:t>
            </a:r>
            <a:r>
              <a:rPr lang="en-US" sz="950" b="1" strike="noStrike" spc="148">
                <a:solidFill>
                  <a:srgbClr val="2E7D70"/>
                </a:solidFill>
                <a:latin typeface="Georgia"/>
                <a:ea typeface="Georgia"/>
              </a:rPr>
              <a:t>   OUTPUT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41" name="Connector 14"/>
          <p:cNvCxnSpPr/>
          <p:nvPr/>
        </p:nvCxnSpPr>
        <p:spPr>
          <a:xfrm>
            <a:off x="8228160" y="2307327"/>
            <a:ext cx="33512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342" name="TextBox 15"/>
          <p:cNvSpPr/>
          <p:nvPr/>
        </p:nvSpPr>
        <p:spPr>
          <a:xfrm>
            <a:off x="8228520" y="2968451"/>
            <a:ext cx="3350160" cy="8539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5000"/>
              </a:lnSpc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사용자가 읽기 쉬운 텍스트 해설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9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오디오 가이드에 적합한 </a:t>
            </a:r>
            <a:r>
              <a:rPr lang="en-US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TTS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문장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9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다음 행동으로 이어지는 추천 문구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Rectangle 16"/>
          <p:cNvSpPr/>
          <p:nvPr/>
        </p:nvSpPr>
        <p:spPr>
          <a:xfrm>
            <a:off x="612720" y="4935827"/>
            <a:ext cx="10965960" cy="493560"/>
          </a:xfrm>
          <a:prstGeom prst="rect">
            <a:avLst/>
          </a:prstGeom>
          <a:solidFill>
            <a:srgbClr val="1B4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17"/>
          <p:cNvSpPr/>
          <p:nvPr/>
        </p:nvSpPr>
        <p:spPr>
          <a:xfrm>
            <a:off x="978480" y="5079950"/>
            <a:ext cx="10325880" cy="205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sz="1200" b="1" strike="noStrike" spc="-1" dirty="0">
                <a:solidFill>
                  <a:srgbClr val="7FD4C8"/>
                </a:solidFill>
                <a:latin typeface="Nanum Myeongjo"/>
                <a:ea typeface="Nanum Myeongjo"/>
              </a:rPr>
              <a:t>정리   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LLM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은 검색된 공식 자료를 입력받아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,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사용자 맥락에 맞는 해설 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· TTS ·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추천 문구로 재구성합니다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.</a:t>
            </a:r>
            <a:endParaRPr lang="en-US" sz="120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Rectangle 18"/>
          <p:cNvSpPr/>
          <p:nvPr/>
        </p:nvSpPr>
        <p:spPr>
          <a:xfrm>
            <a:off x="612720" y="5502827"/>
            <a:ext cx="10965960" cy="4932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6" name="Rectangle 19"/>
          <p:cNvSpPr/>
          <p:nvPr/>
        </p:nvSpPr>
        <p:spPr>
          <a:xfrm>
            <a:off x="612720" y="5502827"/>
            <a:ext cx="54360" cy="493200"/>
          </a:xfrm>
          <a:prstGeom prst="rect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TextBox 20"/>
          <p:cNvSpPr/>
          <p:nvPr/>
        </p:nvSpPr>
        <p:spPr>
          <a:xfrm>
            <a:off x="932760" y="5646348"/>
            <a:ext cx="10417320" cy="2122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25000"/>
              </a:lnSpc>
            </a:pPr>
            <a:r>
              <a:rPr lang="zh-CN" sz="1200" b="1" strike="noStrike" spc="-1" dirty="0">
                <a:solidFill>
                  <a:srgbClr val="2E7D70"/>
                </a:solidFill>
                <a:latin typeface="Nanum Myeongjo"/>
                <a:ea typeface="Nanum Myeongjo"/>
              </a:rPr>
              <a:t>효과  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사용자 상황에 맞춰 해설의 관점 </a:t>
            </a:r>
            <a:r>
              <a:rPr lang="en-US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·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난이도 </a:t>
            </a:r>
            <a:r>
              <a:rPr lang="en-US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·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분량 </a:t>
            </a:r>
            <a:r>
              <a:rPr lang="en-US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· </a:t>
            </a:r>
            <a:r>
              <a:rPr lang="zh-CN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언어를 조절할 수 있습니다</a:t>
            </a:r>
            <a:r>
              <a:rPr lang="en-US" sz="1200" b="0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03C1614-1121-4B71-9DC4-F214ECBE445A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24</a:t>
            </a:r>
            <a:endParaRPr lang="en-US" sz="1000" dirty="0"/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64E93D00-0891-03DB-4A8E-62E7D446C229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55CC966D-214E-5989-EAD7-0E67546DFEC8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412092A1-4458-9341-D877-B1D7058DF2A2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321458BC-54D0-A5E1-4C3D-54E6395882F9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B2C215F1-9555-074B-0B6F-6A14E542CEB0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262E909B-3402-7E9D-9E9D-57B90EB8B9CE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ko-KR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LLM </a:t>
            </a:r>
            <a:r>
              <a:rPr lang="zh-CN" altLang="ko-KR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해설 생성 방식</a:t>
            </a:r>
            <a:endParaRPr lang="en-US" altLang="ko-KR" sz="24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CE8E1D5D-30E4-C856-C9EF-4511E5914937}"/>
              </a:ext>
            </a:extLst>
          </p:cNvPr>
          <p:cNvSpPr/>
          <p:nvPr/>
        </p:nvSpPr>
        <p:spPr>
          <a:xfrm>
            <a:off x="612720" y="1245895"/>
            <a:ext cx="109659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LLM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은 역사 지식을 단독으로 만들어내는 역할이 아니라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검색된 공식 자료를 사용자 맥락에 맞게 재구성하는 역할입니다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altLang="ko-KR" sz="13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" name="Connector 4">
            <a:extLst>
              <a:ext uri="{FF2B5EF4-FFF2-40B4-BE49-F238E27FC236}">
                <a16:creationId xmlns:a16="http://schemas.microsoft.com/office/drawing/2014/main" id="{D3DB8A34-1AF3-14BA-A2C9-251F168476B8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Box 6"/>
          <p:cNvSpPr/>
          <p:nvPr/>
        </p:nvSpPr>
        <p:spPr>
          <a:xfrm>
            <a:off x="4453200" y="2189891"/>
            <a:ext cx="7125480" cy="48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 dirty="0">
                <a:solidFill>
                  <a:srgbClr val="2E7D70"/>
                </a:solidFill>
                <a:latin typeface="Georgia"/>
                <a:ea typeface="Georgia"/>
              </a:rPr>
              <a:t>TTS</a:t>
            </a:r>
            <a:r>
              <a:rPr lang="en-US" sz="125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   </a:t>
            </a:r>
            <a:r>
              <a:rPr lang="zh-CN" sz="125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해설 음성 변환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499"/>
              </a:spcBef>
            </a:pPr>
            <a:r>
              <a:rPr lang="en-US" sz="115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AI</a:t>
            </a:r>
            <a:r>
              <a:rPr lang="zh-CN" sz="115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가 생성한 해설을 음성으로 변환 — 현장 관람 중 화면을 계속 보지 않아도 오디오 가이드처럼 청취 가능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5" name="Connector 7"/>
          <p:cNvCxnSpPr/>
          <p:nvPr/>
        </p:nvCxnSpPr>
        <p:spPr>
          <a:xfrm>
            <a:off x="4452840" y="2948051"/>
            <a:ext cx="7126560" cy="360"/>
          </a:xfrm>
          <a:prstGeom prst="bentConnector2">
            <a:avLst/>
          </a:prstGeom>
          <a:ln w="6350">
            <a:solidFill>
              <a:srgbClr val="E0E0E0"/>
            </a:solidFill>
            <a:round/>
          </a:ln>
        </p:spPr>
      </p:cxnSp>
      <p:sp>
        <p:nvSpPr>
          <p:cNvPr id="356" name="TextBox 8"/>
          <p:cNvSpPr/>
          <p:nvPr/>
        </p:nvSpPr>
        <p:spPr>
          <a:xfrm>
            <a:off x="4453200" y="3321477"/>
            <a:ext cx="712548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1" strike="noStrike" spc="-1" dirty="0">
                <a:solidFill>
                  <a:srgbClr val="2E7D70"/>
                </a:solidFill>
                <a:latin typeface="Nanum Myeongjo"/>
                <a:ea typeface="Nanum Myeongjo"/>
              </a:rPr>
              <a:t>이미지 생성 </a:t>
            </a:r>
            <a:r>
              <a:rPr lang="en-US" sz="1300" b="1" strike="noStrike" spc="-1" dirty="0">
                <a:solidFill>
                  <a:srgbClr val="2E7D70"/>
                </a:solidFill>
                <a:latin typeface="Nanum Myeongjo"/>
                <a:ea typeface="Nanum Myeongjo"/>
              </a:rPr>
              <a:t>AI</a:t>
            </a:r>
            <a:r>
              <a:rPr lang="en-US" sz="125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   </a:t>
            </a:r>
            <a:r>
              <a:rPr lang="zh-CN" sz="125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참고 시각화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499"/>
              </a:spcBef>
            </a:pP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공식 이미지가 있는 경우 공식 이미지와 출처를 우선 사용하고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현재 직접 볼 수 없거나 훼손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·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소실되어 이해가 어려운 경우에만 유물이 있었던 공간의 분위기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소실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·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훼손된 구조를 이해하기 위한 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AI 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참고 이미지를 보조적으로 제공합니다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Rectangle 9"/>
          <p:cNvSpPr/>
          <p:nvPr/>
        </p:nvSpPr>
        <p:spPr>
          <a:xfrm>
            <a:off x="4453200" y="4491749"/>
            <a:ext cx="1644120" cy="42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8" name="TextBox 10"/>
          <p:cNvSpPr/>
          <p:nvPr/>
        </p:nvSpPr>
        <p:spPr>
          <a:xfrm>
            <a:off x="4453200" y="4613789"/>
            <a:ext cx="164412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읽기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Rectangle 11"/>
          <p:cNvSpPr/>
          <p:nvPr/>
        </p:nvSpPr>
        <p:spPr>
          <a:xfrm>
            <a:off x="6280200" y="4491749"/>
            <a:ext cx="1644120" cy="42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0" name="TextBox 12"/>
          <p:cNvSpPr/>
          <p:nvPr/>
        </p:nvSpPr>
        <p:spPr>
          <a:xfrm>
            <a:off x="6280200" y="4613789"/>
            <a:ext cx="164412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듣기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Rectangle 13"/>
          <p:cNvSpPr/>
          <p:nvPr/>
        </p:nvSpPr>
        <p:spPr>
          <a:xfrm>
            <a:off x="8107560" y="4491749"/>
            <a:ext cx="1644120" cy="42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TextBox 14"/>
          <p:cNvSpPr/>
          <p:nvPr/>
        </p:nvSpPr>
        <p:spPr>
          <a:xfrm>
            <a:off x="8107560" y="4613789"/>
            <a:ext cx="164412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보기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Rectangle 15"/>
          <p:cNvSpPr/>
          <p:nvPr/>
        </p:nvSpPr>
        <p:spPr>
          <a:xfrm>
            <a:off x="9934560" y="4491749"/>
            <a:ext cx="1644120" cy="42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TextBox 16"/>
          <p:cNvSpPr/>
          <p:nvPr/>
        </p:nvSpPr>
        <p:spPr>
          <a:xfrm>
            <a:off x="9934560" y="4613789"/>
            <a:ext cx="164412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다음 탐색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Rectangle 17"/>
          <p:cNvSpPr/>
          <p:nvPr/>
        </p:nvSpPr>
        <p:spPr>
          <a:xfrm>
            <a:off x="612720" y="5591760"/>
            <a:ext cx="10965960" cy="566640"/>
          </a:xfrm>
          <a:prstGeom prst="rect">
            <a:avLst/>
          </a:prstGeom>
          <a:solidFill>
            <a:srgbClr val="1B4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TextBox 18"/>
          <p:cNvSpPr/>
          <p:nvPr/>
        </p:nvSpPr>
        <p:spPr>
          <a:xfrm>
            <a:off x="978480" y="5772243"/>
            <a:ext cx="10325880" cy="205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sz="1200" b="1" strike="noStrike" spc="-1" dirty="0">
                <a:solidFill>
                  <a:srgbClr val="7FD4C8"/>
                </a:solidFill>
                <a:latin typeface="Nanum Myeongjo"/>
                <a:ea typeface="Nanum Myeongjo"/>
              </a:rPr>
              <a:t>중요 안내 문구   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“AI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가 생성한 참고 이미지입니다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.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실제 복원 결과가 아닌 이해를 돕기 위한 시각화입니다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.”</a:t>
            </a:r>
            <a:endParaRPr lang="en-US" sz="120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7D18-5436-4837-A1DE-6DBE2C38F7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78" r="20072"/>
          <a:stretch/>
        </p:blipFill>
        <p:spPr>
          <a:xfrm>
            <a:off x="628402" y="2056956"/>
            <a:ext cx="3456040" cy="2862731"/>
          </a:xfrm>
          <a:prstGeom prst="rect">
            <a:avLst/>
          </a:prstGeom>
        </p:spPr>
      </p:pic>
      <p:sp>
        <p:nvSpPr>
          <p:cNvPr id="21" name="Text 21">
            <a:extLst>
              <a:ext uri="{FF2B5EF4-FFF2-40B4-BE49-F238E27FC236}">
                <a16:creationId xmlns:a16="http://schemas.microsoft.com/office/drawing/2014/main" id="{4975A0A4-CAEF-4571-8202-5C48675B8FCD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C76B9270-C22B-5A6C-0F05-65692F694253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96B5C7A4-6927-BC3C-C1BF-48344E88F2E8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8B2C312-519D-087D-2F03-F1DBE085BA49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5BAF5307-0494-ECE9-844C-8D320AEE725D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798C21F9-6580-4241-A564-D336565737B6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3B1EE302-E93D-29E7-1993-20FD045EE807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ko-KR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TTS</a:t>
            </a:r>
            <a:r>
              <a:rPr lang="zh-CN" altLang="ko-KR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와 </a:t>
            </a:r>
            <a:r>
              <a:rPr lang="en-US" altLang="ko-KR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AI </a:t>
            </a:r>
            <a:r>
              <a:rPr lang="zh-CN" altLang="ko-KR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참고 시각화</a:t>
            </a:r>
            <a:endParaRPr lang="en-US" altLang="ko-KR" sz="24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FB51D3C3-443C-196D-F553-6E5D6BA89B4C}"/>
              </a:ext>
            </a:extLst>
          </p:cNvPr>
          <p:cNvSpPr/>
          <p:nvPr/>
        </p:nvSpPr>
        <p:spPr>
          <a:xfrm>
            <a:off x="612720" y="1245895"/>
            <a:ext cx="109659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텍스트 해설만으로 이해하기 어려운 구조와 분위기를 이미지 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음성으로 보완합니다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altLang="ko-KR" sz="13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" name="Connector 4">
            <a:extLst>
              <a:ext uri="{FF2B5EF4-FFF2-40B4-BE49-F238E27FC236}">
                <a16:creationId xmlns:a16="http://schemas.microsoft.com/office/drawing/2014/main" id="{C246366F-231E-33E3-5CBE-BCDEE382D64B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ectangle 5"/>
          <p:cNvSpPr/>
          <p:nvPr/>
        </p:nvSpPr>
        <p:spPr>
          <a:xfrm>
            <a:off x="612720" y="2148840"/>
            <a:ext cx="1078560" cy="456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TextBox 6"/>
          <p:cNvSpPr/>
          <p:nvPr/>
        </p:nvSpPr>
        <p:spPr>
          <a:xfrm>
            <a:off x="612720" y="2289240"/>
            <a:ext cx="10785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역사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Rectangle 7"/>
          <p:cNvSpPr/>
          <p:nvPr/>
        </p:nvSpPr>
        <p:spPr>
          <a:xfrm>
            <a:off x="1801440" y="2148840"/>
            <a:ext cx="1078560" cy="456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TextBox 8"/>
          <p:cNvSpPr/>
          <p:nvPr/>
        </p:nvSpPr>
        <p:spPr>
          <a:xfrm>
            <a:off x="1801440" y="2289240"/>
            <a:ext cx="10785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건축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Rectangle 9"/>
          <p:cNvSpPr/>
          <p:nvPr/>
        </p:nvSpPr>
        <p:spPr>
          <a:xfrm>
            <a:off x="2990160" y="2148840"/>
            <a:ext cx="1078560" cy="456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TextBox 10"/>
          <p:cNvSpPr/>
          <p:nvPr/>
        </p:nvSpPr>
        <p:spPr>
          <a:xfrm>
            <a:off x="2990160" y="2289240"/>
            <a:ext cx="10785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예술 </a:t>
            </a:r>
            <a:r>
              <a:rPr lang="en-US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/ </a:t>
            </a: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상징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ectangle 11"/>
          <p:cNvSpPr/>
          <p:nvPr/>
        </p:nvSpPr>
        <p:spPr>
          <a:xfrm>
            <a:off x="4178880" y="2148840"/>
            <a:ext cx="1078560" cy="456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TextBox 12"/>
          <p:cNvSpPr/>
          <p:nvPr/>
        </p:nvSpPr>
        <p:spPr>
          <a:xfrm>
            <a:off x="4178880" y="2289240"/>
            <a:ext cx="10785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왕실문화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Rectangle 13"/>
          <p:cNvSpPr/>
          <p:nvPr/>
        </p:nvSpPr>
        <p:spPr>
          <a:xfrm>
            <a:off x="612720" y="2734200"/>
            <a:ext cx="1078560" cy="456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TextBox 14"/>
          <p:cNvSpPr/>
          <p:nvPr/>
        </p:nvSpPr>
        <p:spPr>
          <a:xfrm>
            <a:off x="612720" y="2874600"/>
            <a:ext cx="10785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종교 </a:t>
            </a:r>
            <a:r>
              <a:rPr lang="en-US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/ </a:t>
            </a: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제례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Rectangle 15"/>
          <p:cNvSpPr/>
          <p:nvPr/>
        </p:nvSpPr>
        <p:spPr>
          <a:xfrm>
            <a:off x="1801440" y="2734200"/>
            <a:ext cx="1078560" cy="456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TextBox 16"/>
          <p:cNvSpPr/>
          <p:nvPr/>
        </p:nvSpPr>
        <p:spPr>
          <a:xfrm>
            <a:off x="1801440" y="2874600"/>
            <a:ext cx="10785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세계유산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Rectangle 17"/>
          <p:cNvSpPr/>
          <p:nvPr/>
        </p:nvSpPr>
        <p:spPr>
          <a:xfrm>
            <a:off x="2990160" y="2734200"/>
            <a:ext cx="1078560" cy="456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5" name="TextBox 18"/>
          <p:cNvSpPr/>
          <p:nvPr/>
        </p:nvSpPr>
        <p:spPr>
          <a:xfrm>
            <a:off x="2990160" y="2874600"/>
            <a:ext cx="10785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과학 </a:t>
            </a:r>
            <a:r>
              <a:rPr lang="en-US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/ </a:t>
            </a: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기술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Rectangle 19"/>
          <p:cNvSpPr/>
          <p:nvPr/>
        </p:nvSpPr>
        <p:spPr>
          <a:xfrm>
            <a:off x="4178880" y="2734200"/>
            <a:ext cx="1078560" cy="456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7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TextBox 20"/>
          <p:cNvSpPr/>
          <p:nvPr/>
        </p:nvSpPr>
        <p:spPr>
          <a:xfrm>
            <a:off x="4178880" y="2874600"/>
            <a:ext cx="107856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생활문화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Box 21"/>
          <p:cNvSpPr/>
          <p:nvPr/>
        </p:nvSpPr>
        <p:spPr>
          <a:xfrm>
            <a:off x="612720" y="3520440"/>
            <a:ext cx="4663080" cy="65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카테고리 태깅 방식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8000"/>
              </a:lnSpc>
              <a:spcBef>
                <a:spcPts val="300"/>
              </a:spcBef>
            </a:pP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AI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가 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1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차 카테고리 후보를 태깅하고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키워드 기반 규칙 또는 사람 검수를 통해 보정합니다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22"/>
          <p:cNvSpPr/>
          <p:nvPr/>
        </p:nvSpPr>
        <p:spPr>
          <a:xfrm>
            <a:off x="612720" y="4370760"/>
            <a:ext cx="4663080" cy="65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추천 </a:t>
            </a:r>
            <a:r>
              <a:rPr lang="en-US" sz="12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AI</a:t>
            </a:r>
            <a:r>
              <a:rPr lang="zh-CN" sz="12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의 역할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8000"/>
              </a:lnSpc>
              <a:spcBef>
                <a:spcPts val="300"/>
              </a:spcBef>
            </a:pP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해설 이후 다음 유물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/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유적을 추천하고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사용자가 종료하면 관심 카테고리와 관련된 드라마 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영화 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유튜브 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· OTT </a:t>
            </a:r>
            <a:r>
              <a:rPr lang="zh-CN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콘텐츠를 추천합니다</a:t>
            </a:r>
            <a:r>
              <a:rPr lang="en-US" sz="1100" b="0" strike="noStrike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90" name="Connector 23"/>
          <p:cNvCxnSpPr/>
          <p:nvPr/>
        </p:nvCxnSpPr>
        <p:spPr>
          <a:xfrm>
            <a:off x="6423840" y="2743200"/>
            <a:ext cx="4419000" cy="360"/>
          </a:xfrm>
          <a:prstGeom prst="bentConnector2">
            <a:avLst/>
          </a:prstGeom>
          <a:ln w="12700">
            <a:solidFill>
              <a:srgbClr val="BBBBBB"/>
            </a:solidFill>
            <a:round/>
          </a:ln>
        </p:spPr>
      </p:cxnSp>
      <p:sp>
        <p:nvSpPr>
          <p:cNvPr id="391" name="Oval 24"/>
          <p:cNvSpPr/>
          <p:nvPr/>
        </p:nvSpPr>
        <p:spPr>
          <a:xfrm>
            <a:off x="6378120" y="2697480"/>
            <a:ext cx="91080" cy="91080"/>
          </a:xfrm>
          <a:prstGeom prst="ellipse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25"/>
          <p:cNvSpPr/>
          <p:nvPr/>
        </p:nvSpPr>
        <p:spPr>
          <a:xfrm>
            <a:off x="5687640" y="2475720"/>
            <a:ext cx="1472400" cy="17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경복궁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26"/>
          <p:cNvSpPr/>
          <p:nvPr/>
        </p:nvSpPr>
        <p:spPr>
          <a:xfrm>
            <a:off x="5687640" y="2880360"/>
            <a:ext cx="1472400" cy="15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10000"/>
              </a:lnSpc>
            </a:pPr>
            <a:r>
              <a:rPr lang="zh-CN" sz="95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현재 해설 대상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Oval 27"/>
          <p:cNvSpPr/>
          <p:nvPr/>
        </p:nvSpPr>
        <p:spPr>
          <a:xfrm>
            <a:off x="7851240" y="2697480"/>
            <a:ext cx="91080" cy="91080"/>
          </a:xfrm>
          <a:prstGeom prst="ellipse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TextBox 28"/>
          <p:cNvSpPr/>
          <p:nvPr/>
        </p:nvSpPr>
        <p:spPr>
          <a:xfrm>
            <a:off x="7160400" y="2475720"/>
            <a:ext cx="1472400" cy="17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조선 왕실문화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Box 29"/>
          <p:cNvSpPr/>
          <p:nvPr/>
        </p:nvSpPr>
        <p:spPr>
          <a:xfrm>
            <a:off x="7160400" y="2880360"/>
            <a:ext cx="1472400" cy="15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10000"/>
              </a:lnSpc>
            </a:pPr>
            <a:r>
              <a:rPr lang="zh-CN" sz="95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시대 </a:t>
            </a:r>
            <a:r>
              <a:rPr lang="en-US" sz="95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· </a:t>
            </a:r>
            <a:r>
              <a:rPr lang="zh-CN" sz="95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인물 </a:t>
            </a:r>
            <a:r>
              <a:rPr lang="en-US" sz="95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· </a:t>
            </a:r>
            <a:r>
              <a:rPr lang="zh-CN" sz="95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의례 관계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Oval 30"/>
          <p:cNvSpPr/>
          <p:nvPr/>
        </p:nvSpPr>
        <p:spPr>
          <a:xfrm>
            <a:off x="9324000" y="2697480"/>
            <a:ext cx="91080" cy="91080"/>
          </a:xfrm>
          <a:prstGeom prst="ellipse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TextBox 31"/>
          <p:cNvSpPr/>
          <p:nvPr/>
        </p:nvSpPr>
        <p:spPr>
          <a:xfrm>
            <a:off x="8633160" y="2475720"/>
            <a:ext cx="1472400" cy="17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창덕궁 </a:t>
            </a:r>
            <a:r>
              <a:rPr lang="en-US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· </a:t>
            </a: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종묘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32"/>
          <p:cNvSpPr/>
          <p:nvPr/>
        </p:nvSpPr>
        <p:spPr>
          <a:xfrm>
            <a:off x="8633160" y="2880360"/>
            <a:ext cx="1472400" cy="15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10000"/>
              </a:lnSpc>
            </a:pPr>
            <a:r>
              <a:rPr lang="zh-CN" sz="95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다음 유물</a:t>
            </a:r>
            <a:r>
              <a:rPr lang="en-US" sz="95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/</a:t>
            </a:r>
            <a:r>
              <a:rPr lang="zh-CN" sz="95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유적 추천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Oval 33"/>
          <p:cNvSpPr/>
          <p:nvPr/>
        </p:nvSpPr>
        <p:spPr>
          <a:xfrm>
            <a:off x="10796760" y="2697480"/>
            <a:ext cx="91080" cy="91080"/>
          </a:xfrm>
          <a:prstGeom prst="ellipse">
            <a:avLst/>
          </a:prstGeom>
          <a:solidFill>
            <a:srgbClr val="2E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TextBox 34"/>
          <p:cNvSpPr/>
          <p:nvPr/>
        </p:nvSpPr>
        <p:spPr>
          <a:xfrm>
            <a:off x="10106280" y="2300400"/>
            <a:ext cx="1472400" cy="35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드라마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영화 </a:t>
            </a:r>
            <a:r>
              <a:rPr lang="en-US" sz="115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· OTT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Box 35"/>
          <p:cNvSpPr/>
          <p:nvPr/>
        </p:nvSpPr>
        <p:spPr>
          <a:xfrm>
            <a:off x="10106280" y="2880360"/>
            <a:ext cx="1472400" cy="15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10000"/>
              </a:lnSpc>
            </a:pPr>
            <a:r>
              <a:rPr lang="zh-CN" sz="950" b="0" strike="noStrike" spc="-1">
                <a:solidFill>
                  <a:srgbClr val="9E9E9E"/>
                </a:solidFill>
                <a:latin typeface="Malgun Gothic"/>
                <a:ea typeface="Malgun Gothic"/>
              </a:rPr>
              <a:t>추천 종료 후 콘텐츠 연결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Box 36"/>
          <p:cNvSpPr/>
          <p:nvPr/>
        </p:nvSpPr>
        <p:spPr>
          <a:xfrm>
            <a:off x="5687640" y="4023360"/>
            <a:ext cx="2716920" cy="66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00" b="1" strike="noStrike" spc="-1">
                <a:solidFill>
                  <a:srgbClr val="2E7D70"/>
                </a:solidFill>
                <a:latin typeface="Nanum Myeongjo"/>
                <a:ea typeface="Nanum Myeongjo"/>
              </a:rPr>
              <a:t>추천 근거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8000"/>
              </a:lnSpc>
              <a:spcBef>
                <a:spcPts val="400"/>
              </a:spcBef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동일 시대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인물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건축 양식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장소</a:t>
            </a:r>
            <a:r>
              <a:rPr lang="en-US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키워드를 관계로 탐색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37"/>
          <p:cNvSpPr/>
          <p:nvPr/>
        </p:nvSpPr>
        <p:spPr>
          <a:xfrm>
            <a:off x="8633160" y="4023360"/>
            <a:ext cx="2716920" cy="66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00" b="1" strike="noStrike" spc="-1">
                <a:solidFill>
                  <a:srgbClr val="2E7D70"/>
                </a:solidFill>
                <a:latin typeface="Nanum Myeongjo"/>
                <a:ea typeface="Nanum Myeongjo"/>
              </a:rPr>
              <a:t>추천 품질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8000"/>
              </a:lnSpc>
              <a:spcBef>
                <a:spcPts val="400"/>
              </a:spcBef>
            </a:pPr>
            <a:r>
              <a:rPr lang="zh-CN" sz="110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사용자 관심 카테고리 가중치가 높은 관계를 우선 탐색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Rectangle 38"/>
          <p:cNvSpPr/>
          <p:nvPr/>
        </p:nvSpPr>
        <p:spPr>
          <a:xfrm>
            <a:off x="612720" y="5617600"/>
            <a:ext cx="10965960" cy="548280"/>
          </a:xfrm>
          <a:prstGeom prst="rect">
            <a:avLst/>
          </a:prstGeom>
          <a:solidFill>
            <a:srgbClr val="1B4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TextBox 39"/>
          <p:cNvSpPr/>
          <p:nvPr/>
        </p:nvSpPr>
        <p:spPr>
          <a:xfrm>
            <a:off x="978480" y="5789083"/>
            <a:ext cx="10325880" cy="205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sz="1200" b="1" strike="noStrike" spc="-1" dirty="0">
                <a:solidFill>
                  <a:srgbClr val="7FD4C8"/>
                </a:solidFill>
                <a:latin typeface="Nanum Myeongjo"/>
                <a:ea typeface="Nanum Myeongjo"/>
              </a:rPr>
              <a:t>예시  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경복궁을 건축 관점으로 들은 사용자  →  창덕궁 인정전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,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종묘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,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수원 화성 등 관련 유산 추천</a:t>
            </a:r>
            <a:endParaRPr lang="en-US" sz="120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10E8172F-6D09-47B5-9651-D634FE05E24A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9D6288FF-4B6D-A87B-2885-FA5327172B54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36878F7-F0CC-D076-4965-7823D140825F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A6A4DF8A-EFBC-B456-24F3-67583B4E400E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014F51EA-5DC8-15E7-0258-C5D4D148108F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D95E53E-94AC-96E3-889D-C335270FEEA7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7E2BDFAE-568B-8A92-4157-0896BF44D04B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ko-KR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카테고리 태깅과 추천 </a:t>
            </a:r>
            <a:r>
              <a:rPr lang="en-US" altLang="ko-KR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AI</a:t>
            </a:r>
            <a:endParaRPr lang="en-US" altLang="ko-KR" sz="24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E0BFED17-C188-2124-9678-118F37423679}"/>
              </a:ext>
            </a:extLst>
          </p:cNvPr>
          <p:cNvSpPr/>
          <p:nvPr/>
        </p:nvSpPr>
        <p:spPr>
          <a:xfrm>
            <a:off x="612720" y="1245895"/>
            <a:ext cx="109659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카테고리는 벡터가 자동으로 결정하는 것이 아니라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,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설명 문서에 메타데이터로 저장해 해설과 추천의 기준으로 사용합니다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altLang="ko-KR" sz="13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" name="Connector 4">
            <a:extLst>
              <a:ext uri="{FF2B5EF4-FFF2-40B4-BE49-F238E27FC236}">
                <a16:creationId xmlns:a16="http://schemas.microsoft.com/office/drawing/2014/main" id="{50E72D7E-AAB1-AC24-FE9A-AFDF223E8AAE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Box 5"/>
          <p:cNvSpPr/>
          <p:nvPr/>
        </p:nvSpPr>
        <p:spPr>
          <a:xfrm>
            <a:off x="612720" y="2508702"/>
            <a:ext cx="484272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E7D70"/>
                </a:solidFill>
                <a:latin typeface="Nanum Myeongjo"/>
                <a:ea typeface="Nanum Myeongjo"/>
              </a:rPr>
              <a:t>MVP </a:t>
            </a:r>
            <a:r>
              <a:rPr lang="zh-CN" sz="1400" b="1" strike="noStrike" spc="-1">
                <a:solidFill>
                  <a:srgbClr val="2E7D70"/>
                </a:solidFill>
                <a:latin typeface="Nanum Myeongjo"/>
                <a:ea typeface="Nanum Myeongjo"/>
              </a:rPr>
              <a:t>핵심 기능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13" name="Connector 6"/>
          <p:cNvCxnSpPr/>
          <p:nvPr/>
        </p:nvCxnSpPr>
        <p:spPr>
          <a:xfrm>
            <a:off x="612360" y="2929182"/>
            <a:ext cx="4843440" cy="360"/>
          </a:xfrm>
          <a:prstGeom prst="bentConnector2">
            <a:avLst/>
          </a:prstGeom>
          <a:ln w="15240">
            <a:solidFill>
              <a:srgbClr val="2E7D70"/>
            </a:solidFill>
            <a:round/>
          </a:ln>
        </p:spPr>
      </p:cxnSp>
      <p:sp>
        <p:nvSpPr>
          <p:cNvPr id="414" name="TextBox 7"/>
          <p:cNvSpPr/>
          <p:nvPr/>
        </p:nvSpPr>
        <p:spPr>
          <a:xfrm>
            <a:off x="612720" y="3075702"/>
            <a:ext cx="4842720" cy="14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en-US" sz="13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RAG </a:t>
            </a:r>
            <a:r>
              <a:rPr lang="zh-CN" sz="13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기반 맞춤 해설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0000"/>
              </a:lnSpc>
              <a:spcBef>
                <a:spcPts val="13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3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카테고리 기반 설명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0000"/>
              </a:lnSpc>
              <a:spcBef>
                <a:spcPts val="13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ko-KR" altLang="en-US" sz="13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공식 </a:t>
            </a:r>
            <a:r>
              <a:rPr lang="zh-CN" sz="13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이미지 </a:t>
            </a:r>
            <a:r>
              <a:rPr lang="en-US" sz="13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· </a:t>
            </a:r>
            <a:r>
              <a:rPr lang="zh-CN" sz="13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텍스트 </a:t>
            </a:r>
            <a:r>
              <a:rPr lang="en-US" sz="13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· TTS </a:t>
            </a:r>
            <a:r>
              <a:rPr lang="zh-CN" sz="13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제공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0000"/>
              </a:lnSpc>
              <a:spcBef>
                <a:spcPts val="1301"/>
              </a:spcBef>
            </a:pPr>
            <a:r>
              <a:rPr lang="en-US" sz="800" b="0" strike="noStrike" spc="-1" dirty="0">
                <a:solidFill>
                  <a:srgbClr val="2E7D70"/>
                </a:solidFill>
                <a:latin typeface="Malgun Gothic"/>
                <a:ea typeface="Malgun Gothic"/>
              </a:rPr>
              <a:t>● </a:t>
            </a:r>
            <a:r>
              <a:rPr lang="zh-CN" sz="13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다음 유물</a:t>
            </a:r>
            <a:r>
              <a:rPr lang="en-US" sz="13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/</a:t>
            </a:r>
            <a:r>
              <a:rPr lang="zh-CN" sz="1300" b="1" strike="noStrike" spc="-1" dirty="0">
                <a:solidFill>
                  <a:srgbClr val="1A1A1A"/>
                </a:solidFill>
                <a:latin typeface="Nanum Myeongjo"/>
                <a:ea typeface="Nanum Myeongjo"/>
              </a:rPr>
              <a:t>유적 추천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Box 8"/>
          <p:cNvSpPr/>
          <p:nvPr/>
        </p:nvSpPr>
        <p:spPr>
          <a:xfrm>
            <a:off x="5821560" y="3466624"/>
            <a:ext cx="45684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9E9E9E"/>
                </a:solidFill>
                <a:latin typeface="Malgun Gothic"/>
                <a:ea typeface="Malgun Gothic"/>
              </a:rPr>
              <a:t>→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Box 9"/>
          <p:cNvSpPr/>
          <p:nvPr/>
        </p:nvSpPr>
        <p:spPr>
          <a:xfrm>
            <a:off x="6735960" y="2508702"/>
            <a:ext cx="484272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strike="noStrike" spc="-1" dirty="0">
                <a:latin typeface="Nanum Myeongjo"/>
                <a:ea typeface="Nanum Myeongjo"/>
              </a:rPr>
              <a:t>향후 확장 기능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417" name="Connector 10"/>
          <p:cNvCxnSpPr/>
          <p:nvPr/>
        </p:nvCxnSpPr>
        <p:spPr>
          <a:xfrm>
            <a:off x="6735600" y="2929182"/>
            <a:ext cx="484380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418" name="TextBox 11"/>
          <p:cNvSpPr/>
          <p:nvPr/>
        </p:nvSpPr>
        <p:spPr>
          <a:xfrm>
            <a:off x="6735960" y="3075702"/>
            <a:ext cx="4842720" cy="10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25000"/>
              </a:lnSpc>
            </a:pPr>
            <a:r>
              <a:rPr lang="en-US" sz="800" b="0" strike="noStrike" spc="-1" dirty="0">
                <a:latin typeface="Malgun Gothic"/>
                <a:ea typeface="Malgun Gothic"/>
              </a:rPr>
              <a:t>● </a:t>
            </a:r>
            <a:r>
              <a:rPr lang="zh-CN" sz="1250" b="0" strike="noStrike" spc="-1" dirty="0">
                <a:latin typeface="Nanum Myeongjo"/>
                <a:ea typeface="Nanum Myeongjo"/>
              </a:rPr>
              <a:t>왕</a:t>
            </a:r>
            <a:r>
              <a:rPr lang="en-US" sz="1250" b="0" strike="noStrike" spc="-1" dirty="0">
                <a:latin typeface="Nanum Myeongjo"/>
                <a:ea typeface="Nanum Myeongjo"/>
              </a:rPr>
              <a:t>, </a:t>
            </a:r>
            <a:r>
              <a:rPr lang="zh-CN" sz="1250" b="0" strike="noStrike" spc="-1" dirty="0">
                <a:latin typeface="Nanum Myeongjo"/>
                <a:ea typeface="Nanum Myeongjo"/>
              </a:rPr>
              <a:t>장인</a:t>
            </a:r>
            <a:r>
              <a:rPr lang="en-US" sz="1250" b="0" strike="noStrike" spc="-1" dirty="0">
                <a:latin typeface="Nanum Myeongjo"/>
                <a:ea typeface="Nanum Myeongjo"/>
              </a:rPr>
              <a:t>, </a:t>
            </a:r>
            <a:r>
              <a:rPr lang="zh-CN" sz="1250" b="0" strike="noStrike" spc="-1" dirty="0">
                <a:latin typeface="Nanum Myeongjo"/>
                <a:ea typeface="Nanum Myeongjo"/>
              </a:rPr>
              <a:t>백성 등 다양한 시점의 스토리텔링</a:t>
            </a:r>
            <a:endParaRPr lang="en-US" sz="1250" b="0" strike="noStrike" spc="-1" dirty="0"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1301"/>
              </a:spcBef>
            </a:pPr>
            <a:r>
              <a:rPr lang="en-US" sz="800" b="0" strike="noStrike" spc="-1" dirty="0">
                <a:latin typeface="Malgun Gothic"/>
                <a:ea typeface="Malgun Gothic"/>
              </a:rPr>
              <a:t>● </a:t>
            </a:r>
            <a:r>
              <a:rPr lang="zh-CN" sz="1250" b="0" strike="noStrike" spc="-1" dirty="0">
                <a:latin typeface="Nanum Myeongjo"/>
                <a:ea typeface="Nanum Myeongjo"/>
              </a:rPr>
              <a:t>어린이 </a:t>
            </a:r>
            <a:r>
              <a:rPr lang="en-US" sz="1250" b="0" strike="noStrike" spc="-1" dirty="0">
                <a:latin typeface="Nanum Myeongjo"/>
                <a:ea typeface="Nanum Myeongjo"/>
              </a:rPr>
              <a:t>· </a:t>
            </a:r>
            <a:r>
              <a:rPr lang="zh-CN" sz="1250" b="0" strike="noStrike" spc="-1" dirty="0">
                <a:latin typeface="Nanum Myeongjo"/>
                <a:ea typeface="Nanum Myeongjo"/>
              </a:rPr>
              <a:t>청소년 대상 몰입형 해설</a:t>
            </a:r>
            <a:endParaRPr lang="en-US" sz="1250" b="0" strike="noStrike" spc="-1" dirty="0"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1301"/>
              </a:spcBef>
            </a:pPr>
            <a:r>
              <a:rPr lang="en-US" sz="800" b="0" strike="noStrike" spc="-1" dirty="0">
                <a:latin typeface="Malgun Gothic"/>
                <a:ea typeface="Malgun Gothic"/>
              </a:rPr>
              <a:t>● </a:t>
            </a:r>
            <a:r>
              <a:rPr lang="zh-CN" sz="1250" b="0" strike="noStrike" spc="-1" dirty="0">
                <a:latin typeface="Nanum Myeongjo"/>
                <a:ea typeface="Nanum Myeongjo"/>
              </a:rPr>
              <a:t>인터랙티브 역사 인물 해설</a:t>
            </a:r>
            <a:endParaRPr lang="en-US" sz="1250" b="0" strike="noStrike" spc="-1" dirty="0">
              <a:latin typeface="Arial"/>
            </a:endParaRPr>
          </a:p>
        </p:txBody>
      </p:sp>
      <p:sp>
        <p:nvSpPr>
          <p:cNvPr id="419" name="TextBox 12"/>
          <p:cNvSpPr/>
          <p:nvPr/>
        </p:nvSpPr>
        <p:spPr>
          <a:xfrm>
            <a:off x="612720" y="5049850"/>
            <a:ext cx="1096596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0" strike="noStrike" spc="-1" dirty="0">
                <a:solidFill>
                  <a:srgbClr val="9E9E9E"/>
                </a:solidFill>
                <a:latin typeface="Nanum Myeongjo"/>
                <a:ea typeface="Nanum Myeongjo"/>
              </a:rPr>
              <a:t>핵심 기능을 안정화한 뒤</a:t>
            </a:r>
            <a:r>
              <a:rPr lang="en-US" sz="1400" b="0" strike="noStrike" spc="-1" dirty="0">
                <a:solidFill>
                  <a:srgbClr val="9E9E9E"/>
                </a:solidFill>
                <a:latin typeface="Nanum Myeongjo"/>
                <a:ea typeface="Nanum Myeongjo"/>
              </a:rPr>
              <a:t>, </a:t>
            </a:r>
            <a:r>
              <a:rPr lang="zh-CN" sz="1400" b="0" strike="noStrike" spc="-1" dirty="0">
                <a:solidFill>
                  <a:srgbClr val="9E9E9E"/>
                </a:solidFill>
                <a:latin typeface="Nanum Myeongjo"/>
                <a:ea typeface="Nanum Myeongjo"/>
              </a:rPr>
              <a:t>몰입형 스토리텔링 기능으로 단계적 고도화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Rectangle 13"/>
          <p:cNvSpPr/>
          <p:nvPr/>
        </p:nvSpPr>
        <p:spPr>
          <a:xfrm>
            <a:off x="612720" y="5623560"/>
            <a:ext cx="10965960" cy="548280"/>
          </a:xfrm>
          <a:prstGeom prst="rect">
            <a:avLst/>
          </a:prstGeom>
          <a:solidFill>
            <a:srgbClr val="1B4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1" name="TextBox 14"/>
          <p:cNvSpPr/>
          <p:nvPr/>
        </p:nvSpPr>
        <p:spPr>
          <a:xfrm>
            <a:off x="978480" y="5795043"/>
            <a:ext cx="10325880" cy="205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sz="1200" b="1" strike="noStrike" spc="-1" dirty="0">
                <a:solidFill>
                  <a:srgbClr val="7FD4C8"/>
                </a:solidFill>
                <a:latin typeface="Nanum Myeongjo"/>
                <a:ea typeface="Nanum Myeongjo"/>
              </a:rPr>
              <a:t>정리  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기능을 많이 나열하기보다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,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핵심 기능과 확장 기능을 분리해야 발표의 초점이 선명해집니다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.</a:t>
            </a:r>
            <a:endParaRPr lang="en-US" sz="120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0E0F4F3A-ECB4-4FBA-807A-887455F71C6A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C9D1563-108A-8AFA-88DB-73B072C40D84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930A3C7-6146-9D8F-046C-8B5510C6DCC2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0F658D13-ABEE-F0FC-669D-903B62761DD7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908E4B84-B314-38DB-DD27-0F18E785802D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48F9A2B0-5AE5-877F-5382-200D0A35D232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3C64BA23-06C5-0860-8FA8-E3766013956F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ko-KR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Multi-Persona AI</a:t>
            </a:r>
            <a:r>
              <a:rPr lang="zh-CN" altLang="ko-KR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는 확장 기능</a:t>
            </a:r>
            <a:endParaRPr lang="en-US" altLang="ko-KR" sz="24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" name="Connector 4">
            <a:extLst>
              <a:ext uri="{FF2B5EF4-FFF2-40B4-BE49-F238E27FC236}">
                <a16:creationId xmlns:a16="http://schemas.microsoft.com/office/drawing/2014/main" id="{30668C89-48AB-91D5-2457-B93DD09CEDA7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5" name="TextBox 3">
            <a:extLst>
              <a:ext uri="{FF2B5EF4-FFF2-40B4-BE49-F238E27FC236}">
                <a16:creationId xmlns:a16="http://schemas.microsoft.com/office/drawing/2014/main" id="{CD90F4F4-EC49-9769-9010-5C01EFABC71B}"/>
              </a:ext>
            </a:extLst>
          </p:cNvPr>
          <p:cNvSpPr/>
          <p:nvPr/>
        </p:nvSpPr>
        <p:spPr>
          <a:xfrm>
            <a:off x="612720" y="1245895"/>
            <a:ext cx="109659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이음의 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MVP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핵심은 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Persona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가 아니라 카테고리 기반 해설입니다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. Persona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는 향후 몰입형 스토리텔링을 위한 확장 기능으로 정리합니다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altLang="ko-KR" sz="1300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7" name="Connector 5"/>
          <p:cNvCxnSpPr/>
          <p:nvPr/>
        </p:nvCxnSpPr>
        <p:spPr>
          <a:xfrm>
            <a:off x="612360" y="2240280"/>
            <a:ext cx="2399040" cy="360"/>
          </a:xfrm>
          <a:prstGeom prst="bentConnector2">
            <a:avLst/>
          </a:prstGeom>
          <a:ln w="19050">
            <a:solidFill>
              <a:srgbClr val="2E7D70"/>
            </a:solidFill>
            <a:round/>
          </a:ln>
        </p:spPr>
      </p:cxnSp>
      <p:sp>
        <p:nvSpPr>
          <p:cNvPr id="448" name="TextBox 6"/>
          <p:cNvSpPr/>
          <p:nvPr/>
        </p:nvSpPr>
        <p:spPr>
          <a:xfrm>
            <a:off x="612720" y="2368440"/>
            <a:ext cx="2398320" cy="92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D70"/>
                </a:solidFill>
                <a:latin typeface="Georgia"/>
                <a:ea typeface="Georgia"/>
              </a:rPr>
              <a:t>01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zh-CN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통합 </a:t>
            </a:r>
            <a:r>
              <a:rPr lang="en-US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DB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</a:pP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공식 자료 </a:t>
            </a:r>
            <a:r>
              <a:rPr lang="en-US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이미지 </a:t>
            </a:r>
            <a:r>
              <a:rPr lang="en-US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카테고리 </a:t>
            </a:r>
            <a:r>
              <a:rPr lang="en-US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추천 관계 연결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49" name="Connector 7"/>
          <p:cNvCxnSpPr/>
          <p:nvPr/>
        </p:nvCxnSpPr>
        <p:spPr>
          <a:xfrm>
            <a:off x="3422520" y="2240280"/>
            <a:ext cx="2399040" cy="360"/>
          </a:xfrm>
          <a:prstGeom prst="bentConnector2">
            <a:avLst/>
          </a:prstGeom>
          <a:ln w="19050">
            <a:solidFill>
              <a:srgbClr val="2E7D70"/>
            </a:solidFill>
            <a:round/>
          </a:ln>
        </p:spPr>
      </p:cxnSp>
      <p:sp>
        <p:nvSpPr>
          <p:cNvPr id="450" name="TextBox 8"/>
          <p:cNvSpPr/>
          <p:nvPr/>
        </p:nvSpPr>
        <p:spPr>
          <a:xfrm>
            <a:off x="3422880" y="2368440"/>
            <a:ext cx="2398320" cy="72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D70"/>
                </a:solidFill>
                <a:latin typeface="Georgia"/>
                <a:ea typeface="Georgia"/>
              </a:rPr>
              <a:t>02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RAG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</a:pP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공식 자료 검색 후 신뢰성 있는 해설 생성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1" name="Connector 9"/>
          <p:cNvCxnSpPr/>
          <p:nvPr/>
        </p:nvCxnSpPr>
        <p:spPr>
          <a:xfrm>
            <a:off x="6232680" y="2240280"/>
            <a:ext cx="2399040" cy="360"/>
          </a:xfrm>
          <a:prstGeom prst="bentConnector2">
            <a:avLst/>
          </a:prstGeom>
          <a:ln w="19050">
            <a:solidFill>
              <a:srgbClr val="2E7D70"/>
            </a:solidFill>
            <a:round/>
          </a:ln>
        </p:spPr>
      </p:cxnSp>
      <p:sp>
        <p:nvSpPr>
          <p:cNvPr id="452" name="TextBox 10"/>
          <p:cNvSpPr/>
          <p:nvPr/>
        </p:nvSpPr>
        <p:spPr>
          <a:xfrm>
            <a:off x="6233040" y="2368440"/>
            <a:ext cx="2398320" cy="72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D70"/>
                </a:solidFill>
                <a:latin typeface="Georgia"/>
                <a:ea typeface="Georgia"/>
              </a:rPr>
              <a:t>03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Vector DB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</a:pP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의미적으로 가까운 설명 문서 검색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3" name="Connector 11"/>
          <p:cNvCxnSpPr/>
          <p:nvPr/>
        </p:nvCxnSpPr>
        <p:spPr>
          <a:xfrm>
            <a:off x="9042840" y="2240280"/>
            <a:ext cx="2399400" cy="360"/>
          </a:xfrm>
          <a:prstGeom prst="bentConnector2">
            <a:avLst/>
          </a:prstGeom>
          <a:ln w="19050">
            <a:solidFill>
              <a:srgbClr val="2E7D70"/>
            </a:solidFill>
            <a:round/>
          </a:ln>
        </p:spPr>
      </p:cxnSp>
      <p:sp>
        <p:nvSpPr>
          <p:cNvPr id="454" name="TextBox 12"/>
          <p:cNvSpPr/>
          <p:nvPr/>
        </p:nvSpPr>
        <p:spPr>
          <a:xfrm>
            <a:off x="9043200" y="2368440"/>
            <a:ext cx="2398320" cy="72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D70"/>
                </a:solidFill>
                <a:latin typeface="Georgia"/>
                <a:ea typeface="Georgia"/>
              </a:rPr>
              <a:t>04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Context Prompt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</a:pP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언어 </a:t>
            </a:r>
            <a:r>
              <a:rPr lang="en-US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위치 </a:t>
            </a:r>
            <a:r>
              <a:rPr lang="en-US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· </a:t>
            </a: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카테고리 반영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5" name="Connector 13"/>
          <p:cNvCxnSpPr/>
          <p:nvPr/>
        </p:nvCxnSpPr>
        <p:spPr>
          <a:xfrm>
            <a:off x="612360" y="3886200"/>
            <a:ext cx="2399040" cy="360"/>
          </a:xfrm>
          <a:prstGeom prst="bentConnector2">
            <a:avLst/>
          </a:prstGeom>
          <a:ln w="19050">
            <a:solidFill>
              <a:srgbClr val="2E7D70"/>
            </a:solidFill>
            <a:round/>
          </a:ln>
        </p:spPr>
      </p:cxnSp>
      <p:sp>
        <p:nvSpPr>
          <p:cNvPr id="456" name="TextBox 14"/>
          <p:cNvSpPr/>
          <p:nvPr/>
        </p:nvSpPr>
        <p:spPr>
          <a:xfrm>
            <a:off x="612720" y="4014360"/>
            <a:ext cx="2398320" cy="72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D70"/>
                </a:solidFill>
                <a:latin typeface="Georgia"/>
                <a:ea typeface="Georgia"/>
              </a:rPr>
              <a:t>05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LLM + TTS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</a:pP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맞춤 해설 생성 및 음성 제공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7" name="Connector 15"/>
          <p:cNvCxnSpPr/>
          <p:nvPr/>
        </p:nvCxnSpPr>
        <p:spPr>
          <a:xfrm>
            <a:off x="3422520" y="3886200"/>
            <a:ext cx="2399040" cy="360"/>
          </a:xfrm>
          <a:prstGeom prst="bentConnector2">
            <a:avLst/>
          </a:prstGeom>
          <a:ln w="19050">
            <a:solidFill>
              <a:srgbClr val="2E7D70"/>
            </a:solidFill>
            <a:round/>
          </a:ln>
        </p:spPr>
      </p:cxnSp>
      <p:sp>
        <p:nvSpPr>
          <p:cNvPr id="458" name="TextBox 16"/>
          <p:cNvSpPr/>
          <p:nvPr/>
        </p:nvSpPr>
        <p:spPr>
          <a:xfrm>
            <a:off x="3422880" y="4014360"/>
            <a:ext cx="2398320" cy="72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D70"/>
                </a:solidFill>
                <a:latin typeface="Georgia"/>
                <a:ea typeface="Georgia"/>
              </a:rPr>
              <a:t>06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zh-CN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이미지 생성 </a:t>
            </a:r>
            <a:r>
              <a:rPr lang="en-US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AI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</a:pP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현재 보기 어려운 유물</a:t>
            </a:r>
            <a:r>
              <a:rPr lang="en-US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/</a:t>
            </a: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유적 참고 시각화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9" name="Connector 17"/>
          <p:cNvCxnSpPr/>
          <p:nvPr/>
        </p:nvCxnSpPr>
        <p:spPr>
          <a:xfrm>
            <a:off x="6232680" y="3886200"/>
            <a:ext cx="2399040" cy="360"/>
          </a:xfrm>
          <a:prstGeom prst="bentConnector2">
            <a:avLst/>
          </a:prstGeom>
          <a:ln w="19050">
            <a:solidFill>
              <a:srgbClr val="2E7D70"/>
            </a:solidFill>
            <a:round/>
          </a:ln>
        </p:spPr>
      </p:cxnSp>
      <p:sp>
        <p:nvSpPr>
          <p:cNvPr id="460" name="TextBox 18"/>
          <p:cNvSpPr/>
          <p:nvPr/>
        </p:nvSpPr>
        <p:spPr>
          <a:xfrm>
            <a:off x="6233040" y="4014360"/>
            <a:ext cx="2398320" cy="72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D70"/>
                </a:solidFill>
                <a:latin typeface="Georgia"/>
                <a:ea typeface="Georgia"/>
              </a:rPr>
              <a:t>07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zh-CN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추천 </a:t>
            </a:r>
            <a:r>
              <a:rPr lang="en-US" sz="1400" b="1" strike="noStrike" spc="-1">
                <a:solidFill>
                  <a:srgbClr val="1A1A1A"/>
                </a:solidFill>
                <a:latin typeface="Nanum Myeongjo"/>
                <a:ea typeface="Nanum Myeongjo"/>
              </a:rPr>
              <a:t>AI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</a:pP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다음 유물</a:t>
            </a:r>
            <a:r>
              <a:rPr lang="en-US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/</a:t>
            </a:r>
            <a:r>
              <a:rPr lang="zh-CN" sz="1050" b="0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유적과 관련 콘텐츠 추천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Box 19"/>
          <p:cNvSpPr/>
          <p:nvPr/>
        </p:nvSpPr>
        <p:spPr>
          <a:xfrm>
            <a:off x="9043200" y="4465440"/>
            <a:ext cx="2398320" cy="25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30000"/>
              </a:lnSpc>
            </a:pPr>
            <a:r>
              <a:rPr lang="zh-CN" sz="1250" b="1" strike="noStrike" spc="-1">
                <a:solidFill>
                  <a:srgbClr val="4A4A4A"/>
                </a:solidFill>
                <a:latin typeface="Nanum Myeongjo"/>
                <a:ea typeface="Nanum Myeongjo"/>
              </a:rPr>
              <a:t>고정된 설명  </a:t>
            </a:r>
            <a:r>
              <a:rPr lang="en-US" sz="1300" b="0" strike="noStrike" spc="-1">
                <a:solidFill>
                  <a:srgbClr val="2E7D70"/>
                </a:solidFill>
                <a:latin typeface="Malgun Gothic"/>
                <a:ea typeface="Malgun Gothic"/>
              </a:rPr>
              <a:t>→</a:t>
            </a:r>
            <a:r>
              <a:rPr lang="en-US" sz="1250" b="1" strike="noStrike" spc="-1">
                <a:solidFill>
                  <a:srgbClr val="2E7D70"/>
                </a:solidFill>
                <a:latin typeface="Nanum Myeongjo"/>
                <a:ea typeface="Nanum Myeongjo"/>
              </a:rPr>
              <a:t>  이어지는 이야기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Rectangle 20"/>
          <p:cNvSpPr/>
          <p:nvPr/>
        </p:nvSpPr>
        <p:spPr>
          <a:xfrm>
            <a:off x="612720" y="5623560"/>
            <a:ext cx="10965960" cy="548280"/>
          </a:xfrm>
          <a:prstGeom prst="rect">
            <a:avLst/>
          </a:prstGeom>
          <a:solidFill>
            <a:srgbClr val="1B4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TextBox 21"/>
          <p:cNvSpPr/>
          <p:nvPr/>
        </p:nvSpPr>
        <p:spPr>
          <a:xfrm>
            <a:off x="978480" y="5795043"/>
            <a:ext cx="10325880" cy="205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sz="1200" b="1" strike="noStrike" spc="-1" dirty="0">
                <a:solidFill>
                  <a:srgbClr val="7FD4C8"/>
                </a:solidFill>
                <a:latin typeface="Nanum Myeongjo"/>
                <a:ea typeface="Nanum Myeongjo"/>
              </a:rPr>
              <a:t>최종 정리   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AI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가 아무 말이나 만드는 서비스가 아니라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, </a:t>
            </a:r>
            <a:r>
              <a:rPr lang="zh-CN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공식 자료를 바탕으로 사용자의 상황에 맞는 해설 경로를 만드는 서비스입니다</a:t>
            </a:r>
            <a:r>
              <a:rPr lang="en-US" sz="1200" strike="noStrike" spc="-1" dirty="0">
                <a:solidFill>
                  <a:srgbClr val="FFFFFF"/>
                </a:solidFill>
                <a:latin typeface="Nanum Myeongjo"/>
                <a:ea typeface="Nanum Myeongjo"/>
              </a:rPr>
              <a:t>.</a:t>
            </a:r>
            <a:endParaRPr lang="en-US" sz="120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DF4625B-0D9B-488C-A548-6F691B1B6B86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6620E05-7F97-8FB5-3B37-8D9B38EA43ED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D3641278-9DB8-102C-26F1-B90DA22019EF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658580BE-A4E0-6536-1CBC-621AE075C7CF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C2CF5DD-1867-F523-5C7D-3BA49542C8A9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AF6E45A-F0BA-2093-29FF-FB13970434F9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7DCAEFA4-D789-AD8D-3442-122B4F081595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ko-KR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전체 기술 요약</a:t>
            </a:r>
            <a:endParaRPr lang="en-US" altLang="ko-KR" sz="24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" name="Connector 4">
            <a:extLst>
              <a:ext uri="{FF2B5EF4-FFF2-40B4-BE49-F238E27FC236}">
                <a16:creationId xmlns:a16="http://schemas.microsoft.com/office/drawing/2014/main" id="{EE029944-4CB1-3E8F-2B0B-D40DE0192CCA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3B39C718-8264-7F86-F748-D86C2222D48E}"/>
              </a:ext>
            </a:extLst>
          </p:cNvPr>
          <p:cNvSpPr/>
          <p:nvPr/>
        </p:nvSpPr>
        <p:spPr>
          <a:xfrm>
            <a:off x="612720" y="1245895"/>
            <a:ext cx="109659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이음의 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AI </a:t>
            </a:r>
            <a:r>
              <a:rPr lang="zh-CN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기술은 국가유산 정보를 고정된 설명에서 사용자 맥락에 따라 이어지는 이야기로 전환합니다</a:t>
            </a:r>
            <a:r>
              <a:rPr lang="en-US" altLang="ko-KR" sz="1300" spc="-1" dirty="0">
                <a:solidFill>
                  <a:srgbClr val="4A4A4A"/>
                </a:solidFill>
                <a:latin typeface="Nanum Myeongjo"/>
                <a:ea typeface="Nanum Myeongjo"/>
              </a:rPr>
              <a:t>.</a:t>
            </a:r>
            <a:endParaRPr lang="en-US" altLang="ko-KR" sz="1300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03685" y="1857625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 이번 시연 · 구현 범위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3685" y="2223385"/>
            <a:ext cx="5120640" cy="0"/>
          </a:xfrm>
          <a:prstGeom prst="line">
            <a:avLst/>
          </a:prstGeom>
          <a:noFill/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21973" y="2442841"/>
            <a:ext cx="91440" cy="91440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78005" y="236968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 선택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1973" y="2808601"/>
            <a:ext cx="91440" cy="91440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78005" y="273544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현장 / 비현장 선택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1973" y="3174361"/>
            <a:ext cx="91440" cy="91440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78005" y="310120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유산 선택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1973" y="3540121"/>
            <a:ext cx="91440" cy="91440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78005" y="346696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 카테고리 선택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1973" y="3905881"/>
            <a:ext cx="91440" cy="91440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78005" y="383272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공식 자료 기반 RAG 해설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1973" y="4271641"/>
            <a:ext cx="91440" cy="91440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78005" y="419848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TTS 제공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1973" y="4637401"/>
            <a:ext cx="91440" cy="91440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78005" y="456424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카테고리</a:t>
            </a:r>
            <a:r>
              <a:rPr lang="en-US" altLang="ko-KR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·</a:t>
            </a:r>
            <a:r>
              <a:rPr lang="ko-KR" altLang="en-US" sz="11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키워드 기반 다음 유산 추천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18685" y="1857625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r>
              <a:rPr lang="en-US" sz="110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 향후 고도화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18685" y="2223385"/>
            <a:ext cx="512064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18685" y="2369689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74717" y="236968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참고 이미지 고도화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18685" y="2735449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4717" y="273544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지식 그래프 기반 추천 고도화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8685" y="3101209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4717" y="310120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행동 로그 기반 프로파일링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18685" y="3466969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4717" y="346696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리워드 / 랭킹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18685" y="3832729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4717" y="383272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K-콘텐츠 추천 고도화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18685" y="4198489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4717" y="419848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Multi-Persona 해설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3685" y="5001779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단계적 확장 로드맵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3685" y="5400142"/>
            <a:ext cx="3210458" cy="475488"/>
          </a:xfrm>
          <a:prstGeom prst="rect">
            <a:avLst/>
          </a:prstGeom>
          <a:noFill/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13413" y="5400142"/>
            <a:ext cx="29910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1.  MVP : RAG 맞춤 해설 + 기본 추천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14143" y="540014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71343" y="5400142"/>
            <a:ext cx="321045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481071" y="5400142"/>
            <a:ext cx="29910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2.  사용자 기록 기반 개인화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81802" y="540014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39002" y="5400142"/>
            <a:ext cx="321045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148730" y="5400142"/>
            <a:ext cx="29910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3.  관계 기반 추천 · 확장 기능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6200" y="5825724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B4D4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이음은 MVP에서 RAG 기반 맞춤 해설과 기본 추천을 우선 구현하고, 사용자 기록과 관계 기반 추천은 단계적으로 확장합니다.</a:t>
            </a:r>
            <a:endParaRPr lang="en-US" sz="1200" dirty="0">
              <a:solidFill>
                <a:srgbClr val="1B4D47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B1AE0296-29D9-4E14-815D-88C3F0361BD3}"/>
              </a:ext>
            </a:extLst>
          </p:cNvPr>
          <p:cNvSpPr/>
          <p:nvPr/>
        </p:nvSpPr>
        <p:spPr>
          <a:xfrm>
            <a:off x="11279086" y="640151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29</a:t>
            </a:r>
            <a:endParaRPr lang="en-US" sz="1000" dirty="0"/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ECBA35E6-1A52-E9EC-760F-8F0EA8811462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8468C11A-5DF7-6EB4-A504-D7F371DDF178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423E95DA-B6A6-ED6A-66DE-9D63DA802AFB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22D7C1A4-444A-F546-840C-E0E00E36F4C1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7BC657B3-588E-4424-5069-FF1E52143DCA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299" dirty="0">
                <a:solidFill>
                  <a:srgbClr val="2E7D70"/>
                </a:solidFill>
                <a:latin typeface="Georgia"/>
                <a:ea typeface="Georgia"/>
              </a:rPr>
              <a:t>AI APPLICATION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2">
            <a:extLst>
              <a:ext uri="{FF2B5EF4-FFF2-40B4-BE49-F238E27FC236}">
                <a16:creationId xmlns:a16="http://schemas.microsoft.com/office/drawing/2014/main" id="{EADE4E78-7C51-399B-8EA1-710D227D56C0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MVP</a:t>
            </a:r>
            <a:r>
              <a:rPr lang="ko-KR" altLang="en-US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와 확장 기능 구분</a:t>
            </a:r>
            <a:r>
              <a:rPr lang="en-US" altLang="zh-CN" sz="2400" b="1" spc="-1" dirty="0">
                <a:solidFill>
                  <a:srgbClr val="1A1A1A"/>
                </a:solidFill>
                <a:latin typeface="Nanum Myeongjo"/>
                <a:ea typeface="Nanum Myeongjo"/>
              </a:rPr>
              <a:t> </a:t>
            </a:r>
            <a:endParaRPr lang="en-US" altLang="ko-KR" sz="24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7" name="Connector 4">
            <a:extLst>
              <a:ext uri="{FF2B5EF4-FFF2-40B4-BE49-F238E27FC236}">
                <a16:creationId xmlns:a16="http://schemas.microsoft.com/office/drawing/2014/main" id="{E8CF031A-2D1F-DE38-FC03-08A37583ADF1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59" name="TextBox 3">
            <a:extLst>
              <a:ext uri="{FF2B5EF4-FFF2-40B4-BE49-F238E27FC236}">
                <a16:creationId xmlns:a16="http://schemas.microsoft.com/office/drawing/2014/main" id="{E69B04CA-E457-4D24-B160-F296B165B377}"/>
              </a:ext>
            </a:extLst>
          </p:cNvPr>
          <p:cNvSpPr/>
          <p:nvPr/>
        </p:nvSpPr>
        <p:spPr>
          <a:xfrm>
            <a:off x="612720" y="1245895"/>
            <a:ext cx="10965960" cy="4001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altLang="en-US" sz="1300" spc="-1" dirty="0">
                <a:solidFill>
                  <a:srgbClr val="000000"/>
                </a:solidFill>
                <a:latin typeface="Arial"/>
              </a:rPr>
              <a:t>기능의 우선순위가 아니라 ‘구현 </a:t>
            </a:r>
            <a:r>
              <a:rPr lang="ko-KR" altLang="en-US" sz="1300" spc="-1" dirty="0" err="1">
                <a:solidFill>
                  <a:srgbClr val="000000"/>
                </a:solidFill>
                <a:latin typeface="Arial"/>
              </a:rPr>
              <a:t>범위’를</a:t>
            </a:r>
            <a:r>
              <a:rPr lang="ko-KR" altLang="en-US" sz="1300" spc="-1" dirty="0">
                <a:solidFill>
                  <a:srgbClr val="000000"/>
                </a:solidFill>
                <a:latin typeface="Arial"/>
              </a:rPr>
              <a:t> 명확히 나누어</a:t>
            </a:r>
            <a:r>
              <a:rPr lang="en-US" altLang="ko-KR" sz="1300" spc="-1" dirty="0">
                <a:solidFill>
                  <a:srgbClr val="000000"/>
                </a:solidFill>
                <a:latin typeface="Arial"/>
              </a:rPr>
              <a:t>, MVP</a:t>
            </a:r>
            <a:r>
              <a:rPr lang="ko-KR" altLang="en-US" sz="1300" spc="-1" dirty="0">
                <a:solidFill>
                  <a:srgbClr val="000000"/>
                </a:solidFill>
                <a:latin typeface="Arial"/>
              </a:rPr>
              <a:t>에서 무엇을 먼저 만드는지 보여줍니다</a:t>
            </a:r>
            <a:r>
              <a:rPr lang="en-US" altLang="ko-KR" sz="1300" spc="-1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defTabSz="457200">
              <a:lnSpc>
                <a:spcPct val="100000"/>
              </a:lnSpc>
            </a:pPr>
            <a:endParaRPr lang="en-US" altLang="ko-KR" sz="1300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833AA784-5A1F-4C43-815C-B9AB964F1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3294" y="3048"/>
            <a:ext cx="6258705" cy="3517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375" y="91694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90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9000" dirty="0"/>
          </a:p>
        </p:txBody>
      </p:sp>
      <p:sp>
        <p:nvSpPr>
          <p:cNvPr id="6" name="Text 3"/>
          <p:cNvSpPr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MVP &amp; Prototype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68680" y="3520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 여정과 화면 구성으로 이음의 실제 사용 흐름을 보여줍니다</a:t>
            </a:r>
            <a:r>
              <a:rPr lang="en-US" altLang="ko-KR" sz="15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4114800"/>
            <a:ext cx="2011680" cy="0"/>
          </a:xfrm>
          <a:prstGeom prst="line">
            <a:avLst/>
          </a:prstGeom>
          <a:noFill/>
          <a:ln w="1905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22960" y="4572000"/>
            <a:ext cx="34564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22960" y="4572000"/>
            <a:ext cx="3456432" cy="4572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97280" y="4736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50292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User Workflow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541324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온보딩부터 기록까지 10단계 흐름 설계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35424" y="4572000"/>
            <a:ext cx="34564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535424" y="4572000"/>
            <a:ext cx="3456432" cy="4572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4809744" y="4736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09744" y="50292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Wireframe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09744" y="541324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단계별 화면 구성과 UX 설계 의도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247888" y="4572000"/>
            <a:ext cx="34564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8247888" y="4572000"/>
            <a:ext cx="3456432" cy="4572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8522208" y="4736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22208" y="502920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522208" y="541324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Figma 화면 전환 시나리오 설계</a:t>
            </a:r>
            <a:endParaRPr lang="en-US" sz="105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06B664D8-FCE3-416F-AAEB-EC02F480AF18}"/>
              </a:ext>
            </a:extLst>
          </p:cNvPr>
          <p:cNvSpPr/>
          <p:nvPr/>
        </p:nvSpPr>
        <p:spPr>
          <a:xfrm>
            <a:off x="11279086" y="640151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30</a:t>
            </a: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1C271E-AB2E-B5D5-ABC0-F049A5847F37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&amp; PROTOTYPE</a:t>
            </a:r>
            <a:endParaRPr lang="en-US" altLang="ko-KR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22960" y="1889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시나리오   </a:t>
            </a: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경복궁 현장 방문자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293260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860188"/>
            <a:ext cx="23621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 맥락 설정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244236"/>
            <a:ext cx="236212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3390540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3390540"/>
            <a:ext cx="2106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한국어 선택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774588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" y="3774588"/>
            <a:ext cx="2106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현장 방문 모드 선택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158636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" y="4158636"/>
            <a:ext cx="2106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현재 위치 확인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21660" y="23847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50844" y="2293260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550844" y="2860188"/>
            <a:ext cx="23621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유산 · 관심사 선택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50844" y="3244236"/>
            <a:ext cx="236212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550844" y="3390540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06876" y="3390540"/>
            <a:ext cx="2106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경복궁 주변 유산 확인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50844" y="3774588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06876" y="3774588"/>
            <a:ext cx="2106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근정전 선택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50844" y="4158636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06876" y="4158636"/>
            <a:ext cx="2106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건축 카테고리 선택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9544" y="23847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78728" y="2293260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278728" y="2860188"/>
            <a:ext cx="23621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해설 생성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78728" y="3244236"/>
            <a:ext cx="236212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278728" y="3390540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4760" y="3390540"/>
            <a:ext cx="2106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공식 자료 RAG 검색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78728" y="3774588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4760" y="3774588"/>
            <a:ext cx="2106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건축 관점 해설 생성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78728" y="4158636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34760" y="4158636"/>
            <a:ext cx="2106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텍스트 + TTS 제공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77427" y="23847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06611" y="2293260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9006611" y="2860188"/>
            <a:ext cx="23621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 경험 연결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006611" y="3244236"/>
            <a:ext cx="236212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9006611" y="3390540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262643" y="3390540"/>
            <a:ext cx="2106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관련 유산 추천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06611" y="3774588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62643" y="3774588"/>
            <a:ext cx="2106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탐방 기록 저장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006611" y="4158636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262643" y="4158636"/>
            <a:ext cx="2106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관련 콘텐츠 연결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2960" y="4604659"/>
            <a:ext cx="105457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1005840" y="4757058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정확성   </a:t>
            </a:r>
            <a:r>
              <a:rPr lang="en-US" sz="9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공식 자료 RAG 검색 기반 해설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38218" y="4738770"/>
            <a:ext cx="0" cy="4572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521098" y="4757058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개인화   </a:t>
            </a:r>
            <a:r>
              <a:rPr lang="en-US" sz="9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 · 상황 · 관심 카테고리 반영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53477" y="4738770"/>
            <a:ext cx="0" cy="4572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036357" y="4757058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연결성   </a:t>
            </a:r>
            <a:r>
              <a:rPr lang="en-US" sz="9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 유산과 콘텐츠로 경험 확장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22960" y="5346192"/>
            <a:ext cx="10545775" cy="841248"/>
          </a:xfrm>
          <a:prstGeom prst="rect">
            <a:avLst/>
          </a:prstGeom>
          <a:solidFill>
            <a:srgbClr val="1B4D47"/>
          </a:solidFill>
          <a:ln w="12700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143000" y="5346192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시나리오는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이음의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가치인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정확성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개인화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연결성을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한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번의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흐름으로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보여줍니다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 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이어지는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전체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여정에서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10단계를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자세히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설명합니다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FBFEE60B-11A5-4A7B-ACE6-D008E6AD0DD9}"/>
              </a:ext>
            </a:extLst>
          </p:cNvPr>
          <p:cNvSpPr/>
          <p:nvPr/>
        </p:nvSpPr>
        <p:spPr>
          <a:xfrm>
            <a:off x="11279086" y="640151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31</a:t>
            </a:r>
            <a:endParaRPr lang="en-US" sz="1000" dirty="0"/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712229CB-5723-BF14-C6E6-5214D391EFA3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&amp; PROTOTYPE</a:t>
            </a:r>
            <a:endParaRPr lang="en-US" altLang="ko-KR" sz="1100" dirty="0"/>
          </a:p>
        </p:txBody>
      </p:sp>
      <p:sp>
        <p:nvSpPr>
          <p:cNvPr id="57" name="TextBox 2">
            <a:extLst>
              <a:ext uri="{FF2B5EF4-FFF2-40B4-BE49-F238E27FC236}">
                <a16:creationId xmlns:a16="http://schemas.microsoft.com/office/drawing/2014/main" id="{63BAB067-79DE-86E3-D254-5830965DDD35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시나리오</a:t>
            </a:r>
            <a:endParaRPr lang="en-US" altLang="ko-KR" sz="2400" dirty="0"/>
          </a:p>
        </p:txBody>
      </p:sp>
      <p:sp>
        <p:nvSpPr>
          <p:cNvPr id="58" name="TextBox 3">
            <a:extLst>
              <a:ext uri="{FF2B5EF4-FFF2-40B4-BE49-F238E27FC236}">
                <a16:creationId xmlns:a16="http://schemas.microsoft.com/office/drawing/2014/main" id="{FD6A118E-19F2-2A7E-2E2C-F6403CE3B1AC}"/>
              </a:ext>
            </a:extLst>
          </p:cNvPr>
          <p:cNvSpPr/>
          <p:nvPr/>
        </p:nvSpPr>
        <p:spPr>
          <a:xfrm>
            <a:off x="612720" y="1245895"/>
            <a:ext cx="109659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경복궁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현장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방문자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한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사람의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흐름으로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이음의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경험을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압축해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보여줍니다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altLang="ko-KR" sz="1300" dirty="0"/>
          </a:p>
        </p:txBody>
      </p:sp>
      <p:cxnSp>
        <p:nvCxnSpPr>
          <p:cNvPr id="59" name="Connector 4">
            <a:extLst>
              <a:ext uri="{FF2B5EF4-FFF2-40B4-BE49-F238E27FC236}">
                <a16:creationId xmlns:a16="http://schemas.microsoft.com/office/drawing/2014/main" id="{E0097D4B-3230-9E2B-BA35-1C5AF3150177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822960" y="2103120"/>
            <a:ext cx="1956816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87552" y="2258568"/>
            <a:ext cx="384048" cy="384048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8755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67004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온보딩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99923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서비스 가치 전달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743200" y="21031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62656" y="2103120"/>
            <a:ext cx="1956816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127248" y="2258568"/>
            <a:ext cx="384048" cy="384048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127248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99816" y="267004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 선택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99816" y="299923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한국어 / 영어 / 일본어 / 중국어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882896" y="21031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02352" y="2103120"/>
            <a:ext cx="1956816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266944" y="2258568"/>
            <a:ext cx="384048" cy="384048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266944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39512" y="267004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이용 장소 선택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9512" y="299923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현장 방문 / 비현장 탐색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022592" y="21031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42048" y="2103120"/>
            <a:ext cx="1956816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406640" y="2258568"/>
            <a:ext cx="384048" cy="384048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406640" y="22585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79208" y="267004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유산 선택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79208" y="299923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위치 기반 또는 검색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162288" y="21031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381744" y="2103120"/>
            <a:ext cx="1956816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9546336" y="2258568"/>
            <a:ext cx="384048" cy="384048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546336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18904" y="267004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 카테고리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18904" y="299923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건축 · 역사 · 문화 등 복수 선택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22960" y="3730752"/>
            <a:ext cx="1956816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987552" y="3886200"/>
            <a:ext cx="384048" cy="384048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87552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" y="429768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해설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46268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텍스트 + TTS 음성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2743200" y="3730752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962656" y="3730752"/>
            <a:ext cx="1956816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3127248" y="3886200"/>
            <a:ext cx="384048" cy="384048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127248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099816" y="429768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심화 / 비교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99816" y="46268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 카테고리 기반 확장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4882896" y="3730752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102352" y="3730752"/>
            <a:ext cx="1956816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266944" y="3886200"/>
            <a:ext cx="384048" cy="384048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266944" y="3886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39512" y="429768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 유산 추천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39512" y="46268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관심사 연결 방문지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7022592" y="3730752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242048" y="3730752"/>
            <a:ext cx="1956816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7406640" y="3886200"/>
            <a:ext cx="384048" cy="384048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7406640" y="3886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379208" y="429768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K-콘텐츠 추천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379208" y="46268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영화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드라마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도서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등 </a:t>
            </a:r>
            <a:r>
              <a:rPr lang="ko-KR" alt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 카테고리 기반 기본 콘텐츠 추천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9162288" y="3730752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9381744" y="3730752"/>
            <a:ext cx="1956816" cy="137160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9546336" y="3886200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546336" y="3886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518904" y="429768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기록 / 보상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518904" y="46268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즐겨찾기 · 리워드 (확장 기능)</a:t>
            </a:r>
            <a:endParaRPr lang="en-US" sz="880" dirty="0"/>
          </a:p>
        </p:txBody>
      </p:sp>
      <p:sp>
        <p:nvSpPr>
          <p:cNvPr id="64" name="Text 62"/>
          <p:cNvSpPr/>
          <p:nvPr/>
        </p:nvSpPr>
        <p:spPr>
          <a:xfrm>
            <a:off x="10222992" y="345643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22960" y="5611638"/>
            <a:ext cx="10545775" cy="576000"/>
          </a:xfrm>
          <a:prstGeom prst="rect">
            <a:avLst/>
          </a:prstGeom>
          <a:solidFill>
            <a:srgbClr val="1B4D47"/>
          </a:solidFill>
          <a:ln w="12700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1097280" y="5532120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FD4C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 </a:t>
            </a:r>
            <a:r>
              <a:rPr lang="en-US" sz="1200" b="1" dirty="0" err="1">
                <a:solidFill>
                  <a:srgbClr val="7FD4C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흐름</a:t>
            </a:r>
            <a:r>
              <a:rPr lang="en-US" sz="1200" b="1" dirty="0">
                <a:solidFill>
                  <a:srgbClr val="7FD4C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카테고리 · 언어 · </a:t>
            </a:r>
            <a:r>
              <a:rPr lang="en-US" sz="1200" dirty="0" err="1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상황을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먼저 수집하고, 해설 이후에는 추천과 기록으로 사용자의 다음 행동을 만듭니다.</a:t>
            </a:r>
            <a:endParaRPr lang="en-US" sz="1200" dirty="0"/>
          </a:p>
        </p:txBody>
      </p:sp>
      <p:sp>
        <p:nvSpPr>
          <p:cNvPr id="69" name="Text 21">
            <a:extLst>
              <a:ext uri="{FF2B5EF4-FFF2-40B4-BE49-F238E27FC236}">
                <a16:creationId xmlns:a16="http://schemas.microsoft.com/office/drawing/2014/main" id="{7C8A7FA3-2CE6-4B22-8D62-559A8A2E35A8}"/>
              </a:ext>
            </a:extLst>
          </p:cNvPr>
          <p:cNvSpPr/>
          <p:nvPr/>
        </p:nvSpPr>
        <p:spPr>
          <a:xfrm>
            <a:off x="11279086" y="640151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32</a:t>
            </a:r>
            <a:endParaRPr lang="en-US" sz="1000" dirty="0"/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0CBB1BEA-41F5-845A-4F98-61A9881E6007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&amp; PROTOTYPE</a:t>
            </a:r>
            <a:endParaRPr lang="en-US" altLang="ko-KR" sz="1100" dirty="0"/>
          </a:p>
        </p:txBody>
      </p:sp>
      <p:sp>
        <p:nvSpPr>
          <p:cNvPr id="68" name="TextBox 2">
            <a:extLst>
              <a:ext uri="{FF2B5EF4-FFF2-40B4-BE49-F238E27FC236}">
                <a16:creationId xmlns:a16="http://schemas.microsoft.com/office/drawing/2014/main" id="{5390F15F-D6B7-58FD-1048-3917D325E304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User Workflow</a:t>
            </a:r>
          </a:p>
        </p:txBody>
      </p:sp>
      <p:sp>
        <p:nvSpPr>
          <p:cNvPr id="70" name="TextBox 3">
            <a:extLst>
              <a:ext uri="{FF2B5EF4-FFF2-40B4-BE49-F238E27FC236}">
                <a16:creationId xmlns:a16="http://schemas.microsoft.com/office/drawing/2014/main" id="{15536BB1-6334-8AB2-30FF-F296E87EC467}"/>
              </a:ext>
            </a:extLst>
          </p:cNvPr>
          <p:cNvSpPr/>
          <p:nvPr/>
        </p:nvSpPr>
        <p:spPr>
          <a:xfrm>
            <a:off x="612720" y="1245895"/>
            <a:ext cx="10965960" cy="2000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사용자의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방문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상황과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카테고리를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먼저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파악한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뒤,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추천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기록으로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이어지는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구조</a:t>
            </a:r>
            <a:endParaRPr lang="en-US" altLang="ko-KR" sz="1300" dirty="0"/>
          </a:p>
        </p:txBody>
      </p:sp>
      <p:cxnSp>
        <p:nvCxnSpPr>
          <p:cNvPr id="71" name="Connector 4">
            <a:extLst>
              <a:ext uri="{FF2B5EF4-FFF2-40B4-BE49-F238E27FC236}">
                <a16:creationId xmlns:a16="http://schemas.microsoft.com/office/drawing/2014/main" id="{C3AEC769-EA69-608F-A3B5-73049D8AC5FA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림 60">
            <a:extLst>
              <a:ext uri="{FF2B5EF4-FFF2-40B4-BE49-F238E27FC236}">
                <a16:creationId xmlns:a16="http://schemas.microsoft.com/office/drawing/2014/main" id="{90277229-A331-450F-8162-A97ADF657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449" y="4694964"/>
            <a:ext cx="1791114" cy="59311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EA5B8D8-BEA4-4B53-A1CD-0D00ED09D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00" y="2094487"/>
            <a:ext cx="1737600" cy="33457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772E70C-FA68-404C-9C1A-195D89FA5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31" y="5176747"/>
            <a:ext cx="1791114" cy="593118"/>
          </a:xfrm>
          <a:prstGeom prst="rect">
            <a:avLst/>
          </a:prstGeom>
        </p:spPr>
      </p:pic>
      <p:sp>
        <p:nvSpPr>
          <p:cNvPr id="13" name="Text 11"/>
          <p:cNvSpPr/>
          <p:nvPr/>
        </p:nvSpPr>
        <p:spPr>
          <a:xfrm>
            <a:off x="826495" y="2946167"/>
            <a:ext cx="1474548" cy="51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2218" y="5190548"/>
            <a:ext cx="1243101" cy="416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" y="589041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화면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487168" y="589041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선택 화면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2057400"/>
            <a:ext cx="1965960" cy="105156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754880" y="2167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242316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앱 첫 실행 후 해설 언어를 선택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65392" y="20574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95160" y="2057400"/>
            <a:ext cx="1965960" cy="105156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132320" y="2167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처리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0" y="242316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선택 언어를 해설 생성의 기본 출력 언어로 설정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942832" y="20574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372600" y="2057400"/>
            <a:ext cx="1965960" cy="105156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9509760" y="2167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509760" y="242316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관심사 · 언어 맞춤 해설 진입 준비 완료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17720" y="333756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설계 의도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663440" y="378561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910328" y="3703320"/>
            <a:ext cx="635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첫 화면에서 “관심 카테고리 · 언어 맞춤 해설”이라는 핵심 가치를 이해하도록 구성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424281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910328" y="4160520"/>
            <a:ext cx="635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 선택은 별도 화면으로 분리하여 외국인 사용자도 명확히 진입 가능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63440" y="470001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910328" y="4617720"/>
            <a:ext cx="635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선택된 언어 카드는 강조색과 체크 아이콘으로 현재 상태를 즉시 인지 · 큰 CTA 버튼으로 탭 실수 방지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17720" y="5202936"/>
            <a:ext cx="6720840" cy="566928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4617720" y="5202936"/>
            <a:ext cx="54864" cy="566928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4910328" y="5202936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 UX   </a:t>
            </a: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첫 진입 장벽 최소화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617720" y="635508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CTA : 사용자가 눌러야 할 핵심 버튼 / 행동 유도 문구</a:t>
            </a:r>
            <a:endParaRPr lang="en-US" sz="850" dirty="0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9F5279E4-F1E9-40A5-A365-7DA25794D700}"/>
              </a:ext>
            </a:extLst>
          </p:cNvPr>
          <p:cNvSpPr/>
          <p:nvPr/>
        </p:nvSpPr>
        <p:spPr>
          <a:xfrm>
            <a:off x="11279086" y="640151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33</a:t>
            </a:r>
            <a:endParaRPr lang="en-US" sz="1000" dirty="0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79FAB5A7-08CB-1EAC-F681-F44A3E9A1710}"/>
              </a:ext>
            </a:extLst>
          </p:cNvPr>
          <p:cNvSpPr/>
          <p:nvPr/>
        </p:nvSpPr>
        <p:spPr>
          <a:xfrm>
            <a:off x="575035" y="714677"/>
            <a:ext cx="502920" cy="411480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ED1833E-9B6B-0CF6-322D-8BCB9B48B1C3}"/>
              </a:ext>
            </a:extLst>
          </p:cNvPr>
          <p:cNvSpPr/>
          <p:nvPr/>
        </p:nvSpPr>
        <p:spPr>
          <a:xfrm>
            <a:off x="575035" y="684307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dirty="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A2913746-EC77-CEF6-BC3F-0BA410083433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&amp; PROTOTYPE</a:t>
            </a:r>
            <a:endParaRPr lang="en-US" altLang="ko-KR" sz="1100" dirty="0"/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36CDE4EC-B907-16DA-9750-C7FE21FB05E9}"/>
              </a:ext>
            </a:extLst>
          </p:cNvPr>
          <p:cNvSpPr/>
          <p:nvPr/>
        </p:nvSpPr>
        <p:spPr>
          <a:xfrm>
            <a:off x="1146120" y="7370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온보딩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&amp;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선택</a:t>
            </a:r>
            <a:endParaRPr lang="en-US" altLang="ko-KR" sz="2400" dirty="0"/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65287C05-8582-745F-AC2C-FE2921AB78E0}"/>
              </a:ext>
            </a:extLst>
          </p:cNvPr>
          <p:cNvSpPr/>
          <p:nvPr/>
        </p:nvSpPr>
        <p:spPr>
          <a:xfrm>
            <a:off x="612720" y="1245895"/>
            <a:ext cx="10965960" cy="2000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현장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방문자는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위치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기반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비현장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탐색자는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검색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기반으로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국가유산을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선택</a:t>
            </a:r>
            <a:endParaRPr lang="en-US" altLang="ko-KR" sz="1300" dirty="0"/>
          </a:p>
        </p:txBody>
      </p:sp>
      <p:cxnSp>
        <p:nvCxnSpPr>
          <p:cNvPr id="22" name="Connector 4">
            <a:extLst>
              <a:ext uri="{FF2B5EF4-FFF2-40B4-BE49-F238E27FC236}">
                <a16:creationId xmlns:a16="http://schemas.microsoft.com/office/drawing/2014/main" id="{D2269580-D027-D7E1-895F-135888EF3F97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F9485F3A-EF06-4E8B-87D8-3948BFA02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71" y="1968456"/>
            <a:ext cx="2145978" cy="38286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7FB2ABE-7775-47C9-900F-BBE30976CA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3829" y="2173943"/>
            <a:ext cx="1581750" cy="2940035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FB30693-3110-4CED-B74B-58CCE26D4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506" y="5038344"/>
            <a:ext cx="1791114" cy="59311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02237AB-41B2-4042-87F0-027A704FC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2479" y="1968456"/>
            <a:ext cx="2145978" cy="38286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695782C2-7934-4426-AB38-B697BA9F8A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68"/>
          <a:stretch/>
        </p:blipFill>
        <p:spPr>
          <a:xfrm>
            <a:off x="2581096" y="3974508"/>
            <a:ext cx="1690889" cy="1764769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82296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2단계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516" y="5860733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 장소 선택 화면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19" y="2057399"/>
            <a:ext cx="2188771" cy="813813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54879" y="2167128"/>
            <a:ext cx="1883361" cy="21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79" y="2423160"/>
            <a:ext cx="1883361" cy="48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현장 방문(LIVE) / 비현장 탐색(PLAN) 중 선택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91721" y="2328998"/>
            <a:ext cx="233408" cy="322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95159" y="2057399"/>
            <a:ext cx="2188771" cy="813813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132319" y="2167128"/>
            <a:ext cx="1883361" cy="21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처리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19" y="2423160"/>
            <a:ext cx="1883361" cy="48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선택 모드에 따라 검색 · 추천 · 해설 방식을 분기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69161" y="2328998"/>
            <a:ext cx="233408" cy="322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72599" y="2057399"/>
            <a:ext cx="2188771" cy="813813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509759" y="2167128"/>
            <a:ext cx="1883361" cy="21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509759" y="2423160"/>
            <a:ext cx="1883361" cy="48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상황에 맞춘 유산 추천 방식으로 자연스럽게 연결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93246" y="3925194"/>
            <a:ext cx="6645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두 가지 핵심 사용 시나리오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4373250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910328" y="4290954"/>
            <a:ext cx="2938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LIVE — 현장 방문 중 : </a:t>
            </a:r>
            <a:r>
              <a:rPr lang="en-US" sz="11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주변</a:t>
            </a: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문화유산을 추천하고 바로 해설로 연결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830450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910328" y="4748154"/>
            <a:ext cx="2938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altLang="ko-KR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PLAN — </a:t>
            </a:r>
            <a:r>
              <a:rPr lang="ko-KR" altLang="en-US" sz="11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비현장</a:t>
            </a: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탐색 </a:t>
            </a:r>
            <a:r>
              <a:rPr lang="en-US" altLang="ko-KR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: </a:t>
            </a: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 있는 유산을 검색하고</a:t>
            </a:r>
            <a:r>
              <a:rPr lang="en-US" altLang="ko-KR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 </a:t>
            </a: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원하는 관점으로 해설을 시작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5287650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910328" y="5205353"/>
            <a:ext cx="2830386" cy="503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시작 화면에서 사용자의 맥락을 나누면 이후 검색 / 추천 / 해설 방식이 자연스럽게 달라짐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17720" y="5790570"/>
            <a:ext cx="6720840" cy="566928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617720" y="5790570"/>
            <a:ext cx="54864" cy="566928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910328" y="5790570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 UX   </a:t>
            </a: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 상황을 먼저 파악해 이후 흐름을 분기</a:t>
            </a:r>
            <a:endParaRPr lang="en-US" sz="1050" dirty="0"/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8320618C-8796-4782-884B-ED696A381F25}"/>
              </a:ext>
            </a:extLst>
          </p:cNvPr>
          <p:cNvSpPr/>
          <p:nvPr/>
        </p:nvSpPr>
        <p:spPr>
          <a:xfrm>
            <a:off x="2200671" y="585331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유산 선택 화면</a:t>
            </a:r>
            <a:endParaRPr lang="en-US" sz="900" dirty="0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9D736290-E133-4C86-BD24-AE6E0600B546}"/>
              </a:ext>
            </a:extLst>
          </p:cNvPr>
          <p:cNvSpPr/>
          <p:nvPr/>
        </p:nvSpPr>
        <p:spPr>
          <a:xfrm>
            <a:off x="4617719" y="3020518"/>
            <a:ext cx="2188771" cy="813813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8D062C96-C9A2-42B2-AA1B-C15AFB2D431A}"/>
              </a:ext>
            </a:extLst>
          </p:cNvPr>
          <p:cNvSpPr/>
          <p:nvPr/>
        </p:nvSpPr>
        <p:spPr>
          <a:xfrm>
            <a:off x="4754879" y="3130246"/>
            <a:ext cx="1883361" cy="21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</a:t>
            </a:r>
            <a:endParaRPr lang="en-US" sz="900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DCBF24D6-F03A-4396-A8AE-5EBB7D2795B2}"/>
              </a:ext>
            </a:extLst>
          </p:cNvPr>
          <p:cNvSpPr/>
          <p:nvPr/>
        </p:nvSpPr>
        <p:spPr>
          <a:xfrm>
            <a:off x="4754879" y="3386278"/>
            <a:ext cx="1883361" cy="48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위치 기반 목록 또는 검색으로 유산 선택</a:t>
            </a:r>
            <a:endParaRPr lang="en-US" sz="1050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F2868961-5BAA-4DA2-BC43-BFBB4B4D6A50}"/>
              </a:ext>
            </a:extLst>
          </p:cNvPr>
          <p:cNvSpPr/>
          <p:nvPr/>
        </p:nvSpPr>
        <p:spPr>
          <a:xfrm>
            <a:off x="6791721" y="3292117"/>
            <a:ext cx="233409" cy="322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00" dirty="0"/>
          </a:p>
        </p:txBody>
      </p:sp>
      <p:sp>
        <p:nvSpPr>
          <p:cNvPr id="57" name="Shape 32">
            <a:extLst>
              <a:ext uri="{FF2B5EF4-FFF2-40B4-BE49-F238E27FC236}">
                <a16:creationId xmlns:a16="http://schemas.microsoft.com/office/drawing/2014/main" id="{0525AAA7-D3FD-4B39-93A8-35D0111D19CE}"/>
              </a:ext>
            </a:extLst>
          </p:cNvPr>
          <p:cNvSpPr/>
          <p:nvPr/>
        </p:nvSpPr>
        <p:spPr>
          <a:xfrm>
            <a:off x="6995159" y="3020518"/>
            <a:ext cx="2188771" cy="813813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33">
            <a:extLst>
              <a:ext uri="{FF2B5EF4-FFF2-40B4-BE49-F238E27FC236}">
                <a16:creationId xmlns:a16="http://schemas.microsoft.com/office/drawing/2014/main" id="{B7B1DAE9-350B-4D83-9FFA-F9245C0A1745}"/>
              </a:ext>
            </a:extLst>
          </p:cNvPr>
          <p:cNvSpPr/>
          <p:nvPr/>
        </p:nvSpPr>
        <p:spPr>
          <a:xfrm>
            <a:off x="7132319" y="3130246"/>
            <a:ext cx="1883361" cy="21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처리</a:t>
            </a:r>
            <a:endParaRPr lang="en-US" sz="900" dirty="0"/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DCB47FB6-554C-4CB0-9204-09929A82FA20}"/>
              </a:ext>
            </a:extLst>
          </p:cNvPr>
          <p:cNvSpPr/>
          <p:nvPr/>
        </p:nvSpPr>
        <p:spPr>
          <a:xfrm>
            <a:off x="7132319" y="3386278"/>
            <a:ext cx="1883361" cy="48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선택 유산을 RAG 검색 · 해설 생성의 대상으로 지정</a:t>
            </a:r>
            <a:endParaRPr lang="en-US" sz="1050" dirty="0"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9C7CFB31-C8D2-4DB2-9A33-535DB7F69BAD}"/>
              </a:ext>
            </a:extLst>
          </p:cNvPr>
          <p:cNvSpPr/>
          <p:nvPr/>
        </p:nvSpPr>
        <p:spPr>
          <a:xfrm>
            <a:off x="9169161" y="3292117"/>
            <a:ext cx="233409" cy="322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00" dirty="0"/>
          </a:p>
        </p:txBody>
      </p:sp>
      <p:sp>
        <p:nvSpPr>
          <p:cNvPr id="61" name="Shape 36">
            <a:extLst>
              <a:ext uri="{FF2B5EF4-FFF2-40B4-BE49-F238E27FC236}">
                <a16:creationId xmlns:a16="http://schemas.microsoft.com/office/drawing/2014/main" id="{96F6BBDA-9C33-4693-BF68-7D654F5F1725}"/>
              </a:ext>
            </a:extLst>
          </p:cNvPr>
          <p:cNvSpPr/>
          <p:nvPr/>
        </p:nvSpPr>
        <p:spPr>
          <a:xfrm>
            <a:off x="9372599" y="3020518"/>
            <a:ext cx="2188771" cy="813813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37">
            <a:extLst>
              <a:ext uri="{FF2B5EF4-FFF2-40B4-BE49-F238E27FC236}">
                <a16:creationId xmlns:a16="http://schemas.microsoft.com/office/drawing/2014/main" id="{960969B7-6C4E-4F81-84BD-6D5331BD3F87}"/>
              </a:ext>
            </a:extLst>
          </p:cNvPr>
          <p:cNvSpPr/>
          <p:nvPr/>
        </p:nvSpPr>
        <p:spPr>
          <a:xfrm>
            <a:off x="9509759" y="3130246"/>
            <a:ext cx="1883361" cy="21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00" dirty="0"/>
          </a:p>
        </p:txBody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BB973C67-1A6F-4ECF-B636-0B02946DE132}"/>
              </a:ext>
            </a:extLst>
          </p:cNvPr>
          <p:cNvSpPr/>
          <p:nvPr/>
        </p:nvSpPr>
        <p:spPr>
          <a:xfrm>
            <a:off x="9509759" y="3386278"/>
            <a:ext cx="1883361" cy="48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선택한 국가유산의 AI 맞춤 해설 화면으로 이동</a:t>
            </a:r>
            <a:endParaRPr lang="en-US" sz="1050" dirty="0"/>
          </a:p>
        </p:txBody>
      </p:sp>
      <p:sp>
        <p:nvSpPr>
          <p:cNvPr id="65" name="Text 41">
            <a:extLst>
              <a:ext uri="{FF2B5EF4-FFF2-40B4-BE49-F238E27FC236}">
                <a16:creationId xmlns:a16="http://schemas.microsoft.com/office/drawing/2014/main" id="{C6AC9E3C-ABB6-47A3-8A64-F1906F97083D}"/>
              </a:ext>
            </a:extLst>
          </p:cNvPr>
          <p:cNvSpPr/>
          <p:nvPr/>
        </p:nvSpPr>
        <p:spPr>
          <a:xfrm>
            <a:off x="8748610" y="4264215"/>
            <a:ext cx="2830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현장 모드 — 내 주변 문화유산 · 추천 방문지 · 거리 정보로 실제 위치에서 빠르게 선택</a:t>
            </a:r>
            <a:endParaRPr lang="en-US" sz="1100" dirty="0"/>
          </a:p>
        </p:txBody>
      </p:sp>
      <p:sp>
        <p:nvSpPr>
          <p:cNvPr id="67" name="Text 43">
            <a:extLst>
              <a:ext uri="{FF2B5EF4-FFF2-40B4-BE49-F238E27FC236}">
                <a16:creationId xmlns:a16="http://schemas.microsoft.com/office/drawing/2014/main" id="{3FFA8C28-6659-41DB-9FCB-2FBD62CCD8F9}"/>
              </a:ext>
            </a:extLst>
          </p:cNvPr>
          <p:cNvSpPr/>
          <p:nvPr/>
        </p:nvSpPr>
        <p:spPr>
          <a:xfrm>
            <a:off x="8748610" y="4720722"/>
            <a:ext cx="2830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비현장 탐색 모드 — 인기 문화유산 · 추천 문화유산 · 검색어 칩으로 관심 대상을 탐색</a:t>
            </a:r>
            <a:endParaRPr lang="en-US" sz="1100" dirty="0"/>
          </a:p>
        </p:txBody>
      </p:sp>
      <p:sp>
        <p:nvSpPr>
          <p:cNvPr id="69" name="Text 45">
            <a:extLst>
              <a:ext uri="{FF2B5EF4-FFF2-40B4-BE49-F238E27FC236}">
                <a16:creationId xmlns:a16="http://schemas.microsoft.com/office/drawing/2014/main" id="{094E5C2E-CA9D-42B7-96B7-1A64F24F7025}"/>
              </a:ext>
            </a:extLst>
          </p:cNvPr>
          <p:cNvSpPr/>
          <p:nvPr/>
        </p:nvSpPr>
        <p:spPr>
          <a:xfrm>
            <a:off x="8766949" y="5196028"/>
            <a:ext cx="2830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공통 UX — 이미지 + 이름 + 위치/지역 정보로 빠른 식별을 지원</a:t>
            </a:r>
            <a:endParaRPr lang="en-US" sz="1100" dirty="0"/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A4A2D61D-2ADE-4142-AA59-52CF4B782E65}"/>
              </a:ext>
            </a:extLst>
          </p:cNvPr>
          <p:cNvSpPr/>
          <p:nvPr/>
        </p:nvSpPr>
        <p:spPr>
          <a:xfrm>
            <a:off x="8540381" y="4373250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08B9C67B-ACD2-41EE-9EDD-A57DC831C2CB}"/>
              </a:ext>
            </a:extLst>
          </p:cNvPr>
          <p:cNvSpPr/>
          <p:nvPr/>
        </p:nvSpPr>
        <p:spPr>
          <a:xfrm>
            <a:off x="8540381" y="4830450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29D2DF94-0A64-449B-A8B0-9E1CA257ED67}"/>
              </a:ext>
            </a:extLst>
          </p:cNvPr>
          <p:cNvSpPr/>
          <p:nvPr/>
        </p:nvSpPr>
        <p:spPr>
          <a:xfrm>
            <a:off x="8540381" y="5287650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F7356408-5792-4320-82FA-4E6A9E1E7285}"/>
              </a:ext>
            </a:extLst>
          </p:cNvPr>
          <p:cNvSpPr/>
          <p:nvPr/>
        </p:nvSpPr>
        <p:spPr>
          <a:xfrm>
            <a:off x="8567540" y="3908292"/>
            <a:ext cx="3056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화면별 역할</a:t>
            </a:r>
            <a:endParaRPr lang="en-US" sz="1300" dirty="0"/>
          </a:p>
        </p:txBody>
      </p:sp>
      <p:sp>
        <p:nvSpPr>
          <p:cNvPr id="74" name="Shape 3">
            <a:extLst>
              <a:ext uri="{FF2B5EF4-FFF2-40B4-BE49-F238E27FC236}">
                <a16:creationId xmlns:a16="http://schemas.microsoft.com/office/drawing/2014/main" id="{A70F555B-39C3-4AAB-ADA1-B11F30AB4F1D}"/>
              </a:ext>
            </a:extLst>
          </p:cNvPr>
          <p:cNvSpPr/>
          <p:nvPr/>
        </p:nvSpPr>
        <p:spPr>
          <a:xfrm>
            <a:off x="8159900" y="4373250"/>
            <a:ext cx="0" cy="1034815"/>
          </a:xfrm>
          <a:prstGeom prst="line">
            <a:avLst/>
          </a:prstGeom>
          <a:noFill/>
          <a:ln w="1587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21">
            <a:extLst>
              <a:ext uri="{FF2B5EF4-FFF2-40B4-BE49-F238E27FC236}">
                <a16:creationId xmlns:a16="http://schemas.microsoft.com/office/drawing/2014/main" id="{4736F9B3-BEAE-43A8-BC09-2BBBEBFA275E}"/>
              </a:ext>
            </a:extLst>
          </p:cNvPr>
          <p:cNvSpPr/>
          <p:nvPr/>
        </p:nvSpPr>
        <p:spPr>
          <a:xfrm>
            <a:off x="11279086" y="640151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34</a:t>
            </a:r>
            <a:endParaRPr lang="en-US" sz="1000" dirty="0"/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898126DA-DA86-670C-4BE9-9FE104CC8407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&amp; PROTOTYPE</a:t>
            </a:r>
            <a:endParaRPr lang="en-US" altLang="ko-KR" sz="1100" dirty="0"/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F754B7AF-9D18-E8B5-8585-32467C8CBCA3}"/>
              </a:ext>
            </a:extLst>
          </p:cNvPr>
          <p:cNvSpPr/>
          <p:nvPr/>
        </p:nvSpPr>
        <p:spPr>
          <a:xfrm>
            <a:off x="612720" y="1245895"/>
            <a:ext cx="10965960" cy="2000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첫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진입에서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서비스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가치와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언어를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빠르게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설정</a:t>
            </a:r>
            <a:endParaRPr lang="en-US" altLang="ko-KR" sz="1300" dirty="0"/>
          </a:p>
        </p:txBody>
      </p:sp>
      <p:cxnSp>
        <p:nvCxnSpPr>
          <p:cNvPr id="13" name="Connector 4">
            <a:extLst>
              <a:ext uri="{FF2B5EF4-FFF2-40B4-BE49-F238E27FC236}">
                <a16:creationId xmlns:a16="http://schemas.microsoft.com/office/drawing/2014/main" id="{91DD3D70-45F5-FF88-5E2F-AAB6E89C8D9E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79" name="Shape 1">
            <a:extLst>
              <a:ext uri="{FF2B5EF4-FFF2-40B4-BE49-F238E27FC236}">
                <a16:creationId xmlns:a16="http://schemas.microsoft.com/office/drawing/2014/main" id="{AF44E8BC-ABF4-D829-229A-A8AD11253FAD}"/>
              </a:ext>
            </a:extLst>
          </p:cNvPr>
          <p:cNvSpPr/>
          <p:nvPr/>
        </p:nvSpPr>
        <p:spPr>
          <a:xfrm>
            <a:off x="575035" y="714677"/>
            <a:ext cx="502920" cy="411480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2">
            <a:extLst>
              <a:ext uri="{FF2B5EF4-FFF2-40B4-BE49-F238E27FC236}">
                <a16:creationId xmlns:a16="http://schemas.microsoft.com/office/drawing/2014/main" id="{D762D7A4-092F-C412-EE79-F4B8A0842BA9}"/>
              </a:ext>
            </a:extLst>
          </p:cNvPr>
          <p:cNvSpPr/>
          <p:nvPr/>
        </p:nvSpPr>
        <p:spPr>
          <a:xfrm>
            <a:off x="575035" y="684307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</a:rPr>
              <a:t>2</a:t>
            </a:r>
            <a:endParaRPr lang="en-US" dirty="0"/>
          </a:p>
        </p:txBody>
      </p:sp>
      <p:sp>
        <p:nvSpPr>
          <p:cNvPr id="81" name="TextBox 2">
            <a:extLst>
              <a:ext uri="{FF2B5EF4-FFF2-40B4-BE49-F238E27FC236}">
                <a16:creationId xmlns:a16="http://schemas.microsoft.com/office/drawing/2014/main" id="{80B6A33B-25E3-CC73-2499-A825A4D3F5E1}"/>
              </a:ext>
            </a:extLst>
          </p:cNvPr>
          <p:cNvSpPr/>
          <p:nvPr/>
        </p:nvSpPr>
        <p:spPr>
          <a:xfrm>
            <a:off x="1146120" y="7370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r>
              <a:rPr lang="ko-KR" altLang="en-US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이용장소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&amp;</a:t>
            </a:r>
            <a:r>
              <a:rPr lang="ko-KR" altLang="en-US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유산 선택</a:t>
            </a:r>
            <a:endParaRPr lang="en-US" altLang="ko-KR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A7256F-A773-4602-BD63-6E9EE2EA7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1" y="2036219"/>
            <a:ext cx="1792292" cy="36727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D27D249-0399-4BF4-BDAC-155DEB571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190" y="2022553"/>
            <a:ext cx="2145978" cy="38286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CCC78F3-1540-48F2-A753-C244BEB2A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5577"/>
          <a:stretch/>
        </p:blipFill>
        <p:spPr>
          <a:xfrm>
            <a:off x="2617558" y="2096995"/>
            <a:ext cx="1607857" cy="133042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7BF908A-929D-4242-9AA9-CD8107F784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4803" y="2031077"/>
            <a:ext cx="2145978" cy="38286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3단계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7180" y="5884991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카테고리 선택 화면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2057400"/>
            <a:ext cx="1965960" cy="105156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754880" y="2167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42316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건축 · 역사 등 관심 카테고리를 복수 선택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65392" y="20574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17720" y="343281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화면 구성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663440" y="388086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910328" y="3798570"/>
            <a:ext cx="31653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상단 검색 입력창으로 직접 관심사 입력 · 카테고리 </a:t>
            </a:r>
            <a:r>
              <a:rPr lang="en-US" sz="11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카드</a:t>
            </a: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(</a:t>
            </a: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역사 </a:t>
            </a:r>
            <a:r>
              <a:rPr lang="en-US" altLang="ko-KR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· </a:t>
            </a: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건축 </a:t>
            </a:r>
            <a:r>
              <a:rPr lang="en-US" altLang="ko-KR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· </a:t>
            </a: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예술 </a:t>
            </a:r>
            <a:r>
              <a:rPr lang="en-US" altLang="ko-KR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· </a:t>
            </a: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문화 </a:t>
            </a:r>
            <a:r>
              <a:rPr lang="en-US" altLang="ko-KR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· </a:t>
            </a: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종교 등</a:t>
            </a: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433806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910328" y="4255770"/>
            <a:ext cx="31653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복수 선택 — 선택된 항목은 강한 CTA 색상으로 표시 · 하단 고정 버튼으로 다음 단계 이동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479526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910328" y="4712970"/>
            <a:ext cx="31653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단순 관광 정보가 아니라 사용자별 관심사를 먼저 받아 AI 해설 개인화의 근거를 UI에서 명확히 제시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17720" y="5355336"/>
            <a:ext cx="6720840" cy="566928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617720" y="5355336"/>
            <a:ext cx="54864" cy="566928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910328" y="5355336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ko-KR" altLang="en-US" sz="105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   </a:t>
            </a:r>
            <a:r>
              <a:rPr lang="ko-KR" altLang="en-US" sz="10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사용자가 고른 관심 카테고리 기준으로 </a:t>
            </a:r>
            <a:r>
              <a:rPr lang="en-US" altLang="ko-KR" sz="10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</a:t>
            </a:r>
            <a:r>
              <a:rPr lang="ko-KR" altLang="en-US" sz="10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가 해설</a:t>
            </a:r>
            <a:r>
              <a:rPr lang="en-US" altLang="ko-KR" sz="10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</a:t>
            </a:r>
            <a:r>
              <a:rPr lang="ko-KR" altLang="en-US" sz="10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0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TTS</a:t>
            </a:r>
            <a:r>
              <a:rPr lang="ko-KR" altLang="en-US" sz="1050" b="1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제공</a:t>
            </a:r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D197EE4D-E151-4907-99A2-1BDE4F3CDCC2}"/>
              </a:ext>
            </a:extLst>
          </p:cNvPr>
          <p:cNvSpPr/>
          <p:nvPr/>
        </p:nvSpPr>
        <p:spPr>
          <a:xfrm>
            <a:off x="2190394" y="588579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맞춤 해설 화면</a:t>
            </a:r>
            <a:endParaRPr lang="en-US" sz="900" dirty="0"/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0F38AEEE-A7D6-460E-9B6E-225D57BCE829}"/>
              </a:ext>
            </a:extLst>
          </p:cNvPr>
          <p:cNvSpPr/>
          <p:nvPr/>
        </p:nvSpPr>
        <p:spPr>
          <a:xfrm>
            <a:off x="6995160" y="2057400"/>
            <a:ext cx="1965960" cy="105156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5A55534D-508F-4D2A-BBDF-1CA1F814CAB1}"/>
              </a:ext>
            </a:extLst>
          </p:cNvPr>
          <p:cNvSpPr/>
          <p:nvPr/>
        </p:nvSpPr>
        <p:spPr>
          <a:xfrm>
            <a:off x="7132320" y="2167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처리</a:t>
            </a:r>
            <a:endParaRPr lang="en-US" sz="900" dirty="0"/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434223DD-CB7F-424F-8822-A26B39437D19}"/>
              </a:ext>
            </a:extLst>
          </p:cNvPr>
          <p:cNvSpPr/>
          <p:nvPr/>
        </p:nvSpPr>
        <p:spPr>
          <a:xfrm>
            <a:off x="7132320" y="242316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RAG 검색 + 관심 카테고리 기반 LLM 해설 생성</a:t>
            </a:r>
            <a:endParaRPr lang="en-US" sz="1050" dirty="0"/>
          </a:p>
        </p:txBody>
      </p:sp>
      <p:sp>
        <p:nvSpPr>
          <p:cNvPr id="69" name="Text 34">
            <a:extLst>
              <a:ext uri="{FF2B5EF4-FFF2-40B4-BE49-F238E27FC236}">
                <a16:creationId xmlns:a16="http://schemas.microsoft.com/office/drawing/2014/main" id="{1F369365-2730-48FE-948D-6D39219D4FD0}"/>
              </a:ext>
            </a:extLst>
          </p:cNvPr>
          <p:cNvSpPr/>
          <p:nvPr/>
        </p:nvSpPr>
        <p:spPr>
          <a:xfrm>
            <a:off x="8942832" y="20574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70" name="Shape 35">
            <a:extLst>
              <a:ext uri="{FF2B5EF4-FFF2-40B4-BE49-F238E27FC236}">
                <a16:creationId xmlns:a16="http://schemas.microsoft.com/office/drawing/2014/main" id="{8A2597C8-0710-4EA3-AAF2-3C4AEFA30440}"/>
              </a:ext>
            </a:extLst>
          </p:cNvPr>
          <p:cNvSpPr/>
          <p:nvPr/>
        </p:nvSpPr>
        <p:spPr>
          <a:xfrm>
            <a:off x="9372600" y="2057400"/>
            <a:ext cx="1965960" cy="105156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88F5D34B-9FB3-4420-A190-0E5D86BD4AA3}"/>
              </a:ext>
            </a:extLst>
          </p:cNvPr>
          <p:cNvSpPr/>
          <p:nvPr/>
        </p:nvSpPr>
        <p:spPr>
          <a:xfrm>
            <a:off x="9509760" y="2167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00" dirty="0"/>
          </a:p>
        </p:txBody>
      </p:sp>
      <p:sp>
        <p:nvSpPr>
          <p:cNvPr id="72" name="Text 37">
            <a:extLst>
              <a:ext uri="{FF2B5EF4-FFF2-40B4-BE49-F238E27FC236}">
                <a16:creationId xmlns:a16="http://schemas.microsoft.com/office/drawing/2014/main" id="{9CF38CB1-731B-4082-8CD5-9B5535A3AFF3}"/>
              </a:ext>
            </a:extLst>
          </p:cNvPr>
          <p:cNvSpPr/>
          <p:nvPr/>
        </p:nvSpPr>
        <p:spPr>
          <a:xfrm>
            <a:off x="9509760" y="242316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읽기 쉬운 텍스트 해설과 음성 가이드를 함께 제공</a:t>
            </a:r>
            <a:endParaRPr lang="en-US" sz="1050" dirty="0"/>
          </a:p>
        </p:txBody>
      </p:sp>
      <p:sp>
        <p:nvSpPr>
          <p:cNvPr id="73" name="Text 38">
            <a:extLst>
              <a:ext uri="{FF2B5EF4-FFF2-40B4-BE49-F238E27FC236}">
                <a16:creationId xmlns:a16="http://schemas.microsoft.com/office/drawing/2014/main" id="{6D30C5A7-8762-48F7-9F45-BF362DBD2E6F}"/>
              </a:ext>
            </a:extLst>
          </p:cNvPr>
          <p:cNvSpPr/>
          <p:nvPr/>
        </p:nvSpPr>
        <p:spPr>
          <a:xfrm>
            <a:off x="8298578" y="3442042"/>
            <a:ext cx="33413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 UI 요소</a:t>
            </a:r>
            <a:endParaRPr lang="en-US" sz="1300" dirty="0"/>
          </a:p>
        </p:txBody>
      </p:sp>
      <p:sp>
        <p:nvSpPr>
          <p:cNvPr id="74" name="Shape 39">
            <a:extLst>
              <a:ext uri="{FF2B5EF4-FFF2-40B4-BE49-F238E27FC236}">
                <a16:creationId xmlns:a16="http://schemas.microsoft.com/office/drawing/2014/main" id="{C115CB89-FAC5-447E-9C51-40F8C849B427}"/>
              </a:ext>
            </a:extLst>
          </p:cNvPr>
          <p:cNvSpPr/>
          <p:nvPr/>
        </p:nvSpPr>
        <p:spPr>
          <a:xfrm>
            <a:off x="8344298" y="3871992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DCFFE986-A8CA-4446-B8EE-A4A607154BB5}"/>
              </a:ext>
            </a:extLst>
          </p:cNvPr>
          <p:cNvSpPr/>
          <p:nvPr/>
        </p:nvSpPr>
        <p:spPr>
          <a:xfrm>
            <a:off x="8591186" y="3789696"/>
            <a:ext cx="31595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상단 대표 이미지 — 문화유산 이름 · 지역 · 관심사 배지로 현재 해설 맥락 표시</a:t>
            </a:r>
            <a:endParaRPr lang="en-US" sz="1100" dirty="0"/>
          </a:p>
        </p:txBody>
      </p:sp>
      <p:sp>
        <p:nvSpPr>
          <p:cNvPr id="76" name="Shape 41">
            <a:extLst>
              <a:ext uri="{FF2B5EF4-FFF2-40B4-BE49-F238E27FC236}">
                <a16:creationId xmlns:a16="http://schemas.microsoft.com/office/drawing/2014/main" id="{28C329CC-E239-491B-ACD9-57B27CEDD847}"/>
              </a:ext>
            </a:extLst>
          </p:cNvPr>
          <p:cNvSpPr/>
          <p:nvPr/>
        </p:nvSpPr>
        <p:spPr>
          <a:xfrm>
            <a:off x="8344298" y="4329192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42">
            <a:extLst>
              <a:ext uri="{FF2B5EF4-FFF2-40B4-BE49-F238E27FC236}">
                <a16:creationId xmlns:a16="http://schemas.microsoft.com/office/drawing/2014/main" id="{73FFFC28-3B07-4B0E-9CD7-4B2F2AB023E9}"/>
              </a:ext>
            </a:extLst>
          </p:cNvPr>
          <p:cNvSpPr/>
          <p:nvPr/>
        </p:nvSpPr>
        <p:spPr>
          <a:xfrm>
            <a:off x="8591186" y="4246896"/>
            <a:ext cx="31595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해설 카드 — 긴 텍스트를 카드 안에서 읽기 쉽게 단락화 · TTS 플레이어(재생 / 진행바 / 10초 이동)</a:t>
            </a:r>
            <a:endParaRPr lang="en-US" sz="1100" dirty="0"/>
          </a:p>
        </p:txBody>
      </p:sp>
      <p:sp>
        <p:nvSpPr>
          <p:cNvPr id="78" name="Shape 43">
            <a:extLst>
              <a:ext uri="{FF2B5EF4-FFF2-40B4-BE49-F238E27FC236}">
                <a16:creationId xmlns:a16="http://schemas.microsoft.com/office/drawing/2014/main" id="{D6072ED2-0509-48B2-80F8-873517CC238F}"/>
              </a:ext>
            </a:extLst>
          </p:cNvPr>
          <p:cNvSpPr/>
          <p:nvPr/>
        </p:nvSpPr>
        <p:spPr>
          <a:xfrm>
            <a:off x="8344298" y="4786392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44">
            <a:extLst>
              <a:ext uri="{FF2B5EF4-FFF2-40B4-BE49-F238E27FC236}">
                <a16:creationId xmlns:a16="http://schemas.microsoft.com/office/drawing/2014/main" id="{92FA4FB6-D16A-4720-9CF3-6F8E6DA5B6C7}"/>
              </a:ext>
            </a:extLst>
          </p:cNvPr>
          <p:cNvSpPr/>
          <p:nvPr/>
        </p:nvSpPr>
        <p:spPr>
          <a:xfrm>
            <a:off x="8591186" y="4704096"/>
            <a:ext cx="31595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 행동 버튼 — 심화 해설 보기, 비교 해설 보기로 사용자의 학습 깊이 확장</a:t>
            </a:r>
            <a:endParaRPr lang="en-US" sz="1100" dirty="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5B8EAD9E-39CF-4416-B3CF-7E7A38182424}"/>
              </a:ext>
            </a:extLst>
          </p:cNvPr>
          <p:cNvSpPr/>
          <p:nvPr/>
        </p:nvSpPr>
        <p:spPr>
          <a:xfrm>
            <a:off x="11279086" y="640151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35</a:t>
            </a:r>
            <a:endParaRPr lang="en-US" sz="10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4E5EA185-E821-47DF-3BC0-7F2F6AA35013}"/>
              </a:ext>
            </a:extLst>
          </p:cNvPr>
          <p:cNvSpPr/>
          <p:nvPr/>
        </p:nvSpPr>
        <p:spPr>
          <a:xfrm>
            <a:off x="82296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2단계</a:t>
            </a:r>
            <a:endParaRPr lang="en-US" sz="1200" dirty="0"/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BD5FCCA4-312A-B430-FE0F-B4D60CEBB4D0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&amp; PROTOTYPE</a:t>
            </a:r>
            <a:endParaRPr lang="en-US" altLang="ko-KR" sz="1100" dirty="0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A6C4EFC7-70B2-B839-BAFA-40248B7270F4}"/>
              </a:ext>
            </a:extLst>
          </p:cNvPr>
          <p:cNvSpPr/>
          <p:nvPr/>
        </p:nvSpPr>
        <p:spPr>
          <a:xfrm>
            <a:off x="612720" y="1245895"/>
            <a:ext cx="10965960" cy="2000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사용자의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흥미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(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카테고리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)를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프롬프트의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중심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조건으로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</a:t>
            </a:r>
            <a:endParaRPr lang="en-US" altLang="ko-KR" sz="1300" dirty="0"/>
          </a:p>
        </p:txBody>
      </p:sp>
      <p:cxnSp>
        <p:nvCxnSpPr>
          <p:cNvPr id="18" name="Connector 4">
            <a:extLst>
              <a:ext uri="{FF2B5EF4-FFF2-40B4-BE49-F238E27FC236}">
                <a16:creationId xmlns:a16="http://schemas.microsoft.com/office/drawing/2014/main" id="{325878EA-ED34-D8DC-E469-C56DDCB03004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9" name="Shape 1">
            <a:extLst>
              <a:ext uri="{FF2B5EF4-FFF2-40B4-BE49-F238E27FC236}">
                <a16:creationId xmlns:a16="http://schemas.microsoft.com/office/drawing/2014/main" id="{4D218694-660D-296D-5CDD-A3CD457D0D19}"/>
              </a:ext>
            </a:extLst>
          </p:cNvPr>
          <p:cNvSpPr/>
          <p:nvPr/>
        </p:nvSpPr>
        <p:spPr>
          <a:xfrm>
            <a:off x="575035" y="714677"/>
            <a:ext cx="502920" cy="411480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DE8A5660-E4F9-4991-F92D-02661C832054}"/>
              </a:ext>
            </a:extLst>
          </p:cNvPr>
          <p:cNvSpPr/>
          <p:nvPr/>
        </p:nvSpPr>
        <p:spPr>
          <a:xfrm>
            <a:off x="575035" y="684307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</a:rPr>
              <a:t>3</a:t>
            </a:r>
            <a:endParaRPr lang="en-US" dirty="0"/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63B7D987-275D-E91A-F04C-2D8076EEBEA3}"/>
              </a:ext>
            </a:extLst>
          </p:cNvPr>
          <p:cNvSpPr/>
          <p:nvPr/>
        </p:nvSpPr>
        <p:spPr>
          <a:xfrm>
            <a:off x="1146120" y="7370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카테고리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선택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FC4648A-580D-4A4D-8660-C38D78234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18" y="2214900"/>
            <a:ext cx="1719258" cy="32705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F316F22-8F94-4136-A05A-B384E2A19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77" y="2013421"/>
            <a:ext cx="2145978" cy="382862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01B9DB-65CA-4574-8DB3-D80B1FE0C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9872" y="2167237"/>
            <a:ext cx="1700963" cy="3120897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AFD21F51-BDA7-49D8-AC5F-F06D483B54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4796" y="5225478"/>
            <a:ext cx="1791114" cy="5931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B7FF8C-9F00-445B-B7B1-E3E440DAE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602" y="2012614"/>
            <a:ext cx="2145978" cy="38286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536F911A-2C93-4DF2-B451-3E9CE85653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94" t="10748" r="12562" b="3719"/>
          <a:stretch/>
        </p:blipFill>
        <p:spPr>
          <a:xfrm>
            <a:off x="4272994" y="2222930"/>
            <a:ext cx="1717732" cy="3516216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030F2178-3439-443A-BAC0-75DD26DF2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770" y="2141186"/>
            <a:ext cx="340523" cy="64112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466FFC1-D412-4D55-A10D-3A688AFE1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848" y="2141186"/>
            <a:ext cx="340523" cy="641124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4D5BBE26-38F9-4967-BAB4-6FD8CE2E59E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9918"/>
          <a:stretch/>
        </p:blipFill>
        <p:spPr>
          <a:xfrm>
            <a:off x="2347087" y="2141609"/>
            <a:ext cx="1529434" cy="641124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0753A660-83B0-403E-9339-65303CF5E1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4650" y="5532968"/>
            <a:ext cx="1722851" cy="236896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82296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4단계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-133625" y="58282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해설 화면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25496" y="1863523"/>
            <a:ext cx="1664204" cy="1362294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362656" y="1973251"/>
            <a:ext cx="1431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62656" y="2229283"/>
            <a:ext cx="143198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해설 화면에서 심화 해설 카드 진입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68369" y="1872759"/>
            <a:ext cx="387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79665" y="1872759"/>
            <a:ext cx="1664204" cy="1362294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416825" y="1982487"/>
            <a:ext cx="1431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처리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6825" y="2238519"/>
            <a:ext cx="143198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정보 단위를 분리해 카드별 심화 해설 생성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941016" y="1872759"/>
            <a:ext cx="387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324604" y="1872759"/>
            <a:ext cx="1664204" cy="1362294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0461764" y="1982487"/>
            <a:ext cx="1431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461764" y="2238519"/>
            <a:ext cx="145561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읽기와 듣기를 함께 제공하는 단계별 심화 학습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07110" y="3682888"/>
            <a:ext cx="23181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심화</a:t>
            </a: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3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52830" y="4130944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499718" y="4048648"/>
            <a:ext cx="25969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해설 화면에서 관심을 보인 사용자가 더 깊게 학습할 수 있는 다음 단계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49263" y="4689872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496151" y="4607576"/>
            <a:ext cx="26139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역사 · 건축 · 숨은 이야기처럼 정보 단위를 분리하여 긴 설명의 부담을 낮춤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49263" y="528429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496151" y="5202000"/>
            <a:ext cx="2650529" cy="38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각 카드에 “AI 음성 해설 듣기” 제공 · 카드별 예상 소요 시간을 표시해 학습 부담 예측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45061" y="5810617"/>
            <a:ext cx="5614171" cy="566928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245062" y="5810617"/>
            <a:ext cx="49419" cy="566928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537670" y="5810617"/>
            <a:ext cx="5232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정보 구조   </a:t>
            </a: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요약 → 세부 카드 → 해설 이어가기</a:t>
            </a:r>
            <a:endParaRPr lang="en-US" sz="1050" dirty="0"/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113B5495-AF70-4CB2-9E19-AAAA53A4FDE3}"/>
              </a:ext>
            </a:extLst>
          </p:cNvPr>
          <p:cNvSpPr/>
          <p:nvPr/>
        </p:nvSpPr>
        <p:spPr>
          <a:xfrm>
            <a:off x="3959492" y="58282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해설 화면</a:t>
            </a:r>
            <a:endParaRPr lang="en-US" sz="900" dirty="0"/>
          </a:p>
        </p:txBody>
      </p:sp>
      <p:sp>
        <p:nvSpPr>
          <p:cNvPr id="77" name="Text 33">
            <a:extLst>
              <a:ext uri="{FF2B5EF4-FFF2-40B4-BE49-F238E27FC236}">
                <a16:creationId xmlns:a16="http://schemas.microsoft.com/office/drawing/2014/main" id="{2E87279B-54D8-401E-813F-EFBE14463498}"/>
              </a:ext>
            </a:extLst>
          </p:cNvPr>
          <p:cNvSpPr/>
          <p:nvPr/>
        </p:nvSpPr>
        <p:spPr>
          <a:xfrm>
            <a:off x="6362656" y="2708419"/>
            <a:ext cx="143198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비교 해설 보기로 관련 유산과 비교 요청</a:t>
            </a:r>
            <a:endParaRPr lang="en-US" sz="1050" dirty="0"/>
          </a:p>
        </p:txBody>
      </p:sp>
      <p:sp>
        <p:nvSpPr>
          <p:cNvPr id="78" name="Text 37">
            <a:extLst>
              <a:ext uri="{FF2B5EF4-FFF2-40B4-BE49-F238E27FC236}">
                <a16:creationId xmlns:a16="http://schemas.microsoft.com/office/drawing/2014/main" id="{BCBB4294-DD11-4447-A5BD-44BCF13C8D83}"/>
              </a:ext>
            </a:extLst>
          </p:cNvPr>
          <p:cNvSpPr/>
          <p:nvPr/>
        </p:nvSpPr>
        <p:spPr>
          <a:xfrm>
            <a:off x="8416825" y="2717655"/>
            <a:ext cx="143198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유형 · 양식 · 재료 등 비교 항목을 분석 · 요약</a:t>
            </a:r>
            <a:endParaRPr lang="en-US" sz="1050" dirty="0"/>
          </a:p>
        </p:txBody>
      </p:sp>
      <p:sp>
        <p:nvSpPr>
          <p:cNvPr id="79" name="Text 41">
            <a:extLst>
              <a:ext uri="{FF2B5EF4-FFF2-40B4-BE49-F238E27FC236}">
                <a16:creationId xmlns:a16="http://schemas.microsoft.com/office/drawing/2014/main" id="{387D213C-C45A-4FC3-A28A-8E939760BE86}"/>
              </a:ext>
            </a:extLst>
          </p:cNvPr>
          <p:cNvSpPr/>
          <p:nvPr/>
        </p:nvSpPr>
        <p:spPr>
          <a:xfrm>
            <a:off x="10461764" y="2717655"/>
            <a:ext cx="143198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공통점 · 차이점과 AI 비교 요약 카드로 정리</a:t>
            </a:r>
            <a:endParaRPr lang="en-US" sz="1050" dirty="0"/>
          </a:p>
        </p:txBody>
      </p:sp>
      <p:sp>
        <p:nvSpPr>
          <p:cNvPr id="80" name="Text 42">
            <a:extLst>
              <a:ext uri="{FF2B5EF4-FFF2-40B4-BE49-F238E27FC236}">
                <a16:creationId xmlns:a16="http://schemas.microsoft.com/office/drawing/2014/main" id="{7573108B-E6AE-41FF-9AE9-4FFE94B59DA7}"/>
              </a:ext>
            </a:extLst>
          </p:cNvPr>
          <p:cNvSpPr/>
          <p:nvPr/>
        </p:nvSpPr>
        <p:spPr>
          <a:xfrm>
            <a:off x="9262246" y="3635515"/>
            <a:ext cx="25969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비교 방식</a:t>
            </a:r>
            <a:endParaRPr lang="en-US" sz="1300" dirty="0"/>
          </a:p>
        </p:txBody>
      </p:sp>
      <p:sp>
        <p:nvSpPr>
          <p:cNvPr id="81" name="Shape 43">
            <a:extLst>
              <a:ext uri="{FF2B5EF4-FFF2-40B4-BE49-F238E27FC236}">
                <a16:creationId xmlns:a16="http://schemas.microsoft.com/office/drawing/2014/main" id="{2B649346-612A-4C36-9FF8-AC4AD3B71F3D}"/>
              </a:ext>
            </a:extLst>
          </p:cNvPr>
          <p:cNvSpPr/>
          <p:nvPr/>
        </p:nvSpPr>
        <p:spPr>
          <a:xfrm>
            <a:off x="9307966" y="4083571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44">
            <a:extLst>
              <a:ext uri="{FF2B5EF4-FFF2-40B4-BE49-F238E27FC236}">
                <a16:creationId xmlns:a16="http://schemas.microsoft.com/office/drawing/2014/main" id="{9C149B89-D14F-4BC1-B76A-483032EEFA02}"/>
              </a:ext>
            </a:extLst>
          </p:cNvPr>
          <p:cNvSpPr/>
          <p:nvPr/>
        </p:nvSpPr>
        <p:spPr>
          <a:xfrm>
            <a:off x="9554854" y="4001275"/>
            <a:ext cx="25969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한눈에 비교 — 유형 · 상징 · 건립 방식 등을 표 형태로 빠르게 비교</a:t>
            </a:r>
            <a:endParaRPr lang="en-US" sz="1100" dirty="0"/>
          </a:p>
        </p:txBody>
      </p:sp>
      <p:sp>
        <p:nvSpPr>
          <p:cNvPr id="83" name="Shape 45">
            <a:extLst>
              <a:ext uri="{FF2B5EF4-FFF2-40B4-BE49-F238E27FC236}">
                <a16:creationId xmlns:a16="http://schemas.microsoft.com/office/drawing/2014/main" id="{8C2656E8-8920-46B1-93D1-6F8A59B608EC}"/>
              </a:ext>
            </a:extLst>
          </p:cNvPr>
          <p:cNvSpPr/>
          <p:nvPr/>
        </p:nvSpPr>
        <p:spPr>
          <a:xfrm>
            <a:off x="9307966" y="4641425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46">
            <a:extLst>
              <a:ext uri="{FF2B5EF4-FFF2-40B4-BE49-F238E27FC236}">
                <a16:creationId xmlns:a16="http://schemas.microsoft.com/office/drawing/2014/main" id="{9738FEEC-AC2C-43A8-B9CF-DF51373E656C}"/>
              </a:ext>
            </a:extLst>
          </p:cNvPr>
          <p:cNvSpPr/>
          <p:nvPr/>
        </p:nvSpPr>
        <p:spPr>
          <a:xfrm>
            <a:off x="9554854" y="4559128"/>
            <a:ext cx="2637146" cy="617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공통점 / 차이점 — 동일 시대, 건축 양식, 재료 차이 등을 쉬운 문장으로 설명 · 함께 보면 좋은 유물 추천</a:t>
            </a:r>
            <a:endParaRPr lang="en-US" sz="1100" dirty="0"/>
          </a:p>
        </p:txBody>
      </p:sp>
      <p:sp>
        <p:nvSpPr>
          <p:cNvPr id="85" name="Shape 47">
            <a:extLst>
              <a:ext uri="{FF2B5EF4-FFF2-40B4-BE49-F238E27FC236}">
                <a16:creationId xmlns:a16="http://schemas.microsoft.com/office/drawing/2014/main" id="{AF2F0AF3-D8E6-4EFA-A737-E20B3E22D10E}"/>
              </a:ext>
            </a:extLst>
          </p:cNvPr>
          <p:cNvSpPr/>
          <p:nvPr/>
        </p:nvSpPr>
        <p:spPr>
          <a:xfrm>
            <a:off x="9307966" y="528429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48">
            <a:extLst>
              <a:ext uri="{FF2B5EF4-FFF2-40B4-BE49-F238E27FC236}">
                <a16:creationId xmlns:a16="http://schemas.microsoft.com/office/drawing/2014/main" id="{EA4981FB-DFDC-4175-B4AF-A59F03C27BFB}"/>
              </a:ext>
            </a:extLst>
          </p:cNvPr>
          <p:cNvSpPr/>
          <p:nvPr/>
        </p:nvSpPr>
        <p:spPr>
          <a:xfrm>
            <a:off x="9554854" y="5202000"/>
            <a:ext cx="25139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비교 요약 — 긴 내용을 마지막에 짧은 해설 카드로 다시 정리</a:t>
            </a:r>
            <a:endParaRPr lang="en-US" sz="1100" dirty="0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F4170F13-0715-4128-8AEA-4A5C44CD3294}"/>
              </a:ext>
            </a:extLst>
          </p:cNvPr>
          <p:cNvSpPr/>
          <p:nvPr/>
        </p:nvSpPr>
        <p:spPr>
          <a:xfrm>
            <a:off x="11279086" y="640151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36</a:t>
            </a:r>
            <a:endParaRPr lang="en-US" sz="10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23AD44B6-6B5F-99E3-6169-8F32D126DE94}"/>
              </a:ext>
            </a:extLst>
          </p:cNvPr>
          <p:cNvSpPr/>
          <p:nvPr/>
        </p:nvSpPr>
        <p:spPr>
          <a:xfrm>
            <a:off x="82296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3단계</a:t>
            </a:r>
            <a:endParaRPr lang="en-US" sz="12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9E0529B1-3427-4A34-749B-8A7B450D3BE6}"/>
              </a:ext>
            </a:extLst>
          </p:cNvPr>
          <p:cNvSpPr/>
          <p:nvPr/>
        </p:nvSpPr>
        <p:spPr>
          <a:xfrm>
            <a:off x="82296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2단계</a:t>
            </a:r>
            <a:endParaRPr lang="en-US" sz="1200" dirty="0"/>
          </a:p>
        </p:txBody>
      </p:sp>
      <p:sp>
        <p:nvSpPr>
          <p:cNvPr id="24" name="TextBox 1">
            <a:extLst>
              <a:ext uri="{FF2B5EF4-FFF2-40B4-BE49-F238E27FC236}">
                <a16:creationId xmlns:a16="http://schemas.microsoft.com/office/drawing/2014/main" id="{9ED4DE91-5B14-8804-B7CD-2D5E22B2E6B8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&amp; PROTOTYPE</a:t>
            </a:r>
            <a:endParaRPr lang="en-US" altLang="ko-KR" sz="1100" dirty="0"/>
          </a:p>
        </p:txBody>
      </p:sp>
      <p:sp>
        <p:nvSpPr>
          <p:cNvPr id="47" name="TextBox 3">
            <a:extLst>
              <a:ext uri="{FF2B5EF4-FFF2-40B4-BE49-F238E27FC236}">
                <a16:creationId xmlns:a16="http://schemas.microsoft.com/office/drawing/2014/main" id="{65210FBA-6AC8-3FE8-493F-DB61D700F876}"/>
              </a:ext>
            </a:extLst>
          </p:cNvPr>
          <p:cNvSpPr/>
          <p:nvPr/>
        </p:nvSpPr>
        <p:spPr>
          <a:xfrm>
            <a:off x="612720" y="1245895"/>
            <a:ext cx="10965960" cy="4001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역사적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배경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건축적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특징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숨은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이야기를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카드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단위로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확장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/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비슷한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시대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유형의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유산과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비</a:t>
            </a:r>
            <a:r>
              <a:rPr lang="ko-KR" altLang="en-US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교</a:t>
            </a:r>
            <a:endParaRPr lang="en-US" altLang="ko-KR" sz="1300" dirty="0"/>
          </a:p>
          <a:p>
            <a:endParaRPr lang="en-US" altLang="ko-KR" sz="1300" dirty="0"/>
          </a:p>
        </p:txBody>
      </p:sp>
      <p:cxnSp>
        <p:nvCxnSpPr>
          <p:cNvPr id="48" name="Connector 4">
            <a:extLst>
              <a:ext uri="{FF2B5EF4-FFF2-40B4-BE49-F238E27FC236}">
                <a16:creationId xmlns:a16="http://schemas.microsoft.com/office/drawing/2014/main" id="{46AF0923-6511-4162-8BCF-0E7D8D784CF0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50" name="Shape 1">
            <a:extLst>
              <a:ext uri="{FF2B5EF4-FFF2-40B4-BE49-F238E27FC236}">
                <a16:creationId xmlns:a16="http://schemas.microsoft.com/office/drawing/2014/main" id="{D651E5CA-240F-2A3D-10D2-FFAA14332D85}"/>
              </a:ext>
            </a:extLst>
          </p:cNvPr>
          <p:cNvSpPr/>
          <p:nvPr/>
        </p:nvSpPr>
        <p:spPr>
          <a:xfrm>
            <a:off x="575035" y="714677"/>
            <a:ext cx="502920" cy="411480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BBDDDD9B-4A1D-3761-F874-29FE10456101}"/>
              </a:ext>
            </a:extLst>
          </p:cNvPr>
          <p:cNvSpPr/>
          <p:nvPr/>
        </p:nvSpPr>
        <p:spPr>
          <a:xfrm>
            <a:off x="575035" y="684307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</a:rPr>
              <a:t>4</a:t>
            </a:r>
            <a:endParaRPr lang="en-US" dirty="0"/>
          </a:p>
        </p:txBody>
      </p:sp>
      <p:sp>
        <p:nvSpPr>
          <p:cNvPr id="52" name="TextBox 2">
            <a:extLst>
              <a:ext uri="{FF2B5EF4-FFF2-40B4-BE49-F238E27FC236}">
                <a16:creationId xmlns:a16="http://schemas.microsoft.com/office/drawing/2014/main" id="{22B7635D-F3AD-E6B5-30AB-8E3E45A79A8D}"/>
              </a:ext>
            </a:extLst>
          </p:cNvPr>
          <p:cNvSpPr/>
          <p:nvPr/>
        </p:nvSpPr>
        <p:spPr>
          <a:xfrm>
            <a:off x="1146120" y="7370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심화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/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비교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</a:t>
            </a:r>
            <a:endParaRPr lang="en-US" altLang="ko-KR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46DB07-0486-4851-A2A3-953B8764BE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487" y="2132461"/>
            <a:ext cx="1810696" cy="36452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0D34A15-77D5-45FE-80EE-CB971F4C5A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66" y="1999663"/>
            <a:ext cx="2145978" cy="38286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55422E3-97CA-4BED-BF55-E30CDE01CC0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3160"/>
          <a:stretch/>
        </p:blipFill>
        <p:spPr>
          <a:xfrm>
            <a:off x="2347487" y="3311528"/>
            <a:ext cx="1529434" cy="24531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6639008-4F6C-4B35-80E7-C8889DED7F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8673" y="1995040"/>
            <a:ext cx="2145978" cy="38286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72FD810-AB56-4A11-9FB1-CE05F7A714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2584" y="1999663"/>
            <a:ext cx="2145978" cy="3828620"/>
          </a:xfrm>
          <a:prstGeom prst="rect">
            <a:avLst/>
          </a:prstGeom>
        </p:spPr>
      </p:pic>
      <p:sp>
        <p:nvSpPr>
          <p:cNvPr id="74" name="Text 30">
            <a:extLst>
              <a:ext uri="{FF2B5EF4-FFF2-40B4-BE49-F238E27FC236}">
                <a16:creationId xmlns:a16="http://schemas.microsoft.com/office/drawing/2014/main" id="{9EBEC6E6-D294-43D0-9ADD-26FEFF11E58A}"/>
              </a:ext>
            </a:extLst>
          </p:cNvPr>
          <p:cNvSpPr/>
          <p:nvPr/>
        </p:nvSpPr>
        <p:spPr>
          <a:xfrm>
            <a:off x="1900224" y="58236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</a:t>
            </a: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해설 화면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7"/>
          <p:cNvSpPr/>
          <p:nvPr/>
        </p:nvSpPr>
        <p:spPr>
          <a:xfrm>
            <a:off x="6188562" y="1846206"/>
            <a:ext cx="1691366" cy="778078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325722" y="1955934"/>
            <a:ext cx="1588916" cy="262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25722" y="2211966"/>
            <a:ext cx="1503482" cy="37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altLang="ko-KR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</a:t>
            </a:r>
            <a:r>
              <a:rPr lang="ko-KR" alt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 확인 후 관련 유산 추천 확인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22206" y="1846206"/>
            <a:ext cx="429437" cy="100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24266" y="1846206"/>
            <a:ext cx="1691366" cy="778078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361426" y="1955934"/>
            <a:ext cx="1588916" cy="262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처리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45183" y="2171554"/>
            <a:ext cx="1482280" cy="442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지식 그래프 </a:t>
            </a:r>
            <a:r>
              <a:rPr lang="en-US" sz="1050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기반으로</a:t>
            </a: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관련</a:t>
            </a: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유산을 매칭 · 추천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913323" y="1846206"/>
            <a:ext cx="429437" cy="100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296910" y="1846206"/>
            <a:ext cx="1691366" cy="778078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0434070" y="1955934"/>
            <a:ext cx="1588916" cy="262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434070" y="2211966"/>
            <a:ext cx="1373429" cy="339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관심사 </a:t>
            </a:r>
            <a:r>
              <a:rPr lang="en-US" sz="1050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연결</a:t>
            </a: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1050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방문지</a:t>
            </a: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경험을 자연스럽게 확장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88562" y="3919867"/>
            <a:ext cx="1669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추천 화면의 역할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35450" y="4322190"/>
            <a:ext cx="2542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하나의 해설을 듣고 끝나는 것이 아니라, 관련 유산으로 경험을 확장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35451" y="4779390"/>
            <a:ext cx="24059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관련 키워드 </a:t>
            </a:r>
            <a:r>
              <a:rPr lang="en-US" altLang="ko-KR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· </a:t>
            </a: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지역 </a:t>
            </a:r>
            <a:r>
              <a:rPr lang="en-US" altLang="ko-KR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· </a:t>
            </a: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추천 이유</a:t>
            </a: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를 함께 보여줘 추천이 임의적이지 않도록 설계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35451" y="5236590"/>
            <a:ext cx="24059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 종료하기로 사용자가 흐름을 통제 가능 · 즐겨찾기 아이콘으로 나중에 방문할 유산 저장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43783" y="5952275"/>
            <a:ext cx="5434897" cy="566928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6143783" y="5952275"/>
            <a:ext cx="46234" cy="566928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9" name="Text 47"/>
          <p:cNvSpPr/>
          <p:nvPr/>
        </p:nvSpPr>
        <p:spPr>
          <a:xfrm>
            <a:off x="6436391" y="5952275"/>
            <a:ext cx="52784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altLang="ko-KR" sz="1000" b="1" dirty="0" err="1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</a:t>
            </a:r>
            <a:r>
              <a:rPr lang="en-US" altLang="ko-KR" sz="10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 </a:t>
            </a:r>
            <a:r>
              <a:rPr lang="en-US" altLang="ko-KR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</a:t>
            </a:r>
            <a:r>
              <a:rPr lang="en-US" altLang="ko-KR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맥락과</a:t>
            </a:r>
            <a:r>
              <a:rPr lang="en-US" altLang="ko-KR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연결된</a:t>
            </a:r>
            <a:r>
              <a:rPr lang="en-US" altLang="ko-KR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후속</a:t>
            </a:r>
            <a:r>
              <a:rPr lang="en-US" altLang="ko-KR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학습</a:t>
            </a:r>
            <a:r>
              <a:rPr lang="en-US" altLang="ko-KR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/ </a:t>
            </a:r>
            <a:r>
              <a:rPr lang="en-US" altLang="ko-KR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감상</a:t>
            </a:r>
            <a:r>
              <a:rPr lang="en-US" altLang="ko-KR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경로</a:t>
            </a:r>
            <a:r>
              <a:rPr lang="en-US" altLang="ko-KR" sz="10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05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제공</a:t>
            </a:r>
            <a:endParaRPr lang="en-US" altLang="ko-KR" sz="1000" dirty="0"/>
          </a:p>
        </p:txBody>
      </p:sp>
      <p:sp>
        <p:nvSpPr>
          <p:cNvPr id="56" name="Text 39">
            <a:extLst>
              <a:ext uri="{FF2B5EF4-FFF2-40B4-BE49-F238E27FC236}">
                <a16:creationId xmlns:a16="http://schemas.microsoft.com/office/drawing/2014/main" id="{F9CB7888-A588-44A4-843B-03DF967EA5C4}"/>
              </a:ext>
            </a:extLst>
          </p:cNvPr>
          <p:cNvSpPr/>
          <p:nvPr/>
        </p:nvSpPr>
        <p:spPr>
          <a:xfrm>
            <a:off x="9105805" y="3909360"/>
            <a:ext cx="324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추천 로직을 UI에 드러내기</a:t>
            </a:r>
            <a:endParaRPr lang="en-US" sz="1300" dirty="0"/>
          </a:p>
        </p:txBody>
      </p:sp>
      <p:sp>
        <p:nvSpPr>
          <p:cNvPr id="57" name="Shape 40">
            <a:extLst>
              <a:ext uri="{FF2B5EF4-FFF2-40B4-BE49-F238E27FC236}">
                <a16:creationId xmlns:a16="http://schemas.microsoft.com/office/drawing/2014/main" id="{8E211787-55DF-41BC-952A-B8E1A667DB4F}"/>
              </a:ext>
            </a:extLst>
          </p:cNvPr>
          <p:cNvSpPr/>
          <p:nvPr/>
        </p:nvSpPr>
        <p:spPr>
          <a:xfrm>
            <a:off x="9151525" y="435741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1">
            <a:extLst>
              <a:ext uri="{FF2B5EF4-FFF2-40B4-BE49-F238E27FC236}">
                <a16:creationId xmlns:a16="http://schemas.microsoft.com/office/drawing/2014/main" id="{8FACC652-1230-4C3C-AE12-24E79923D24B}"/>
              </a:ext>
            </a:extLst>
          </p:cNvPr>
          <p:cNvSpPr/>
          <p:nvPr/>
        </p:nvSpPr>
        <p:spPr>
          <a:xfrm>
            <a:off x="9398413" y="4275120"/>
            <a:ext cx="25898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탐색한 유산 · 시대 · 인물 · 건축 양식 · 종교 · 예술 키워드와 연결된 K-콘텐츠 추천</a:t>
            </a:r>
            <a:endParaRPr lang="en-US" sz="1100" dirty="0"/>
          </a:p>
        </p:txBody>
      </p:sp>
      <p:sp>
        <p:nvSpPr>
          <p:cNvPr id="59" name="Shape 42">
            <a:extLst>
              <a:ext uri="{FF2B5EF4-FFF2-40B4-BE49-F238E27FC236}">
                <a16:creationId xmlns:a16="http://schemas.microsoft.com/office/drawing/2014/main" id="{C0593AF8-7368-4F85-BAB8-3097EBF15802}"/>
              </a:ext>
            </a:extLst>
          </p:cNvPr>
          <p:cNvSpPr/>
          <p:nvPr/>
        </p:nvSpPr>
        <p:spPr>
          <a:xfrm>
            <a:off x="9151525" y="481461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43">
            <a:extLst>
              <a:ext uri="{FF2B5EF4-FFF2-40B4-BE49-F238E27FC236}">
                <a16:creationId xmlns:a16="http://schemas.microsoft.com/office/drawing/2014/main" id="{4405C0C9-9058-4B8C-BE56-C3026C4A37EF}"/>
              </a:ext>
            </a:extLst>
          </p:cNvPr>
          <p:cNvSpPr/>
          <p:nvPr/>
        </p:nvSpPr>
        <p:spPr>
          <a:xfrm>
            <a:off x="9398413" y="4732320"/>
            <a:ext cx="27136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콘텐츠 카드는 포스터 / 썸네일 · 유형 · 제목 · 관련 해시태그 · 추천 이유로 구성</a:t>
            </a:r>
            <a:endParaRPr lang="en-US" sz="1100" dirty="0"/>
          </a:p>
        </p:txBody>
      </p:sp>
      <p:sp>
        <p:nvSpPr>
          <p:cNvPr id="61" name="Shape 44">
            <a:extLst>
              <a:ext uri="{FF2B5EF4-FFF2-40B4-BE49-F238E27FC236}">
                <a16:creationId xmlns:a16="http://schemas.microsoft.com/office/drawing/2014/main" id="{4FF302B5-39FF-43B6-A5DC-94B3B2F23EEB}"/>
              </a:ext>
            </a:extLst>
          </p:cNvPr>
          <p:cNvSpPr/>
          <p:nvPr/>
        </p:nvSpPr>
        <p:spPr>
          <a:xfrm>
            <a:off x="9151525" y="527181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5">
            <a:extLst>
              <a:ext uri="{FF2B5EF4-FFF2-40B4-BE49-F238E27FC236}">
                <a16:creationId xmlns:a16="http://schemas.microsoft.com/office/drawing/2014/main" id="{8ADC6B5E-5EF8-4669-BAB0-B5D72C87DACC}"/>
              </a:ext>
            </a:extLst>
          </p:cNvPr>
          <p:cNvSpPr/>
          <p:nvPr/>
        </p:nvSpPr>
        <p:spPr>
          <a:xfrm>
            <a:off x="9405305" y="5232552"/>
            <a:ext cx="2582971" cy="105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“왜 추천하나요?” 박스로 추천 근거 제시 · </a:t>
            </a:r>
            <a:r>
              <a:rPr lang="en-US" sz="11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</a:t>
            </a: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맥락 연계 (영화 · 드라마 · 다큐 · 도서 · 웹툰 · 전시 · 유튜브)</a:t>
            </a:r>
            <a:endParaRPr lang="en-US" sz="1100" dirty="0"/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10F5E841-EF25-4EFE-8B19-3AEC810A04FD}"/>
              </a:ext>
            </a:extLst>
          </p:cNvPr>
          <p:cNvSpPr/>
          <p:nvPr/>
        </p:nvSpPr>
        <p:spPr>
          <a:xfrm>
            <a:off x="6181670" y="2848210"/>
            <a:ext cx="1691366" cy="972168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70597891-95D2-4BB5-9A99-78FDE35C074D}"/>
              </a:ext>
            </a:extLst>
          </p:cNvPr>
          <p:cNvSpPr/>
          <p:nvPr/>
        </p:nvSpPr>
        <p:spPr>
          <a:xfrm>
            <a:off x="6318830" y="2957938"/>
            <a:ext cx="1588916" cy="202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</a:t>
            </a:r>
            <a:endParaRPr lang="en-US" sz="900" dirty="0"/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9C5FDCC8-74D8-4187-9B68-8981CC9138B4}"/>
              </a:ext>
            </a:extLst>
          </p:cNvPr>
          <p:cNvSpPr/>
          <p:nvPr/>
        </p:nvSpPr>
        <p:spPr>
          <a:xfrm>
            <a:off x="6318830" y="3213970"/>
            <a:ext cx="1412226" cy="53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ko-KR" alt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사용자가 유산 추천 흐름을 종료하면 관련 </a:t>
            </a:r>
            <a:endParaRPr lang="en-US" altLang="ko-KR" sz="1050" dirty="0">
              <a:solidFill>
                <a:srgbClr val="1A1A1A"/>
              </a:solidFill>
              <a:latin typeface="Nanum Myeongjo" pitchFamily="34" charset="0"/>
              <a:ea typeface="Nanum Myeongjo" pitchFamily="34" charset="-122"/>
              <a:cs typeface="Nanum Myeongjo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altLang="ko-KR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K-</a:t>
            </a:r>
            <a:r>
              <a:rPr lang="ko-KR" alt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콘텐츠 탐색</a:t>
            </a:r>
            <a:endParaRPr lang="en-US" sz="1050" dirty="0"/>
          </a:p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41DC57DE-EE1D-4203-82DD-F74CC7B5B3F9}"/>
              </a:ext>
            </a:extLst>
          </p:cNvPr>
          <p:cNvSpPr/>
          <p:nvPr/>
        </p:nvSpPr>
        <p:spPr>
          <a:xfrm>
            <a:off x="7813132" y="2940570"/>
            <a:ext cx="429437" cy="7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67" name="Shape 32">
            <a:extLst>
              <a:ext uri="{FF2B5EF4-FFF2-40B4-BE49-F238E27FC236}">
                <a16:creationId xmlns:a16="http://schemas.microsoft.com/office/drawing/2014/main" id="{AAB3C372-1D6A-4880-96CB-096DD8EDC681}"/>
              </a:ext>
            </a:extLst>
          </p:cNvPr>
          <p:cNvSpPr/>
          <p:nvPr/>
        </p:nvSpPr>
        <p:spPr>
          <a:xfrm>
            <a:off x="8217374" y="2848210"/>
            <a:ext cx="1691366" cy="972168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A796415B-3AEE-4BC1-AEE4-6E31823D6035}"/>
              </a:ext>
            </a:extLst>
          </p:cNvPr>
          <p:cNvSpPr/>
          <p:nvPr/>
        </p:nvSpPr>
        <p:spPr>
          <a:xfrm>
            <a:off x="8354534" y="2957938"/>
            <a:ext cx="1588916" cy="202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처리</a:t>
            </a:r>
            <a:endParaRPr lang="en-US" sz="900" dirty="0"/>
          </a:p>
        </p:txBody>
      </p:sp>
      <p:sp>
        <p:nvSpPr>
          <p:cNvPr id="69" name="Text 34">
            <a:extLst>
              <a:ext uri="{FF2B5EF4-FFF2-40B4-BE49-F238E27FC236}">
                <a16:creationId xmlns:a16="http://schemas.microsoft.com/office/drawing/2014/main" id="{387DD1A4-CA31-4AF5-B95E-88B4A0C5B3BF}"/>
              </a:ext>
            </a:extLst>
          </p:cNvPr>
          <p:cNvSpPr/>
          <p:nvPr/>
        </p:nvSpPr>
        <p:spPr>
          <a:xfrm>
            <a:off x="8354534" y="3213970"/>
            <a:ext cx="1432875" cy="46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탐색 유산 · 시대 · 인물 키워드와 콘텐츠를 연결</a:t>
            </a:r>
            <a:endParaRPr lang="en-US" sz="1050" dirty="0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B3255024-0D6C-4080-A97F-5AAA76E79E50}"/>
              </a:ext>
            </a:extLst>
          </p:cNvPr>
          <p:cNvSpPr/>
          <p:nvPr/>
        </p:nvSpPr>
        <p:spPr>
          <a:xfrm>
            <a:off x="9915665" y="2940570"/>
            <a:ext cx="429437" cy="7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71" name="Shape 36">
            <a:extLst>
              <a:ext uri="{FF2B5EF4-FFF2-40B4-BE49-F238E27FC236}">
                <a16:creationId xmlns:a16="http://schemas.microsoft.com/office/drawing/2014/main" id="{F23AB8CB-1AB4-4BBB-B0C8-16AC1A2C399A}"/>
              </a:ext>
            </a:extLst>
          </p:cNvPr>
          <p:cNvSpPr/>
          <p:nvPr/>
        </p:nvSpPr>
        <p:spPr>
          <a:xfrm>
            <a:off x="10296910" y="2848210"/>
            <a:ext cx="1684474" cy="972168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37">
            <a:extLst>
              <a:ext uri="{FF2B5EF4-FFF2-40B4-BE49-F238E27FC236}">
                <a16:creationId xmlns:a16="http://schemas.microsoft.com/office/drawing/2014/main" id="{FA5E0EC6-D88A-4FCA-AA23-6A0AB5377717}"/>
              </a:ext>
            </a:extLst>
          </p:cNvPr>
          <p:cNvSpPr/>
          <p:nvPr/>
        </p:nvSpPr>
        <p:spPr>
          <a:xfrm>
            <a:off x="10427178" y="2957938"/>
            <a:ext cx="1588916" cy="202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00" dirty="0"/>
          </a:p>
        </p:txBody>
      </p:sp>
      <p:sp>
        <p:nvSpPr>
          <p:cNvPr id="73" name="Text 38">
            <a:extLst>
              <a:ext uri="{FF2B5EF4-FFF2-40B4-BE49-F238E27FC236}">
                <a16:creationId xmlns:a16="http://schemas.microsoft.com/office/drawing/2014/main" id="{887F8C24-6307-4FEF-9558-C1A252F38C9F}"/>
              </a:ext>
            </a:extLst>
          </p:cNvPr>
          <p:cNvSpPr/>
          <p:nvPr/>
        </p:nvSpPr>
        <p:spPr>
          <a:xfrm>
            <a:off x="10473358" y="3213970"/>
            <a:ext cx="1380321" cy="59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 맥락과 이어지는 후속 학습 · 감상 경로 제공</a:t>
            </a:r>
            <a:endParaRPr lang="en-US" sz="1050" dirty="0"/>
          </a:p>
        </p:txBody>
      </p:sp>
      <p:sp>
        <p:nvSpPr>
          <p:cNvPr id="78" name="Text 21">
            <a:extLst>
              <a:ext uri="{FF2B5EF4-FFF2-40B4-BE49-F238E27FC236}">
                <a16:creationId xmlns:a16="http://schemas.microsoft.com/office/drawing/2014/main" id="{A2973CE5-DD86-47C4-A13A-CAB92B7AC231}"/>
              </a:ext>
            </a:extLst>
          </p:cNvPr>
          <p:cNvSpPr/>
          <p:nvPr/>
        </p:nvSpPr>
        <p:spPr>
          <a:xfrm>
            <a:off x="11279086" y="640151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37</a:t>
            </a:r>
            <a:endParaRPr lang="en-US" sz="10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E78EFE7A-0F46-8993-A99D-58B9481BE624}"/>
              </a:ext>
            </a:extLst>
          </p:cNvPr>
          <p:cNvSpPr/>
          <p:nvPr/>
        </p:nvSpPr>
        <p:spPr>
          <a:xfrm>
            <a:off x="82296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4단계</a:t>
            </a:r>
            <a:endParaRPr lang="en-US" sz="1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6370957-5FED-4108-8ECA-45E5BE752839}"/>
              </a:ext>
            </a:extLst>
          </p:cNvPr>
          <p:cNvSpPr/>
          <p:nvPr/>
        </p:nvSpPr>
        <p:spPr>
          <a:xfrm>
            <a:off x="82296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3단계</a:t>
            </a:r>
            <a:endParaRPr lang="en-US" sz="12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67391FBD-7C04-AEFF-4A72-E56DE7AB8BD9}"/>
              </a:ext>
            </a:extLst>
          </p:cNvPr>
          <p:cNvSpPr/>
          <p:nvPr/>
        </p:nvSpPr>
        <p:spPr>
          <a:xfrm>
            <a:off x="82296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2단계</a:t>
            </a:r>
            <a:endParaRPr lang="en-US" sz="1200" dirty="0"/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189D12B8-4B17-7B2B-DC44-7BECA32A5665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&amp; PROTOTYPE</a:t>
            </a:r>
            <a:endParaRPr lang="en-US" altLang="ko-KR" sz="1100" dirty="0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0972FDEE-D65A-DB05-506E-FDE1C37ED81E}"/>
              </a:ext>
            </a:extLst>
          </p:cNvPr>
          <p:cNvSpPr/>
          <p:nvPr/>
        </p:nvSpPr>
        <p:spPr>
          <a:xfrm>
            <a:off x="612720" y="1245895"/>
            <a:ext cx="10965960" cy="4154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ko-KR" altLang="en-US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오늘의 해설과 이어지는 콘텐츠 추천</a:t>
            </a:r>
            <a:endParaRPr lang="en-US" altLang="ko-KR" sz="1400" dirty="0"/>
          </a:p>
          <a:p>
            <a:endParaRPr lang="en-US" altLang="ko-KR" sz="1300" dirty="0"/>
          </a:p>
        </p:txBody>
      </p:sp>
      <p:cxnSp>
        <p:nvCxnSpPr>
          <p:cNvPr id="14" name="Connector 4">
            <a:extLst>
              <a:ext uri="{FF2B5EF4-FFF2-40B4-BE49-F238E27FC236}">
                <a16:creationId xmlns:a16="http://schemas.microsoft.com/office/drawing/2014/main" id="{24952CB4-68BC-D663-93CB-7AF86DBA76B9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5" name="Shape 1">
            <a:extLst>
              <a:ext uri="{FF2B5EF4-FFF2-40B4-BE49-F238E27FC236}">
                <a16:creationId xmlns:a16="http://schemas.microsoft.com/office/drawing/2014/main" id="{4FAE2D9E-3C2C-531D-1DF1-9D2B28874389}"/>
              </a:ext>
            </a:extLst>
          </p:cNvPr>
          <p:cNvSpPr/>
          <p:nvPr/>
        </p:nvSpPr>
        <p:spPr>
          <a:xfrm>
            <a:off x="575035" y="714677"/>
            <a:ext cx="502920" cy="411480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F51F6B9-BA89-1C0E-CF7E-98A540FCAD2C}"/>
              </a:ext>
            </a:extLst>
          </p:cNvPr>
          <p:cNvSpPr/>
          <p:nvPr/>
        </p:nvSpPr>
        <p:spPr>
          <a:xfrm>
            <a:off x="575035" y="684307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</a:rPr>
              <a:t>5</a:t>
            </a:r>
            <a:endParaRPr lang="en-US" dirty="0"/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668F9754-3658-09FF-D351-C1CF1BEBDE42}"/>
              </a:ext>
            </a:extLst>
          </p:cNvPr>
          <p:cNvSpPr/>
          <p:nvPr/>
        </p:nvSpPr>
        <p:spPr>
          <a:xfrm>
            <a:off x="1146120" y="7370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유산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추천</a:t>
            </a:r>
            <a:endParaRPr lang="en-US" altLang="ko-KR" sz="2400" dirty="0"/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3936CBCD-DA6F-4F00-BBAA-3334A78CA4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94" t="10748" r="12562" b="3719"/>
          <a:stretch/>
        </p:blipFill>
        <p:spPr>
          <a:xfrm>
            <a:off x="4272994" y="2222930"/>
            <a:ext cx="1717732" cy="3516216"/>
          </a:xfrm>
          <a:prstGeom prst="rect">
            <a:avLst/>
          </a:prstGeom>
        </p:spPr>
      </p:pic>
      <p:pic>
        <p:nvPicPr>
          <p:cNvPr id="116" name="그림 115">
            <a:extLst>
              <a:ext uri="{FF2B5EF4-FFF2-40B4-BE49-F238E27FC236}">
                <a16:creationId xmlns:a16="http://schemas.microsoft.com/office/drawing/2014/main" id="{1D8D2661-02F4-450D-9CCE-8D8A0A5B8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770" y="2141186"/>
            <a:ext cx="340523" cy="641124"/>
          </a:xfrm>
          <a:prstGeom prst="rect">
            <a:avLst/>
          </a:prstGeom>
        </p:spPr>
      </p:pic>
      <p:pic>
        <p:nvPicPr>
          <p:cNvPr id="117" name="그림 116">
            <a:extLst>
              <a:ext uri="{FF2B5EF4-FFF2-40B4-BE49-F238E27FC236}">
                <a16:creationId xmlns:a16="http://schemas.microsoft.com/office/drawing/2014/main" id="{B32BEC1D-1593-4C85-B9AE-9565BAF4D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848" y="2141186"/>
            <a:ext cx="340523" cy="641124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CA65911C-CE9D-4BEC-B133-F6CFB67240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9918"/>
          <a:stretch/>
        </p:blipFill>
        <p:spPr>
          <a:xfrm>
            <a:off x="2347087" y="2141609"/>
            <a:ext cx="1529434" cy="641124"/>
          </a:xfrm>
          <a:prstGeom prst="rect">
            <a:avLst/>
          </a:prstGeom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id="{926D8025-7104-4B93-8964-3A3AB41F75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4650" y="5532968"/>
            <a:ext cx="1722851" cy="236896"/>
          </a:xfrm>
          <a:prstGeom prst="rect">
            <a:avLst/>
          </a:prstGeom>
        </p:spPr>
      </p:pic>
      <p:sp>
        <p:nvSpPr>
          <p:cNvPr id="120" name="Text 23">
            <a:extLst>
              <a:ext uri="{FF2B5EF4-FFF2-40B4-BE49-F238E27FC236}">
                <a16:creationId xmlns:a16="http://schemas.microsoft.com/office/drawing/2014/main" id="{CF6FC9F7-FCC4-4E89-9651-87145A24E8EE}"/>
              </a:ext>
            </a:extLst>
          </p:cNvPr>
          <p:cNvSpPr/>
          <p:nvPr/>
        </p:nvSpPr>
        <p:spPr>
          <a:xfrm>
            <a:off x="-133625" y="58282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dirty="0" err="1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유산</a:t>
            </a:r>
            <a:r>
              <a:rPr lang="en-US" altLang="ko-KR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dirty="0" err="1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r>
              <a:rPr lang="en-US" altLang="ko-KR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화면</a:t>
            </a:r>
            <a:endParaRPr lang="en-US" altLang="ko-KR" sz="900" dirty="0"/>
          </a:p>
        </p:txBody>
      </p:sp>
      <p:sp>
        <p:nvSpPr>
          <p:cNvPr id="125" name="Text 30">
            <a:extLst>
              <a:ext uri="{FF2B5EF4-FFF2-40B4-BE49-F238E27FC236}">
                <a16:creationId xmlns:a16="http://schemas.microsoft.com/office/drawing/2014/main" id="{DF301FF8-5214-4EA7-A1D0-5E8AD8D1E043}"/>
              </a:ext>
            </a:extLst>
          </p:cNvPr>
          <p:cNvSpPr/>
          <p:nvPr/>
        </p:nvSpPr>
        <p:spPr>
          <a:xfrm>
            <a:off x="3959492" y="58282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</a:t>
            </a:r>
            <a:r>
              <a:rPr lang="en-US" altLang="ko-KR" sz="900" dirty="0" err="1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</a:t>
            </a:r>
            <a:r>
              <a:rPr lang="en-US" altLang="ko-KR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dirty="0" err="1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r>
              <a:rPr lang="en-US" altLang="ko-KR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dirty="0" err="1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altLang="ko-KR" sz="900" dirty="0"/>
          </a:p>
        </p:txBody>
      </p:sp>
      <p:pic>
        <p:nvPicPr>
          <p:cNvPr id="126" name="그림 125">
            <a:extLst>
              <a:ext uri="{FF2B5EF4-FFF2-40B4-BE49-F238E27FC236}">
                <a16:creationId xmlns:a16="http://schemas.microsoft.com/office/drawing/2014/main" id="{0312E437-7DE9-4B6D-A729-AB3BEFBAC3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487" y="2132461"/>
            <a:ext cx="1810696" cy="3645218"/>
          </a:xfrm>
          <a:prstGeom prst="rect">
            <a:avLst/>
          </a:prstGeom>
        </p:spPr>
      </p:pic>
      <p:pic>
        <p:nvPicPr>
          <p:cNvPr id="127" name="그림 126">
            <a:extLst>
              <a:ext uri="{FF2B5EF4-FFF2-40B4-BE49-F238E27FC236}">
                <a16:creationId xmlns:a16="http://schemas.microsoft.com/office/drawing/2014/main" id="{1F0A5F7B-7971-415E-B429-68E669F9A4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66" y="1999663"/>
            <a:ext cx="2145978" cy="3828620"/>
          </a:xfrm>
          <a:prstGeom prst="rect">
            <a:avLst/>
          </a:prstGeom>
        </p:spPr>
      </p:pic>
      <p:pic>
        <p:nvPicPr>
          <p:cNvPr id="128" name="그림 127">
            <a:extLst>
              <a:ext uri="{FF2B5EF4-FFF2-40B4-BE49-F238E27FC236}">
                <a16:creationId xmlns:a16="http://schemas.microsoft.com/office/drawing/2014/main" id="{54A9CB32-A88C-4842-AD5D-0EEB35B02F0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3160"/>
          <a:stretch/>
        </p:blipFill>
        <p:spPr>
          <a:xfrm>
            <a:off x="2347487" y="3311528"/>
            <a:ext cx="1529434" cy="2453192"/>
          </a:xfrm>
          <a:prstGeom prst="rect">
            <a:avLst/>
          </a:prstGeom>
        </p:spPr>
      </p:pic>
      <p:pic>
        <p:nvPicPr>
          <p:cNvPr id="129" name="그림 128">
            <a:extLst>
              <a:ext uri="{FF2B5EF4-FFF2-40B4-BE49-F238E27FC236}">
                <a16:creationId xmlns:a16="http://schemas.microsoft.com/office/drawing/2014/main" id="{44551847-296A-414B-AE00-55E51A99F2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8673" y="1995040"/>
            <a:ext cx="2145978" cy="3828620"/>
          </a:xfrm>
          <a:prstGeom prst="rect">
            <a:avLst/>
          </a:prstGeom>
        </p:spPr>
      </p:pic>
      <p:pic>
        <p:nvPicPr>
          <p:cNvPr id="130" name="그림 129">
            <a:extLst>
              <a:ext uri="{FF2B5EF4-FFF2-40B4-BE49-F238E27FC236}">
                <a16:creationId xmlns:a16="http://schemas.microsoft.com/office/drawing/2014/main" id="{04A15576-7FB5-41BE-A9E8-35CF99FFB6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2584" y="1999663"/>
            <a:ext cx="2145978" cy="3828620"/>
          </a:xfrm>
          <a:prstGeom prst="rect">
            <a:avLst/>
          </a:prstGeom>
        </p:spPr>
      </p:pic>
      <p:sp>
        <p:nvSpPr>
          <p:cNvPr id="131" name="Text 30">
            <a:extLst>
              <a:ext uri="{FF2B5EF4-FFF2-40B4-BE49-F238E27FC236}">
                <a16:creationId xmlns:a16="http://schemas.microsoft.com/office/drawing/2014/main" id="{27AE730E-65EF-4D2A-BE7C-55EDC20142D4}"/>
              </a:ext>
            </a:extLst>
          </p:cNvPr>
          <p:cNvSpPr/>
          <p:nvPr/>
        </p:nvSpPr>
        <p:spPr>
          <a:xfrm>
            <a:off x="1900224" y="58236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dirty="0" err="1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r>
              <a:rPr lang="en-US" altLang="ko-KR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dirty="0" err="1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유산</a:t>
            </a:r>
            <a:r>
              <a:rPr lang="en-US" altLang="ko-KR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dirty="0" err="1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r>
              <a:rPr lang="en-US" altLang="ko-KR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dirty="0" err="1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altLang="ko-KR" sz="900" dirty="0"/>
          </a:p>
        </p:txBody>
      </p:sp>
      <p:sp>
        <p:nvSpPr>
          <p:cNvPr id="135" name="Shape 40">
            <a:extLst>
              <a:ext uri="{FF2B5EF4-FFF2-40B4-BE49-F238E27FC236}">
                <a16:creationId xmlns:a16="http://schemas.microsoft.com/office/drawing/2014/main" id="{B2D7D787-DE62-45B4-A2BD-F229B1375586}"/>
              </a:ext>
            </a:extLst>
          </p:cNvPr>
          <p:cNvSpPr/>
          <p:nvPr/>
        </p:nvSpPr>
        <p:spPr>
          <a:xfrm>
            <a:off x="6181670" y="4405844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42">
            <a:extLst>
              <a:ext uri="{FF2B5EF4-FFF2-40B4-BE49-F238E27FC236}">
                <a16:creationId xmlns:a16="http://schemas.microsoft.com/office/drawing/2014/main" id="{68265063-2A9A-4013-AE54-6E6C3C4F4100}"/>
              </a:ext>
            </a:extLst>
          </p:cNvPr>
          <p:cNvSpPr/>
          <p:nvPr/>
        </p:nvSpPr>
        <p:spPr>
          <a:xfrm>
            <a:off x="6181670" y="4863044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44">
            <a:extLst>
              <a:ext uri="{FF2B5EF4-FFF2-40B4-BE49-F238E27FC236}">
                <a16:creationId xmlns:a16="http://schemas.microsoft.com/office/drawing/2014/main" id="{843045F3-D247-47C3-8CD8-9BC9C70B67D4}"/>
              </a:ext>
            </a:extLst>
          </p:cNvPr>
          <p:cNvSpPr/>
          <p:nvPr/>
        </p:nvSpPr>
        <p:spPr>
          <a:xfrm>
            <a:off x="6181670" y="5320244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25"/>
          <p:cNvSpPr/>
          <p:nvPr/>
        </p:nvSpPr>
        <p:spPr>
          <a:xfrm>
            <a:off x="276027" y="587013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00" dirty="0" err="1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2057400"/>
            <a:ext cx="1965960" cy="123444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754880" y="2167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42316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탐방 종료 후 오늘의 여정 요약 확인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65392" y="20574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95160" y="2057400"/>
            <a:ext cx="1965960" cy="123444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132320" y="2167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처리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0" y="242316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탐방 기록을 집계하고 후속 콘텐츠를 큐레이션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942832" y="20574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372600" y="2057400"/>
            <a:ext cx="1965960" cy="123444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509760" y="2167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509760" y="242316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기록 · 추천 · 재방문으로 이어지는 경험 마무리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17720" y="348100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Nanum Myeongjo" pitchFamily="34" charset="0"/>
              </a:rPr>
              <a:t>마이페이지 정보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63440" y="392905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910328" y="3908675"/>
            <a:ext cx="635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오늘의 여정 요약 — 총 탐방 시간, 방문 장소 수, 걸음 수, 주요 탐방 유산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38625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910328" y="4365875"/>
            <a:ext cx="635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획득 배지 </a:t>
            </a:r>
            <a:r>
              <a:rPr lang="en-US" altLang="ko-KR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— </a:t>
            </a: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사용자 서비스 이용 로그 기반 활동 배지 제공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4843456"/>
            <a:ext cx="100584" cy="100584"/>
          </a:xfrm>
          <a:prstGeom prst="ellipse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910328" y="4823075"/>
            <a:ext cx="635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</a:rPr>
              <a:t>저장한 유산 </a:t>
            </a:r>
            <a:r>
              <a:rPr lang="en-US" altLang="ko-KR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</a:rPr>
              <a:t>— </a:t>
            </a: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</a:rPr>
              <a:t>즐겨찾기 기능</a:t>
            </a:r>
            <a:r>
              <a:rPr lang="en-US" altLang="ko-KR" sz="11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</a:rPr>
              <a:t>, </a:t>
            </a:r>
            <a:r>
              <a:rPr lang="ko-KR" altLang="en-US" sz="1100" dirty="0">
                <a:solidFill>
                  <a:srgbClr val="4A4A4A"/>
                </a:solidFill>
                <a:latin typeface="Nanum Myeongjo" pitchFamily="34" charset="0"/>
              </a:rPr>
              <a:t>나만의 해설 저장</a:t>
            </a:r>
            <a:endParaRPr lang="en-US" sz="1100" dirty="0">
              <a:solidFill>
                <a:srgbClr val="4A4A4A"/>
              </a:solidFill>
              <a:latin typeface="Nanum Myeongjo" pitchFamily="34" charset="0"/>
              <a:ea typeface="Nanum Myeongjo" pitchFamily="34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617720" y="5346376"/>
            <a:ext cx="6720840" cy="566928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617720" y="5346376"/>
            <a:ext cx="54864" cy="566928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910328" y="5346376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   </a:t>
            </a:r>
            <a:r>
              <a:rPr lang="en-US" sz="11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종료가</a:t>
            </a: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아</a:t>
            </a:r>
            <a:r>
              <a:rPr lang="ko-KR" altLang="en-US" sz="11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닌</a:t>
            </a: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기록 · 추천 · 재방문의 시작</a:t>
            </a:r>
            <a:endParaRPr lang="en-US" sz="1050" dirty="0"/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971077E3-0584-4299-8834-FF52BB982A22}"/>
              </a:ext>
            </a:extLst>
          </p:cNvPr>
          <p:cNvSpPr/>
          <p:nvPr/>
        </p:nvSpPr>
        <p:spPr>
          <a:xfrm>
            <a:off x="2174948" y="584239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</a:t>
            </a:r>
            <a:endParaRPr lang="en-US" altLang="ko-KR" sz="900" dirty="0">
              <a:solidFill>
                <a:srgbClr val="9E9E9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2" name="Text 35">
            <a:extLst>
              <a:ext uri="{FF2B5EF4-FFF2-40B4-BE49-F238E27FC236}">
                <a16:creationId xmlns:a16="http://schemas.microsoft.com/office/drawing/2014/main" id="{C070E802-277C-4FDB-8CBF-AEAF7B69B8DD}"/>
              </a:ext>
            </a:extLst>
          </p:cNvPr>
          <p:cNvSpPr/>
          <p:nvPr/>
        </p:nvSpPr>
        <p:spPr>
          <a:xfrm>
            <a:off x="7132320" y="2843784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활동에 포인트 · </a:t>
            </a:r>
            <a:r>
              <a:rPr lang="ko-KR" alt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배</a:t>
            </a: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 부여, 기록을 타임라인화</a:t>
            </a:r>
            <a:endParaRPr lang="en-US" sz="1050" dirty="0"/>
          </a:p>
        </p:txBody>
      </p:sp>
      <p:sp>
        <p:nvSpPr>
          <p:cNvPr id="63" name="Text 31">
            <a:extLst>
              <a:ext uri="{FF2B5EF4-FFF2-40B4-BE49-F238E27FC236}">
                <a16:creationId xmlns:a16="http://schemas.microsoft.com/office/drawing/2014/main" id="{993CC0D2-1638-46E2-AC02-D2401B347F15}"/>
              </a:ext>
            </a:extLst>
          </p:cNvPr>
          <p:cNvSpPr/>
          <p:nvPr/>
        </p:nvSpPr>
        <p:spPr>
          <a:xfrm>
            <a:off x="4742688" y="2843784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 청취 · 방문 · 즐겨찾기로 활동 축적</a:t>
            </a:r>
            <a:endParaRPr lang="en-US" sz="105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41587527-D9E3-4081-B935-06D6CE261CE6}"/>
              </a:ext>
            </a:extLst>
          </p:cNvPr>
          <p:cNvSpPr/>
          <p:nvPr/>
        </p:nvSpPr>
        <p:spPr>
          <a:xfrm>
            <a:off x="11279086" y="640151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38</a:t>
            </a:r>
            <a:endParaRPr lang="en-US" sz="10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0EBBE05-7345-993A-8674-728E74C67525}"/>
              </a:ext>
            </a:extLst>
          </p:cNvPr>
          <p:cNvSpPr/>
          <p:nvPr/>
        </p:nvSpPr>
        <p:spPr>
          <a:xfrm>
            <a:off x="82296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4단계</a:t>
            </a:r>
            <a:endParaRPr lang="en-US" sz="12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4E9CAF32-32F0-44A7-363F-FE45D7E1DE27}"/>
              </a:ext>
            </a:extLst>
          </p:cNvPr>
          <p:cNvSpPr/>
          <p:nvPr/>
        </p:nvSpPr>
        <p:spPr>
          <a:xfrm>
            <a:off x="82296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3단계</a:t>
            </a:r>
            <a:endParaRPr lang="en-US" sz="1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DA6BFA95-E4C5-E112-F16C-78001242DE6F}"/>
              </a:ext>
            </a:extLst>
          </p:cNvPr>
          <p:cNvSpPr/>
          <p:nvPr/>
        </p:nvSpPr>
        <p:spPr>
          <a:xfrm>
            <a:off x="82296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2단계</a:t>
            </a:r>
            <a:endParaRPr lang="en-US" sz="1200" dirty="0"/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BA8B4E5B-A422-C211-4486-5E4FB0799FA1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&amp; PROTOTYPE</a:t>
            </a:r>
            <a:endParaRPr lang="en-US" altLang="ko-KR" sz="1100" dirty="0"/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F9A1F63B-8383-37C9-7E5C-F026ECE58190}"/>
              </a:ext>
            </a:extLst>
          </p:cNvPr>
          <p:cNvSpPr/>
          <p:nvPr/>
        </p:nvSpPr>
        <p:spPr>
          <a:xfrm>
            <a:off x="612720" y="1245895"/>
            <a:ext cx="10965960" cy="4154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ko-KR" altLang="en-US" sz="1400" dirty="0">
                <a:solidFill>
                  <a:srgbClr val="4A4A4A"/>
                </a:solidFill>
                <a:latin typeface="Nanum Myeongjo" pitchFamily="34" charset="0"/>
              </a:rPr>
              <a:t>탐방 기록 및 확장 리워드</a:t>
            </a:r>
            <a:endParaRPr lang="en-US" altLang="ko-KR" sz="1400" dirty="0"/>
          </a:p>
          <a:p>
            <a:endParaRPr lang="en-US" altLang="ko-KR" sz="1300" dirty="0"/>
          </a:p>
        </p:txBody>
      </p:sp>
      <p:cxnSp>
        <p:nvCxnSpPr>
          <p:cNvPr id="13" name="Connector 4">
            <a:extLst>
              <a:ext uri="{FF2B5EF4-FFF2-40B4-BE49-F238E27FC236}">
                <a16:creationId xmlns:a16="http://schemas.microsoft.com/office/drawing/2014/main" id="{E9CDD57F-2846-0B54-FB03-97EBEB0D6B4C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14" name="Shape 1">
            <a:extLst>
              <a:ext uri="{FF2B5EF4-FFF2-40B4-BE49-F238E27FC236}">
                <a16:creationId xmlns:a16="http://schemas.microsoft.com/office/drawing/2014/main" id="{0EA93A85-1E07-56BC-E78F-9790852E68D5}"/>
              </a:ext>
            </a:extLst>
          </p:cNvPr>
          <p:cNvSpPr/>
          <p:nvPr/>
        </p:nvSpPr>
        <p:spPr>
          <a:xfrm>
            <a:off x="575035" y="714677"/>
            <a:ext cx="502920" cy="411480"/>
          </a:xfrm>
          <a:prstGeom prst="rect">
            <a:avLst/>
          </a:prstGeom>
          <a:solidFill>
            <a:srgbClr val="1B4D4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57D17F24-5D68-43D0-5E9C-C9ACA53367CC}"/>
              </a:ext>
            </a:extLst>
          </p:cNvPr>
          <p:cNvSpPr/>
          <p:nvPr/>
        </p:nvSpPr>
        <p:spPr>
          <a:xfrm>
            <a:off x="575035" y="684307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</a:rPr>
              <a:t>6</a:t>
            </a:r>
            <a:endParaRPr lang="en-US" dirty="0"/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C1550F7E-ABE7-2683-0C91-066565BA9615}"/>
              </a:ext>
            </a:extLst>
          </p:cNvPr>
          <p:cNvSpPr/>
          <p:nvPr/>
        </p:nvSpPr>
        <p:spPr>
          <a:xfrm>
            <a:off x="1146120" y="7370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r>
              <a:rPr lang="ko-KR" altLang="en-US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마이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페이지</a:t>
            </a:r>
            <a:endParaRPr lang="en-US" altLang="ko-KR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2CEDDB-192F-40E3-B603-AF62A7A86D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42" t="10748" r="13120" b="4928"/>
          <a:stretch/>
        </p:blipFill>
        <p:spPr>
          <a:xfrm>
            <a:off x="616382" y="2152562"/>
            <a:ext cx="1725837" cy="344156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1A40219F-A2BD-438C-8F1A-3A27AB7FB3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42" t="87673" r="13120" b="4928"/>
          <a:stretch/>
        </p:blipFill>
        <p:spPr>
          <a:xfrm>
            <a:off x="637004" y="5346376"/>
            <a:ext cx="1725837" cy="30196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99C2953-4FDB-4AE4-B6B0-3DEA81269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03" y="2016913"/>
            <a:ext cx="2145978" cy="38286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756A3B3-95C9-409B-BC02-745D7340FB2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746" t="10748" r="15489" b="8243"/>
          <a:stretch/>
        </p:blipFill>
        <p:spPr>
          <a:xfrm>
            <a:off x="2509145" y="2079216"/>
            <a:ext cx="1720925" cy="355062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7A97A35-5720-4448-842A-AEBFA589A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033" y="2013778"/>
            <a:ext cx="2145978" cy="38286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기본 시연 경로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1022096" cy="64008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022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시작하기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17624" y="228600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09648" y="2286000"/>
            <a:ext cx="1022096" cy="64008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009648" y="2286000"/>
            <a:ext cx="1022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 선택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04312" y="228600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96336" y="2286000"/>
            <a:ext cx="1022096" cy="64008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196336" y="2286000"/>
            <a:ext cx="1022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이용 장소 선택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91000" y="228600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3024" y="2286000"/>
            <a:ext cx="1022096" cy="64008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83024" y="2286000"/>
            <a:ext cx="1022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유산 검색 / 선택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77688" y="228600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69712" y="2286000"/>
            <a:ext cx="1022096" cy="640080"/>
          </a:xfrm>
          <a:prstGeom prst="rect">
            <a:avLst/>
          </a:prstGeom>
          <a:solidFill>
            <a:srgbClr val="2E7D70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569712" y="2286000"/>
            <a:ext cx="1022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해설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64376" y="228600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56400" y="2286000"/>
            <a:ext cx="1022096" cy="64008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756400" y="2286000"/>
            <a:ext cx="1022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심화 / 비교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51064" y="228600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43088" y="2286000"/>
            <a:ext cx="1022096" cy="64008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943088" y="2286000"/>
            <a:ext cx="1022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 유산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937752" y="228600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29776" y="2286000"/>
            <a:ext cx="1022096" cy="64008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129776" y="2286000"/>
            <a:ext cx="1022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K-콘텐츠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124440" y="228600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316464" y="2286000"/>
            <a:ext cx="1022096" cy="64008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0316464" y="2286000"/>
            <a:ext cx="1022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마무리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화면 전환 매핑 (버튼 → 이동 화면)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" y="3566160"/>
            <a:ext cx="3352800" cy="45720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32688" y="3566160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시작하기</a:t>
            </a:r>
            <a:r>
              <a:rPr lang="en-US" sz="9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→  </a:t>
            </a: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 선택 화면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404360" y="3566160"/>
            <a:ext cx="3352800" cy="45720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514088" y="3566160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언어 선택 완료</a:t>
            </a:r>
            <a:r>
              <a:rPr lang="en-US" sz="9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→  </a:t>
            </a: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이용 장소 선택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985760" y="3566160"/>
            <a:ext cx="3352800" cy="45720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095488" y="3566160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현장 방문 중</a:t>
            </a:r>
            <a:r>
              <a:rPr lang="en-US" sz="9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→  </a:t>
            </a: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현장 </a:t>
            </a:r>
            <a:r>
              <a:rPr lang="en-US" sz="85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방문지</a:t>
            </a: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85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입력</a:t>
            </a: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/</a:t>
            </a:r>
            <a:r>
              <a:rPr lang="ko-KR" alt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주변 유산 목록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2960" y="4133088"/>
            <a:ext cx="3352800" cy="45720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32688" y="4133088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비현장 탐색</a:t>
            </a:r>
            <a:r>
              <a:rPr lang="en-US" sz="9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→  </a:t>
            </a: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문화유산 검색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404360" y="4133088"/>
            <a:ext cx="3352800" cy="45720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514088" y="4133088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문화유산 카드</a:t>
            </a:r>
            <a:r>
              <a:rPr lang="en-US" sz="9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→  </a:t>
            </a: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해설 제공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985760" y="4133088"/>
            <a:ext cx="3352800" cy="45720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095488" y="4133088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심화 해설 보기</a:t>
            </a:r>
            <a:r>
              <a:rPr lang="en-US" sz="9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→  </a:t>
            </a: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심화 해설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22960" y="4700016"/>
            <a:ext cx="3352800" cy="45720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932688" y="4700016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비교 해설 보기</a:t>
            </a:r>
            <a:r>
              <a:rPr lang="en-US" sz="9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→  </a:t>
            </a: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비교 해설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404360" y="4700016"/>
            <a:ext cx="3352800" cy="45720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514088" y="4700016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 종료하기</a:t>
            </a:r>
            <a:r>
              <a:rPr lang="en-US" sz="9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→  </a:t>
            </a: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마무리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985760" y="4700016"/>
            <a:ext cx="3352800" cy="45720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095488" y="4700016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추천 K-콘텐츠 더보기</a:t>
            </a:r>
            <a:r>
              <a:rPr lang="en-US" sz="9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→  </a:t>
            </a:r>
            <a:r>
              <a:rPr lang="en-US" sz="85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K-콘텐츠 추천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22960" y="5570886"/>
            <a:ext cx="10545775" cy="576000"/>
          </a:xfrm>
          <a:prstGeom prst="rect">
            <a:avLst/>
          </a:prstGeom>
          <a:solidFill>
            <a:srgbClr val="1B4D47"/>
          </a:solidFill>
          <a:ln w="12700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097280" y="5486400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FD4C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프로토타입 발표 팁   </a:t>
            </a:r>
            <a:r>
              <a:rPr lang="en-US" sz="1200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모든 버튼을 연결하지 않아도, 핵심 시나리오 1개를 끝까지 자연스럽게 보여주는 것이 중요합니다.</a:t>
            </a:r>
            <a:endParaRPr lang="en-US" sz="1200" dirty="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B6C3DCFE-87D2-4E1F-AFEE-46E74678A91F}"/>
              </a:ext>
            </a:extLst>
          </p:cNvPr>
          <p:cNvSpPr/>
          <p:nvPr/>
        </p:nvSpPr>
        <p:spPr>
          <a:xfrm>
            <a:off x="11279086" y="640151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39</a:t>
            </a:r>
            <a:endParaRPr lang="en-US" sz="1000" dirty="0"/>
          </a:p>
        </p:txBody>
      </p:sp>
      <p:sp>
        <p:nvSpPr>
          <p:cNvPr id="59" name="TextBox 1">
            <a:extLst>
              <a:ext uri="{FF2B5EF4-FFF2-40B4-BE49-F238E27FC236}">
                <a16:creationId xmlns:a16="http://schemas.microsoft.com/office/drawing/2014/main" id="{E92A8704-4D1F-F511-7EB5-B1FB1D5C1380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&amp; PROTOTYPE</a:t>
            </a:r>
            <a:endParaRPr lang="en-US" altLang="ko-KR" sz="1100" dirty="0"/>
          </a:p>
        </p:txBody>
      </p:sp>
      <p:sp>
        <p:nvSpPr>
          <p:cNvPr id="60" name="TextBox 2">
            <a:extLst>
              <a:ext uri="{FF2B5EF4-FFF2-40B4-BE49-F238E27FC236}">
                <a16:creationId xmlns:a16="http://schemas.microsoft.com/office/drawing/2014/main" id="{59CE746B-0CFF-10EE-1E05-F71881D645D6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Figma Prototype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연결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설계</a:t>
            </a:r>
            <a:endParaRPr lang="en-US" altLang="ko-KR" sz="2400" dirty="0"/>
          </a:p>
        </p:txBody>
      </p:sp>
      <p:sp>
        <p:nvSpPr>
          <p:cNvPr id="61" name="TextBox 3">
            <a:extLst>
              <a:ext uri="{FF2B5EF4-FFF2-40B4-BE49-F238E27FC236}">
                <a16:creationId xmlns:a16="http://schemas.microsoft.com/office/drawing/2014/main" id="{8E15887B-0969-7C74-E41B-37B67D217001}"/>
              </a:ext>
            </a:extLst>
          </p:cNvPr>
          <p:cNvSpPr/>
          <p:nvPr/>
        </p:nvSpPr>
        <p:spPr>
          <a:xfrm>
            <a:off x="612720" y="1245895"/>
            <a:ext cx="1096596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발표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시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실제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앱처럼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화면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순서가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이어지도록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버튼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이동을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구성</a:t>
            </a:r>
            <a:endParaRPr lang="en-US" altLang="ko-KR" sz="1400" dirty="0"/>
          </a:p>
        </p:txBody>
      </p:sp>
      <p:cxnSp>
        <p:nvCxnSpPr>
          <p:cNvPr id="62" name="Connector 4">
            <a:extLst>
              <a:ext uri="{FF2B5EF4-FFF2-40B4-BE49-F238E27FC236}">
                <a16:creationId xmlns:a16="http://schemas.microsoft.com/office/drawing/2014/main" id="{13EBC9F2-F57A-BD21-9EA6-D3A6B3FDC090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기대효과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" y="3520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 · 제공자 · 사회 · 기술 관점에서 “문제 → 기능 → 기대 변화”를 정리합니다.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68680" y="4114800"/>
            <a:ext cx="2011680" cy="0"/>
          </a:xfrm>
          <a:prstGeom prst="line">
            <a:avLst/>
          </a:prstGeom>
          <a:noFill/>
          <a:ln w="1905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68680" y="4572000"/>
            <a:ext cx="3456432" cy="141732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22960" y="4572000"/>
            <a:ext cx="3456432" cy="4572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97280" y="473659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01597" y="4541810"/>
            <a:ext cx="3456432" cy="141732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535424" y="4572000"/>
            <a:ext cx="3456432" cy="4572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4809744" y="473659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247888" y="4572000"/>
            <a:ext cx="3456432" cy="141732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8247888" y="4572000"/>
            <a:ext cx="3456432" cy="4572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8522208" y="473659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97280" y="5029200"/>
            <a:ext cx="29077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기대효과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097280" y="5413248"/>
            <a:ext cx="295351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접근성 · 개인화 · 연결성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</a:p>
        </p:txBody>
      </p:sp>
      <p:pic>
        <p:nvPicPr>
          <p:cNvPr id="5122" name="Picture 2" descr="다시 보는 2023 경남] 가야고분군, 세계유산 등재 쾌거 &lt; 문화 &lt; 기사본문 - LG헬로비전">
            <a:extLst>
              <a:ext uri="{FF2B5EF4-FFF2-40B4-BE49-F238E27FC236}">
                <a16:creationId xmlns:a16="http://schemas.microsoft.com/office/drawing/2014/main" id="{2473C73D-A229-4892-9A82-8786E48E5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476" y="3810"/>
            <a:ext cx="5715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"/>
          <p:cNvSpPr/>
          <p:nvPr/>
        </p:nvSpPr>
        <p:spPr>
          <a:xfrm>
            <a:off x="6830568" y="81661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kumimoji="0" lang="en-US" sz="29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22208" y="5072743"/>
            <a:ext cx="29077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대외 협력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522208" y="5456791"/>
            <a:ext cx="295351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공공 · 교육 · 관광 파트너십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09744" y="5135699"/>
            <a:ext cx="29077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확장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가능성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09744" y="5519747"/>
            <a:ext cx="295351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리워드 / 레벨링 확장 기능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3C0498-B260-32B7-75FC-1E971AC9B40C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IMPACT</a:t>
            </a:r>
            <a:endParaRPr lang="en-US" altLang="ko-KR" sz="11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246832" y="-122949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 w="12700">
            <a:solidFill>
              <a:srgbClr val="B9CF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246832" y="-12294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6B5C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사용자 · 사회 관점</a:t>
            </a:r>
            <a:endParaRPr lang="en-US" sz="1100" dirty="0">
              <a:latin typeface="Nanum Myeongj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53736" y="1891989"/>
            <a:ext cx="2843784" cy="4279392"/>
          </a:xfrm>
          <a:prstGeom prst="rect">
            <a:avLst/>
          </a:prstGeom>
          <a:solidFill>
            <a:srgbClr val="F2F4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743824" y="1891989"/>
            <a:ext cx="2843784" cy="4279392"/>
          </a:xfrm>
          <a:prstGeom prst="rect">
            <a:avLst/>
          </a:prstGeom>
          <a:solidFill>
            <a:srgbClr val="EAF3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53736" y="1891989"/>
            <a:ext cx="2843784" cy="329184"/>
          </a:xfrm>
          <a:prstGeom prst="rect">
            <a:avLst/>
          </a:prstGeom>
          <a:solidFill>
            <a:srgbClr val="9A9A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53736" y="1891989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기존 문제</a:t>
            </a:r>
            <a:endParaRPr lang="en-US" sz="1200" dirty="0">
              <a:latin typeface="Nanum Myeongj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43824" y="1891989"/>
            <a:ext cx="2843784" cy="329184"/>
          </a:xfrm>
          <a:prstGeom prst="rect">
            <a:avLst/>
          </a:prstGeom>
          <a:solidFill>
            <a:srgbClr val="2D82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743824" y="1891989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이음의 기능</a:t>
            </a:r>
            <a:endParaRPr lang="en-US" sz="1200" dirty="0">
              <a:latin typeface="Nanum Myeongjo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733912" y="1891989"/>
            <a:ext cx="2843784" cy="329184"/>
          </a:xfrm>
          <a:prstGeom prst="rect">
            <a:avLst/>
          </a:prstGeom>
          <a:solidFill>
            <a:srgbClr val="1B3A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733912" y="1891989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기대 변화</a:t>
            </a:r>
            <a:endParaRPr lang="en-US" sz="1200" dirty="0">
              <a:latin typeface="Nanum Myeongjo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542656" y="1891989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9A9A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›</a:t>
            </a:r>
            <a:endParaRPr lang="en-US" sz="1800" dirty="0">
              <a:latin typeface="Nanum Myeongjo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32744" y="1891989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9A9A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›</a:t>
            </a:r>
            <a:endParaRPr lang="en-US" sz="1800" dirty="0">
              <a:latin typeface="Nanum Myeongjo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3200" y="3495237"/>
            <a:ext cx="10965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Text 17"/>
          <p:cNvSpPr/>
          <p:nvPr/>
        </p:nvSpPr>
        <p:spPr>
          <a:xfrm>
            <a:off x="636106" y="2297703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2D8276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>
              <a:latin typeface="Nanum Myeongjo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6106" y="2692887"/>
            <a:ext cx="224028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시간·언어 제약 없는</a:t>
            </a:r>
            <a:endParaRPr lang="en-US" sz="1400" b="1" dirty="0">
              <a:latin typeface="Nanum Myeongjo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문화유산 해설 경험</a:t>
            </a:r>
            <a:endParaRPr lang="en-US" sz="1400" b="1" dirty="0">
              <a:latin typeface="Nanum Myeongjo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881752" y="2303469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제한적 해설 방식</a:t>
            </a:r>
            <a:endParaRPr lang="en-US" sz="1000" dirty="0">
              <a:latin typeface="Nanum Myeongjo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881752" y="2541213"/>
            <a:ext cx="26060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운영 시간·언어 지원 범위의 제약</a:t>
            </a:r>
            <a:endParaRPr lang="en-US" sz="900" dirty="0">
              <a:latin typeface="Nanum Myeongjo"/>
            </a:endParaRPr>
          </a:p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다국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어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지원이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가능하더라도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제한적</a:t>
            </a:r>
            <a:endParaRPr lang="en-US" sz="900" dirty="0">
              <a:latin typeface="Nanum Myeongjo"/>
            </a:endParaRPr>
          </a:p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현장 상황에 따라 해설 참여 어려움</a:t>
            </a:r>
            <a:endParaRPr lang="en-US" sz="900" dirty="0">
              <a:latin typeface="Nanum Myeongjo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71840" y="2303469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8276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제약 없는 문화유산 경험</a:t>
            </a:r>
            <a:endParaRPr lang="en-US" sz="1000" dirty="0">
              <a:latin typeface="Nanum Myeongjo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71840" y="2541213"/>
            <a:ext cx="26060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AI 기반 다국어 해설 제공</a:t>
            </a:r>
            <a:endParaRPr lang="en-US" sz="900" dirty="0">
              <a:latin typeface="Nanum Myeongjo"/>
            </a:endParaRPr>
          </a:p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텍스트+음성(TTS)+이미지 설명</a:t>
            </a:r>
            <a:endParaRPr lang="en-US" sz="900" dirty="0">
              <a:latin typeface="Nanum Myeongjo"/>
            </a:endParaRPr>
          </a:p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모바일 기반 상시 해설 환경</a:t>
            </a:r>
            <a:endParaRPr lang="en-US" sz="900" dirty="0">
              <a:latin typeface="Nanum Myeongjo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861928" y="2276037"/>
            <a:ext cx="2587752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시간·언어 제약을 줄여 더 다양한 사용자가 맞춤형 해설에 접근할 수 있는 환경 지향</a:t>
            </a:r>
            <a:endParaRPr lang="en-US" sz="1050" b="1" dirty="0">
              <a:latin typeface="Nanum Myeongjo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6106" y="3618285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2D8276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>
              <a:latin typeface="Nanum Myeongjo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6106" y="3998557"/>
            <a:ext cx="224028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사용자 맞춤</a:t>
            </a:r>
            <a:endParaRPr lang="en-US" sz="1400" b="1" dirty="0">
              <a:latin typeface="Nanum Myeongjo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체험형 문화유산 경험</a:t>
            </a:r>
            <a:endParaRPr lang="en-US" sz="1400" b="1" dirty="0">
              <a:latin typeface="Nanum Myeongjo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881752" y="3614109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획일적 텍스트 중심 설명</a:t>
            </a:r>
            <a:endParaRPr lang="en-US" sz="1000" dirty="0">
              <a:latin typeface="Nanum Myeongjo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81752" y="3851853"/>
            <a:ext cx="26060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긴 텍스트 구조로 몰입이 어려움</a:t>
            </a:r>
            <a:endParaRPr lang="en-US" sz="900" dirty="0">
              <a:latin typeface="Nanum Myeongjo"/>
            </a:endParaRPr>
          </a:p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단순 정보 전달 중심의 관람</a:t>
            </a:r>
            <a:endParaRPr lang="en-US" sz="900" dirty="0">
              <a:latin typeface="Nanum Myeongjo"/>
            </a:endParaRPr>
          </a:p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관심 카테고리 반영 부족</a:t>
            </a:r>
            <a:endParaRPr lang="en-US" sz="900" dirty="0">
              <a:latin typeface="Nanum Myeongjo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71840" y="3614109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8276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사용자 맞춤형 경험 제공</a:t>
            </a:r>
            <a:endParaRPr lang="en-US" sz="1000" dirty="0">
              <a:latin typeface="Nanum Myeongjo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71840" y="3851853"/>
            <a:ext cx="26060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언어</a:t>
            </a:r>
            <a:r>
              <a:rPr lang="en-US" altLang="ko-KR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·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관심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카테고리별 개인 맞춤 해설</a:t>
            </a:r>
            <a:endParaRPr lang="en-US" sz="900" dirty="0">
              <a:latin typeface="Nanum Myeongjo"/>
            </a:endParaRPr>
          </a:p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관심 카테고리 및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행동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로그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가중치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기반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추천</a:t>
            </a:r>
            <a:endParaRPr lang="en-US" sz="900" dirty="0">
              <a:latin typeface="Nanum Myeongjo"/>
            </a:endParaRPr>
          </a:p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관심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흐름에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따른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탐색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확장</a:t>
            </a:r>
            <a:endParaRPr lang="en-US" sz="900" dirty="0">
              <a:latin typeface="Nanum Myeongjo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861928" y="3586677"/>
            <a:ext cx="2587752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사용자 </a:t>
            </a:r>
            <a:r>
              <a:rPr lang="en-US" sz="1050" b="1" dirty="0" err="1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관심</a:t>
            </a:r>
            <a:r>
              <a:rPr 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흐름</a:t>
            </a:r>
            <a:r>
              <a:rPr 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기반의 </a:t>
            </a:r>
            <a:endParaRPr lang="en-US" altLang="ko-KR" sz="1050" b="1" dirty="0">
              <a:solidFill>
                <a:srgbClr val="1B3A30"/>
              </a:solidFill>
              <a:latin typeface="Nanum Myeongjo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 err="1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개인화</a:t>
            </a:r>
            <a:r>
              <a:rPr 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탐색</a:t>
            </a:r>
            <a:r>
              <a:rPr 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경험</a:t>
            </a:r>
            <a:r>
              <a:rPr 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가능성 제시</a:t>
            </a:r>
            <a:endParaRPr lang="en-US" sz="1050" b="1" dirty="0">
              <a:latin typeface="Nanum Myeongjo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6106" y="4938861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2D8276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>
              <a:latin typeface="Nanum Myeongjo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6106" y="5304227"/>
            <a:ext cx="224028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 err="1">
                <a:solidFill>
                  <a:srgbClr val="1A1A1A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단일</a:t>
            </a:r>
            <a:r>
              <a:rPr lang="en-US" sz="1400" b="1" dirty="0">
                <a:solidFill>
                  <a:srgbClr val="1A1A1A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b="1" dirty="0" err="1">
                <a:solidFill>
                  <a:srgbClr val="1A1A1A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관람</a:t>
            </a:r>
            <a:r>
              <a:rPr lang="ko-KR" altLang="en-US" sz="1400" b="1" dirty="0">
                <a:solidFill>
                  <a:srgbClr val="1A1A1A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으로</a:t>
            </a:r>
            <a:endParaRPr lang="en-US" sz="1400" b="1" dirty="0">
              <a:latin typeface="Nanum Myeongjo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끝나지 않는 연결형 탐색</a:t>
            </a:r>
            <a:endParaRPr lang="en-US" sz="1400" b="1" dirty="0">
              <a:latin typeface="Nanum Myeongjo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881752" y="4924749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단일 관람으로 끝나는 탐색</a:t>
            </a:r>
            <a:endParaRPr lang="en-US" sz="1000" dirty="0">
              <a:latin typeface="Nanum Myeongjo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881752" y="5162493"/>
            <a:ext cx="26060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관심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카테고리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반영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부족</a:t>
            </a:r>
            <a:endParaRPr lang="en-US" sz="900" dirty="0">
              <a:latin typeface="Nanum Myeongjo"/>
            </a:endParaRPr>
          </a:p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단일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조회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후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경험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종료</a:t>
            </a:r>
            <a:endParaRPr lang="en-US" sz="900" dirty="0">
              <a:latin typeface="Nanum Myeongjo"/>
            </a:endParaRPr>
          </a:p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다음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탐색으로의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연결</a:t>
            </a: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부재</a:t>
            </a:r>
            <a:endParaRPr lang="en-US" sz="900" dirty="0">
              <a:latin typeface="Nanum Myeongjo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871840" y="4924749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8276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연결형 탐색 경험 제공</a:t>
            </a:r>
            <a:endParaRPr lang="en-US" sz="1000" dirty="0">
              <a:latin typeface="Nanum Myeongjo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871840" y="5162493"/>
            <a:ext cx="26060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관련 유물·유적·주변 명소 추천</a:t>
            </a:r>
            <a:endParaRPr lang="en-US" sz="900" dirty="0">
              <a:latin typeface="Nanum Myeongjo"/>
            </a:endParaRPr>
          </a:p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연관 K-콘텐츠 추천</a:t>
            </a:r>
            <a:endParaRPr lang="en-US" sz="900" dirty="0">
              <a:latin typeface="Nanum Myeongjo"/>
            </a:endParaRPr>
          </a:p>
          <a:p>
            <a:pPr marL="152400" indent="-1524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54545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탐색 흐름 중심 UX 구성</a:t>
            </a:r>
            <a:endParaRPr lang="en-US" sz="900" dirty="0">
              <a:latin typeface="Nanum Myeongjo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861928" y="4897317"/>
            <a:ext cx="2587752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 err="1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하나의</a:t>
            </a:r>
            <a:r>
              <a:rPr 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문화유산 </a:t>
            </a:r>
            <a:r>
              <a:rPr lang="en-US" sz="1050" b="1" dirty="0" err="1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감상이</a:t>
            </a:r>
            <a:r>
              <a:rPr 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 err="1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다음</a:t>
            </a:r>
            <a:r>
              <a:rPr 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탐색으로</a:t>
            </a:r>
            <a:r>
              <a:rPr 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이</a:t>
            </a:r>
            <a:r>
              <a:rPr lang="ko-KR" alt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어질 수 있는</a:t>
            </a:r>
            <a:r>
              <a:rPr 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 err="1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연결형</a:t>
            </a:r>
            <a:r>
              <a:rPr lang="en-US" sz="1050" b="1" dirty="0">
                <a:solidFill>
                  <a:srgbClr val="1B3A30"/>
                </a:solidFill>
                <a:latin typeface="Nanum Myeongjo"/>
                <a:ea typeface="Pretendard" pitchFamily="34" charset="-122"/>
                <a:cs typeface="Pretendard" pitchFamily="34" charset="-120"/>
              </a:rPr>
              <a:t> 탐방 경험 제안</a:t>
            </a:r>
            <a:endParaRPr lang="en-US" sz="1050" b="1" dirty="0">
              <a:latin typeface="Nanum Myeongjo"/>
            </a:endParaRPr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3288426C-473B-4414-828A-BAB5DD00DF9D}"/>
              </a:ext>
            </a:extLst>
          </p:cNvPr>
          <p:cNvSpPr/>
          <p:nvPr/>
        </p:nvSpPr>
        <p:spPr>
          <a:xfrm>
            <a:off x="11279086" y="640151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</a:rPr>
              <a:t>41</a:t>
            </a:r>
            <a:endParaRPr lang="en-US" sz="1000" dirty="0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2E2C9E53-E2D3-A1C9-F40B-97BD867CFFF5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IMPACT</a:t>
            </a:r>
            <a:endParaRPr lang="en-US" altLang="ko-KR" sz="1100" dirty="0">
              <a:solidFill>
                <a:prstClr val="black"/>
              </a:solidFill>
            </a:endParaRPr>
          </a:p>
        </p:txBody>
      </p:sp>
      <p:sp>
        <p:nvSpPr>
          <p:cNvPr id="43" name="TextBox 2">
            <a:extLst>
              <a:ext uri="{FF2B5EF4-FFF2-40B4-BE49-F238E27FC236}">
                <a16:creationId xmlns:a16="http://schemas.microsoft.com/office/drawing/2014/main" id="{5B89CB57-A048-309E-0C76-10F884D9D845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r>
              <a:rPr lang="ko-KR" altLang="en-US" sz="2400" b="1" dirty="0">
                <a:solidFill>
                  <a:srgbClr val="1A1A1A"/>
                </a:solidFill>
                <a:latin typeface="Nanum Myeongjo" pitchFamily="34" charset="0"/>
              </a:rPr>
              <a:t>이음이 만드는 세 가지 기대효과</a:t>
            </a:r>
            <a:endParaRPr lang="en-US" altLang="ko-KR" sz="2400" dirty="0">
              <a:solidFill>
                <a:prstClr val="black"/>
              </a:solidFill>
            </a:endParaRPr>
          </a:p>
        </p:txBody>
      </p:sp>
      <p:cxnSp>
        <p:nvCxnSpPr>
          <p:cNvPr id="45" name="Connector 4">
            <a:extLst>
              <a:ext uri="{FF2B5EF4-FFF2-40B4-BE49-F238E27FC236}">
                <a16:creationId xmlns:a16="http://schemas.microsoft.com/office/drawing/2014/main" id="{B654C4C9-7A4A-CC50-3F85-69BCF9FB608A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  <p:sp>
        <p:nvSpPr>
          <p:cNvPr id="46" name="Shape 15">
            <a:extLst>
              <a:ext uri="{FF2B5EF4-FFF2-40B4-BE49-F238E27FC236}">
                <a16:creationId xmlns:a16="http://schemas.microsoft.com/office/drawing/2014/main" id="{C9465883-78A5-1E59-C456-FC10C4767473}"/>
              </a:ext>
            </a:extLst>
          </p:cNvPr>
          <p:cNvSpPr/>
          <p:nvPr/>
        </p:nvSpPr>
        <p:spPr>
          <a:xfrm>
            <a:off x="613200" y="4810512"/>
            <a:ext cx="10965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822960" y="1999996"/>
            <a:ext cx="5120640" cy="150876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22960" y="2001070"/>
            <a:ext cx="54864" cy="150876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22377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28800" y="22560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 관점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47088" y="26035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0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15568" y="2923540"/>
            <a:ext cx="4572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15568" y="30058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시간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언어 제약을 줄인 맞춤형 문화유산 해설 경험 방향 제시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2054860"/>
            <a:ext cx="5120640" cy="150876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2054860"/>
            <a:ext cx="54864" cy="150876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10528" y="22377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223760" y="22560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제공자 관점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242048" y="26035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0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Provider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10528" y="2923540"/>
            <a:ext cx="4572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10528" y="30058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공식 자료 기반 해설 활용을 통해 기관 콘텐츠 활용 가능성 확장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3837940"/>
            <a:ext cx="5120640" cy="150876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22960" y="3837940"/>
            <a:ext cx="54864" cy="150876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115568" y="40208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28800" y="40391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사회적 관점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847088" y="43865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0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Society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115568" y="4706620"/>
            <a:ext cx="4572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115568" y="47889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국가유산 접근성 향상 및 한국 문화 콘텐츠 확장 가능성 기대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7920" y="3837940"/>
            <a:ext cx="5120640" cy="1508760"/>
          </a:xfrm>
          <a:prstGeom prst="rect">
            <a:avLst/>
          </a:prstGeom>
          <a:solidFill>
            <a:srgbClr val="F5F5F3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217920" y="3837940"/>
            <a:ext cx="54864" cy="150876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510528" y="40208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223760" y="40391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기술적 관점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242048" y="43865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0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Technology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10528" y="4706620"/>
            <a:ext cx="4572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510528" y="47889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RAG·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메타데이터 기반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해설 구조 설계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22960" y="5611635"/>
            <a:ext cx="10545775" cy="576000"/>
          </a:xfrm>
          <a:prstGeom prst="rect">
            <a:avLst/>
          </a:prstGeom>
          <a:solidFill>
            <a:srgbClr val="1B4D47"/>
          </a:solidFill>
          <a:ln w="12700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097280" y="5532120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FD4C8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종합  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이음은 사용자 경험 개선을 넘어 제공자 · 사회 · 기술 측면의 가치를 함께 만들어 갑니다.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029484-E382-EA55-2E27-58D73FE174C9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IMPACT</a:t>
            </a:r>
            <a:endParaRPr lang="en-US" altLang="ko-KR" sz="1100" dirty="0">
              <a:solidFill>
                <a:prstClr val="black"/>
              </a:solidFill>
            </a:endParaRPr>
          </a:p>
        </p:txBody>
      </p:sp>
      <p:sp>
        <p:nvSpPr>
          <p:cNvPr id="38" name="TextBox 2">
            <a:extLst>
              <a:ext uri="{FF2B5EF4-FFF2-40B4-BE49-F238E27FC236}">
                <a16:creationId xmlns:a16="http://schemas.microsoft.com/office/drawing/2014/main" id="{99C0C3DC-1B83-7A4E-AE49-18FB6BB16386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lvl="0">
              <a:defRPr/>
            </a:pP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기대효과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종합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— 네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가지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관점</a:t>
            </a:r>
            <a:endParaRPr lang="en-US" altLang="ko-KR" sz="2400" dirty="0">
              <a:solidFill>
                <a:prstClr val="black"/>
              </a:solidFill>
            </a:endParaRPr>
          </a:p>
        </p:txBody>
      </p:sp>
      <p:sp>
        <p:nvSpPr>
          <p:cNvPr id="39" name="TextBox 3">
            <a:extLst>
              <a:ext uri="{FF2B5EF4-FFF2-40B4-BE49-F238E27FC236}">
                <a16:creationId xmlns:a16="http://schemas.microsoft.com/office/drawing/2014/main" id="{04932371-F6B4-083E-03A3-F90844B019C1}"/>
              </a:ext>
            </a:extLst>
          </p:cNvPr>
          <p:cNvSpPr/>
          <p:nvPr/>
        </p:nvSpPr>
        <p:spPr>
          <a:xfrm>
            <a:off x="612720" y="1245895"/>
            <a:ext cx="1096596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이음의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기대효과를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사용자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제공자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사회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기술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관점에서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정리합니다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altLang="ko-KR" sz="1400" dirty="0">
              <a:solidFill>
                <a:prstClr val="black"/>
              </a:solidFill>
            </a:endParaRPr>
          </a:p>
        </p:txBody>
      </p:sp>
      <p:cxnSp>
        <p:nvCxnSpPr>
          <p:cNvPr id="40" name="Connector 4">
            <a:extLst>
              <a:ext uri="{FF2B5EF4-FFF2-40B4-BE49-F238E27FC236}">
                <a16:creationId xmlns:a16="http://schemas.microsoft.com/office/drawing/2014/main" id="{39956F46-7933-84D7-57E2-2D61B2C6FC24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822960" y="-323088"/>
            <a:ext cx="105457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120640" cy="777240"/>
          </a:xfrm>
          <a:prstGeom prst="rect">
            <a:avLst/>
          </a:prstGeom>
          <a:solidFill>
            <a:srgbClr val="EAF4F2"/>
          </a:solidFill>
          <a:ln w="1270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 기능
</a:t>
            </a: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 다국어 해설 · 스토리텔링형 콘텐츠 · 관심 기반 추천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120640" cy="777240"/>
          </a:xfrm>
          <a:prstGeom prst="rect">
            <a:avLst/>
          </a:prstGeom>
          <a:solidFill>
            <a:srgbClr val="F5F5F3"/>
          </a:solidFill>
          <a:ln w="952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9224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확장 기능 (리워드 / 레벨링)
</a:t>
            </a: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방문 </a:t>
            </a:r>
            <a:r>
              <a:rPr lang="en-US" sz="1050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기록</a:t>
            </a: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ko-KR" altLang="en-US" sz="1050" dirty="0"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배</a:t>
            </a:r>
            <a:r>
              <a:rPr lang="en-US" sz="105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 · 포인트 · 탐험가 레벨 · 재방문 동기 부여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00228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70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작동 원리 — 선순환 사이클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290891"/>
            <a:ext cx="2340864" cy="713232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32688" y="3290891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320711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문화유산 방문 · 해설 이용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27248" y="3290891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47872" y="3290891"/>
            <a:ext cx="2340864" cy="713232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57600" y="3290891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59352" y="3320711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활동 기록 &amp; 포인트 적립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3290891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72784" y="3290891"/>
            <a:ext cx="2340864" cy="713232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382512" y="3290891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84264" y="3320711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레벨업 &amp; </a:t>
            </a:r>
            <a:r>
              <a:rPr lang="ko-KR" alt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배</a:t>
            </a: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 획득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77072" y="3290891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97696" y="3290891"/>
            <a:ext cx="2340864" cy="713232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107424" y="3290891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09176" y="3320711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재방문 유도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391030"/>
            <a:ext cx="2478024" cy="14630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22960" y="4391030"/>
            <a:ext cx="2478024" cy="4572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87552" y="4500758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&amp; 성취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4720214"/>
            <a:ext cx="2185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배</a:t>
            </a: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지(Badge) 시스템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7552" y="5049398"/>
            <a:ext cx="2185416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왕릉 · 사찰 · 근대건축 등 </a:t>
            </a: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카테고리별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ko-KR" alt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배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 수집. 처음 방문 · 5회 방문 · 완주 등 달성 조건 명확화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502152" y="4391030"/>
            <a:ext cx="2478024" cy="14630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502152" y="4391030"/>
            <a:ext cx="2478024" cy="4572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666744" y="4500758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경험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66744" y="4720214"/>
            <a:ext cx="2185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포인트 &amp; 레벨 시스템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66744" y="5049398"/>
            <a:ext cx="2185416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 청취 · 추천 탐색 · </a:t>
            </a: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포인트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누적. </a:t>
            </a:r>
          </a:p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[</a:t>
            </a: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탐험가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Lv.1] → [</a:t>
            </a: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역사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마스터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] </a:t>
            </a: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까지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레벨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설계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181344" y="4391030"/>
            <a:ext cx="2478024" cy="14630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181344" y="4391030"/>
            <a:ext cx="2478024" cy="4572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345936" y="4500758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자산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45936" y="4720214"/>
            <a:ext cx="2185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마이 히스토리 &amp; 기록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45936" y="5049398"/>
            <a:ext cx="2185416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방문 유산 · 청취 해설 · </a:t>
            </a: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획득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ko-KR" alt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배</a:t>
            </a: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지를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타임라인으로 시각화. </a:t>
            </a:r>
            <a:r>
              <a:rPr lang="ko-KR" alt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기록 누적으로 재방문 동기 강화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860536" y="4391030"/>
            <a:ext cx="2478024" cy="14630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8860536" y="4391030"/>
            <a:ext cx="2478024" cy="4572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9025128" y="4500758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7D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 유도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025128" y="4720214"/>
            <a:ext cx="2185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추천 연계 리워드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25127" y="5049398"/>
            <a:ext cx="2340863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연관 유산 추천 → 방문 완료 시 보너스 포인트. </a:t>
            </a:r>
          </a:p>
          <a:p>
            <a:pPr marL="0" indent="0">
              <a:lnSpc>
                <a:spcPts val="1150"/>
              </a:lnSpc>
              <a:buNone/>
            </a:pPr>
            <a:r>
              <a:rPr lang="en-US" sz="88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다음</a:t>
            </a:r>
            <a:r>
              <a:rPr lang="en-US" sz="88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탐색으로 자연스럽게 연결되는 유도 설계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DA27C9-74BA-B639-8BD9-54F576E9B683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IMPACT</a:t>
            </a:r>
            <a:endParaRPr lang="en-US" altLang="ko-KR" sz="1100" dirty="0">
              <a:solidFill>
                <a:prstClr val="black"/>
              </a:solidFill>
            </a:endParaRPr>
          </a:p>
        </p:txBody>
      </p:sp>
      <p:sp>
        <p:nvSpPr>
          <p:cNvPr id="48" name="TextBox 2">
            <a:extLst>
              <a:ext uri="{FF2B5EF4-FFF2-40B4-BE49-F238E27FC236}">
                <a16:creationId xmlns:a16="http://schemas.microsoft.com/office/drawing/2014/main" id="{08C97D9E-7C79-E32C-FBC6-0DA6F0D94972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리워드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/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레벨링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: </a:t>
            </a:r>
            <a:r>
              <a:rPr lang="ko-KR" altLang="en-US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재방문 유도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확장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기능</a:t>
            </a:r>
            <a:endParaRPr lang="en-US" altLang="ko-KR" sz="2400" dirty="0"/>
          </a:p>
        </p:txBody>
      </p:sp>
      <p:sp>
        <p:nvSpPr>
          <p:cNvPr id="49" name="TextBox 3">
            <a:extLst>
              <a:ext uri="{FF2B5EF4-FFF2-40B4-BE49-F238E27FC236}">
                <a16:creationId xmlns:a16="http://schemas.microsoft.com/office/drawing/2014/main" id="{E1CB70D1-169A-7FA3-FE7C-62C3BC8AC912}"/>
              </a:ext>
            </a:extLst>
          </p:cNvPr>
          <p:cNvSpPr/>
          <p:nvPr/>
        </p:nvSpPr>
        <p:spPr>
          <a:xfrm>
            <a:off x="612720" y="1245895"/>
            <a:ext cx="10965960" cy="2000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기능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(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해설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·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추천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)의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보조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시스템으로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방문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기록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누적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→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보상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→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재방문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동기의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순환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구조를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형성합니다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altLang="ko-KR" sz="1300" dirty="0"/>
          </a:p>
        </p:txBody>
      </p:sp>
      <p:cxnSp>
        <p:nvCxnSpPr>
          <p:cNvPr id="50" name="Connector 4">
            <a:extLst>
              <a:ext uri="{FF2B5EF4-FFF2-40B4-BE49-F238E27FC236}">
                <a16:creationId xmlns:a16="http://schemas.microsoft.com/office/drawing/2014/main" id="{DAB825E9-C3FC-0D44-E823-157D9171ED10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839190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822960" y="2194560"/>
            <a:ext cx="5120640" cy="1691640"/>
          </a:xfrm>
          <a:prstGeom prst="rect">
            <a:avLst/>
          </a:prstGeom>
          <a:solidFill>
            <a:srgbClr val="F5F5F3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54864" cy="169164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2359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Nanum Myeongjo"/>
                <a:ea typeface="Nanum Myeongjo"/>
                <a:cs typeface="Georgia" pitchFamily="34" charset="-120"/>
              </a:rPr>
              <a:t>원칙 </a:t>
            </a: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Georgia" panose="02040502050405020303" pitchFamily="18" charset="0"/>
                <a:ea typeface="Nanum Myeongjo"/>
                <a:cs typeface="Georgia" pitchFamily="34" charset="-120"/>
              </a:rPr>
              <a:t>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Nanum Myeongjo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15568" y="2606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경험 중심 보상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5568" y="30358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포인트 ·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배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지는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‘많이 쓴 시간’이 아닌 ‘새로운 경험’에 연동합니다. 같은 장소 반복 방문보다 새 카테고리 탐색에 더 높은 보상을 부여합니다.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5120640" cy="1691640"/>
          </a:xfrm>
          <a:prstGeom prst="rect">
            <a:avLst/>
          </a:prstGeom>
          <a:solidFill>
            <a:srgbClr val="F5F5F3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4864" cy="169164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10528" y="2359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Nanum Myeongjo"/>
                <a:ea typeface="Nanum Myeongjo"/>
                <a:cs typeface="Georgia" pitchFamily="34" charset="-120"/>
              </a:rPr>
              <a:t>원칙 </a:t>
            </a: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Georgia" panose="02040502050405020303" pitchFamily="18" charset="0"/>
                <a:ea typeface="Nanum Myeongjo"/>
                <a:cs typeface="Georgia" pitchFamily="34" charset="-120"/>
              </a:rPr>
              <a:t>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Nanum Myeongjo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10528" y="2606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낮은 진입 장벽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10528" y="30358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첫 해설 청취 시 즉시 첫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배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지를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획득합니다. 초반 성취감을 빠르게 제공해 서비스 학습 비용을 낮추고 초기 이탈을 방지합니다.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기대 역할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" y="4434840"/>
            <a:ext cx="3334512" cy="96012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51560" y="4581144"/>
            <a:ext cx="2877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재방문 동기 강화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51560" y="4910328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누적 기록으로 재방문 동기 강화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13504" y="4434840"/>
            <a:ext cx="3334512" cy="96012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642104" y="4581144"/>
            <a:ext cx="2877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초기 이탈 방지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42104" y="4910328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첫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배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지로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빠른 성취 제공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04048" y="4434840"/>
            <a:ext cx="3334512" cy="96012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232648" y="4581144"/>
            <a:ext cx="2877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탐색 범위 확장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32648" y="4910328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추천 연계 보상으로 새 카테고리 유도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2960" y="5703076"/>
            <a:ext cx="10545775" cy="576000"/>
          </a:xfrm>
          <a:prstGeom prst="rect">
            <a:avLst/>
          </a:prstGeom>
          <a:solidFill>
            <a:srgbClr val="1B4D47"/>
          </a:solidFill>
          <a:ln w="12700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97280" y="5623560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FD4C8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정리  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리워드 / 레벨링은 핵심 학습 경험을 보조하는 확장 기능으로, 지속 사용과 재방문을 설계합니다.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876CFF35-21DA-0C4B-2978-37D94E178C86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IMPACT</a:t>
            </a:r>
            <a:endParaRPr lang="en-US" altLang="ko-KR" sz="1100" dirty="0">
              <a:solidFill>
                <a:prstClr val="black"/>
              </a:solidFill>
            </a:endParaRPr>
          </a:p>
        </p:txBody>
      </p:sp>
      <p:sp>
        <p:nvSpPr>
          <p:cNvPr id="32" name="TextBox 2">
            <a:extLst>
              <a:ext uri="{FF2B5EF4-FFF2-40B4-BE49-F238E27FC236}">
                <a16:creationId xmlns:a16="http://schemas.microsoft.com/office/drawing/2014/main" id="{B9338A47-DAA7-50E8-AF8A-2B29AA7DAAE9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lvl="0">
              <a:defRPr/>
            </a:pP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리워드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/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레벨링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시스템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설계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원칙</a:t>
            </a:r>
            <a:endParaRPr lang="en-US" altLang="ko-KR" sz="2400" dirty="0">
              <a:solidFill>
                <a:prstClr val="black"/>
              </a:solidFill>
            </a:endParaRPr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19301645-DF30-FEC9-C2AB-1FAAD23E01CA}"/>
              </a:ext>
            </a:extLst>
          </p:cNvPr>
          <p:cNvSpPr/>
          <p:nvPr/>
        </p:nvSpPr>
        <p:spPr>
          <a:xfrm>
            <a:off x="612720" y="1245895"/>
            <a:ext cx="1096596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지속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사용을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돕는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확장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기능이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본래의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학습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경험을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해치지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않도록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두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가지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원칙을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4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따릅니다</a:t>
            </a:r>
            <a:r>
              <a:rPr lang="en-US" altLang="ko-KR" sz="14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altLang="ko-KR" sz="1400" dirty="0">
              <a:solidFill>
                <a:prstClr val="black"/>
              </a:solidFill>
            </a:endParaRPr>
          </a:p>
        </p:txBody>
      </p:sp>
      <p:cxnSp>
        <p:nvCxnSpPr>
          <p:cNvPr id="34" name="Connector 4">
            <a:extLst>
              <a:ext uri="{FF2B5EF4-FFF2-40B4-BE49-F238E27FC236}">
                <a16:creationId xmlns:a16="http://schemas.microsoft.com/office/drawing/2014/main" id="{701C6BF5-2130-E2D4-F3B3-B0A59E678C16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822960" y="-5588"/>
            <a:ext cx="105457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협력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가능한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파트너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3334512" cy="1051560"/>
          </a:xfrm>
          <a:prstGeom prst="rect">
            <a:avLst/>
          </a:prstGeom>
          <a:solidFill>
            <a:srgbClr val="F5F5F3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3334512" cy="4572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51560" y="2432304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문화기관 협업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560" y="2779776"/>
            <a:ext cx="27089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국가유산청 · 국립중앙박물관 · 지역 박물관 · 문화재단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13504" y="2286000"/>
            <a:ext cx="3334512" cy="1051560"/>
          </a:xfrm>
          <a:prstGeom prst="rect">
            <a:avLst/>
          </a:prstGeom>
          <a:solidFill>
            <a:srgbClr val="F5F5F3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13504" y="2286000"/>
            <a:ext cx="3334512" cy="4572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42104" y="2432304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교육 플랫폼 확장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42104" y="2779776"/>
            <a:ext cx="2549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학교 · 인터넷 강의 플랫폼 · 역사 체험관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04048" y="2286000"/>
            <a:ext cx="3334512" cy="1051560"/>
          </a:xfrm>
          <a:prstGeom prst="rect">
            <a:avLst/>
          </a:prstGeom>
          <a:solidFill>
            <a:srgbClr val="F5F5F3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04048" y="2286000"/>
            <a:ext cx="3334512" cy="45720"/>
          </a:xfrm>
          <a:prstGeom prst="rect">
            <a:avLst/>
          </a:prstGeom>
          <a:solidFill>
            <a:srgbClr val="2E7D7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32648" y="2432304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관광 산업 연계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32648" y="2779776"/>
            <a:ext cx="2549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한국관광공사 · 지자체 플랫폼 · 지역 축제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협업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예시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E7D70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&amp; 기대 시너지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3886200"/>
            <a:ext cx="3334512" cy="128016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51560" y="4032504"/>
            <a:ext cx="2877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공식 데이터 제휴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51560" y="4379976"/>
            <a:ext cx="2877312" cy="0"/>
          </a:xfrm>
          <a:prstGeom prst="line">
            <a:avLst/>
          </a:prstGeom>
          <a:noFill/>
          <a:ln w="635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51560" y="4453128"/>
            <a:ext cx="292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공식 해설 데이터 및 공공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API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연계를 통해</a:t>
            </a:r>
            <a:b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신뢰도 높은 해설 환경 구축 가능성 검토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413504" y="3886200"/>
            <a:ext cx="3334512" cy="128016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642104" y="4032504"/>
            <a:ext cx="2877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몰입형 역사 교육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42104" y="4379976"/>
            <a:ext cx="2877312" cy="0"/>
          </a:xfrm>
          <a:prstGeom prst="line">
            <a:avLst/>
          </a:prstGeom>
          <a:noFill/>
          <a:ln w="635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642104" y="4453128"/>
            <a:ext cx="292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기반 역사 해설 및 체험형 교육 콘텐츠로의 확장 가능성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04048" y="3886200"/>
            <a:ext cx="3334512" cy="1280160"/>
          </a:xfrm>
          <a:prstGeom prst="rect">
            <a:avLst/>
          </a:prstGeom>
          <a:solidFill>
            <a:srgbClr val="EAF4F2"/>
          </a:solidFill>
          <a:ln w="9525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232648" y="4032504"/>
            <a:ext cx="2877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관광 활성화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32648" y="4379976"/>
            <a:ext cx="2877312" cy="0"/>
          </a:xfrm>
          <a:prstGeom prst="line">
            <a:avLst/>
          </a:prstGeom>
          <a:noFill/>
          <a:ln w="6350">
            <a:solidFill>
              <a:srgbClr val="2E7D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232648" y="4453128"/>
            <a:ext cx="292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지역 관광 콘텐츠와 연계하여</a:t>
            </a:r>
            <a:b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체험형 문화 탐방 경험 제공 가능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22960" y="5570885"/>
            <a:ext cx="10545775" cy="576000"/>
          </a:xfrm>
          <a:prstGeom prst="rect">
            <a:avLst/>
          </a:prstGeom>
          <a:solidFill>
            <a:srgbClr val="1B4D47"/>
          </a:solidFill>
          <a:ln w="12700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097280" y="5486400"/>
            <a:ext cx="101800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FD4C8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플랫폼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7FD4C8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비전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FD4C8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공공 데이터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교육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관광 분야를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이을 수 있는 디지털 문화 플랫폼 방향을 제안합니다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 Myeongjo"/>
                <a:ea typeface="맑은 고딕" panose="020B0503020000020004" pitchFamily="50" charset="-127"/>
                <a:cs typeface="+mn-cs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 Myeongjo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1">
            <a:extLst>
              <a:ext uri="{FF2B5EF4-FFF2-40B4-BE49-F238E27FC236}">
                <a16:creationId xmlns:a16="http://schemas.microsoft.com/office/drawing/2014/main" id="{9111CC18-8B71-3009-9A65-534C1CE74D7A}"/>
              </a:ext>
            </a:extLst>
          </p:cNvPr>
          <p:cNvSpPr/>
          <p:nvPr/>
        </p:nvSpPr>
        <p:spPr>
          <a:xfrm>
            <a:off x="612720" y="4572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en-US" altLang="ko-KR" sz="1100" b="1" kern="0" spc="300" dirty="0">
                <a:solidFill>
                  <a:srgbClr val="2E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IMPACT</a:t>
            </a:r>
            <a:endParaRPr lang="en-US" altLang="ko-KR" sz="1100" dirty="0">
              <a:solidFill>
                <a:prstClr val="black"/>
              </a:solidFill>
            </a:endParaRPr>
          </a:p>
        </p:txBody>
      </p:sp>
      <p:sp>
        <p:nvSpPr>
          <p:cNvPr id="36" name="TextBox 2">
            <a:extLst>
              <a:ext uri="{FF2B5EF4-FFF2-40B4-BE49-F238E27FC236}">
                <a16:creationId xmlns:a16="http://schemas.microsoft.com/office/drawing/2014/main" id="{CF0053E1-FA89-7CEC-8C43-025D688526B0}"/>
              </a:ext>
            </a:extLst>
          </p:cNvPr>
          <p:cNvSpPr/>
          <p:nvPr/>
        </p:nvSpPr>
        <p:spPr>
          <a:xfrm>
            <a:off x="612720" y="711643"/>
            <a:ext cx="109659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lvl="0">
              <a:defRPr/>
            </a:pP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대외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협력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: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공공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기관과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생성형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AI를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잇는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디지털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문화</a:t>
            </a:r>
            <a:r>
              <a:rPr lang="en-US" altLang="ko-KR" sz="2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2400" b="1" dirty="0" err="1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플랫폼</a:t>
            </a:r>
            <a:endParaRPr lang="en-US" altLang="ko-KR" sz="2400" dirty="0">
              <a:solidFill>
                <a:prstClr val="black"/>
              </a:solidFill>
            </a:endParaRPr>
          </a:p>
        </p:txBody>
      </p:sp>
      <p:sp>
        <p:nvSpPr>
          <p:cNvPr id="37" name="TextBox 3">
            <a:extLst>
              <a:ext uri="{FF2B5EF4-FFF2-40B4-BE49-F238E27FC236}">
                <a16:creationId xmlns:a16="http://schemas.microsoft.com/office/drawing/2014/main" id="{1A135ED5-1F10-AF31-ECB7-A9C36C1F9C72}"/>
              </a:ext>
            </a:extLst>
          </p:cNvPr>
          <p:cNvSpPr/>
          <p:nvPr/>
        </p:nvSpPr>
        <p:spPr>
          <a:xfrm>
            <a:off x="612720" y="1245895"/>
            <a:ext cx="10965960" cy="2000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단순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챗봇이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아니라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,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공공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문화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생태계와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ko-KR" altLang="en-US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연계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가능한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플랫폼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ko-KR" altLang="en-US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방향을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 </a:t>
            </a:r>
            <a:r>
              <a:rPr lang="en-US" altLang="ko-KR" sz="1300" dirty="0" err="1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지향합니다</a:t>
            </a:r>
            <a:r>
              <a:rPr lang="en-US" altLang="ko-KR" sz="1300" dirty="0">
                <a:solidFill>
                  <a:srgbClr val="4A4A4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.</a:t>
            </a:r>
            <a:endParaRPr lang="en-US" altLang="ko-KR" sz="1300" dirty="0">
              <a:solidFill>
                <a:prstClr val="black"/>
              </a:solidFill>
            </a:endParaRPr>
          </a:p>
        </p:txBody>
      </p:sp>
      <p:cxnSp>
        <p:nvCxnSpPr>
          <p:cNvPr id="38" name="Connector 4">
            <a:extLst>
              <a:ext uri="{FF2B5EF4-FFF2-40B4-BE49-F238E27FC236}">
                <a16:creationId xmlns:a16="http://schemas.microsoft.com/office/drawing/2014/main" id="{F533A715-2DF7-4373-680B-EAE0B169CD89}"/>
              </a:ext>
            </a:extLst>
          </p:cNvPr>
          <p:cNvCxnSpPr/>
          <p:nvPr/>
        </p:nvCxnSpPr>
        <p:spPr>
          <a:xfrm>
            <a:off x="612360" y="1681254"/>
            <a:ext cx="10967040" cy="360"/>
          </a:xfrm>
          <a:prstGeom prst="bentConnector2">
            <a:avLst/>
          </a:prstGeom>
          <a:ln w="9525">
            <a:solidFill>
              <a:srgbClr val="E0E0E0"/>
            </a:solidFill>
            <a:round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한국 전통 한옥 처마와 기둥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0368"/>
            <a:ext cx="12191695" cy="19506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3797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500" normalizeH="0" baseline="0" noProof="0" dirty="0">
                <a:ln>
                  <a:noFill/>
                </a:ln>
                <a:solidFill>
                  <a:srgbClr val="1A4D4A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CONCLUSION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</a:endParaRPr>
          </a:p>
        </p:txBody>
      </p:sp>
      <p:sp>
        <p:nvSpPr>
          <p:cNvPr id="4" name="Text 1"/>
          <p:cNvSpPr/>
          <p:nvPr/>
        </p:nvSpPr>
        <p:spPr>
          <a:xfrm>
            <a:off x="0" y="2432655"/>
            <a:ext cx="12191695" cy="748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-5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AI는 정보를 넘어,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</a:endParaRPr>
          </a:p>
          <a:p>
            <a:pPr marL="0" marR="0" lvl="0" indent="0" algn="ct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-5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역사를 경험으로 잇는다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</a:endParaRPr>
          </a:p>
        </p:txBody>
      </p:sp>
      <p:sp>
        <p:nvSpPr>
          <p:cNvPr id="5" name="Text 2"/>
          <p:cNvSpPr/>
          <p:nvPr/>
        </p:nvSpPr>
        <p:spPr>
          <a:xfrm>
            <a:off x="0" y="3289245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AI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는 사람과 역사를 연결하는 새로운 인터페이스가 될 수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이음은 공식 자료 기반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AI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해설을 통해 국가유산을 더 쉽고 깊은 경험으로 전환합니다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49528" y="410209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-3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정확성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49528" y="444956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공식 자료 기반 RAG로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신뢰도 높은 역사 해설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32808" y="410209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개인화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632808" y="444956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관심 카테고리·언어 맞춤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몰입형 UX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016088" y="410209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연결·확장성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016088" y="444956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사람과 역사를 잇고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Nanum Myeongjo"/>
                <a:ea typeface="Pretendard" pitchFamily="34" charset="-122"/>
                <a:cs typeface="Pretendard" pitchFamily="34" charset="-120"/>
              </a:rPr>
              <a:t>관광·교육 플랫폼으로 확장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 Myeongjo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2958811F-94C1-4878-A8BA-53E284891847}"/>
              </a:ext>
            </a:extLst>
          </p:cNvPr>
          <p:cNvSpPr/>
          <p:nvPr/>
        </p:nvSpPr>
        <p:spPr>
          <a:xfrm>
            <a:off x="0" y="831275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이음</a:t>
            </a:r>
            <a:endParaRPr kumimoji="0" lang="en-US" sz="5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2E64A259-2788-494B-9AA4-FC585E4592C8}"/>
              </a:ext>
            </a:extLst>
          </p:cNvPr>
          <p:cNvSpPr/>
          <p:nvPr/>
        </p:nvSpPr>
        <p:spPr>
          <a:xfrm>
            <a:off x="0" y="1837115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800" normalizeH="0" baseline="0" noProof="0" dirty="0">
                <a:ln>
                  <a:noFill/>
                </a:ln>
                <a:solidFill>
                  <a:srgbClr val="1B4D47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I E U M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B4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4BF59776-1981-490E-B7D3-04D8F3A10698}"/>
              </a:ext>
            </a:extLst>
          </p:cNvPr>
          <p:cNvSpPr/>
          <p:nvPr/>
        </p:nvSpPr>
        <p:spPr>
          <a:xfrm>
            <a:off x="5181448" y="2178809"/>
            <a:ext cx="1828800" cy="0"/>
          </a:xfrm>
          <a:prstGeom prst="line">
            <a:avLst/>
          </a:prstGeom>
          <a:noFill/>
          <a:ln w="19050">
            <a:solidFill>
              <a:srgbClr val="1B4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건물, 랜드마크, 신사, 중국 건축이(가) 표시된 사진&#10;&#10;자동 생성된 설명">
            <a:extLst>
              <a:ext uri="{FF2B5EF4-FFF2-40B4-BE49-F238E27FC236}">
                <a16:creationId xmlns:a16="http://schemas.microsoft.com/office/drawing/2014/main" id="{87661F42-9C8B-056F-3426-DFED8A27F4A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5683" y="3919194"/>
            <a:ext cx="6340634" cy="3083838"/>
          </a:xfrm>
          <a:prstGeom prst="rect">
            <a:avLst/>
          </a:prstGeom>
        </p:spPr>
      </p:pic>
      <p:pic>
        <p:nvPicPr>
          <p:cNvPr id="3" name="그림 2">
            <a:hlinkClick r:id="rId4"/>
            <a:extLst>
              <a:ext uri="{FF2B5EF4-FFF2-40B4-BE49-F238E27FC236}">
                <a16:creationId xmlns:a16="http://schemas.microsoft.com/office/drawing/2014/main" id="{C9423460-D9D4-D9AD-717C-3FCA19212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446" y="601122"/>
            <a:ext cx="777107" cy="648435"/>
          </a:xfrm>
          <a:prstGeom prst="rect">
            <a:avLst/>
          </a:prstGeom>
        </p:spPr>
      </p:pic>
      <p:pic>
        <p:nvPicPr>
          <p:cNvPr id="4" name="그림 3">
            <a:hlinkClick r:id="rId6"/>
            <a:extLst>
              <a:ext uri="{FF2B5EF4-FFF2-40B4-BE49-F238E27FC236}">
                <a16:creationId xmlns:a16="http://schemas.microsoft.com/office/drawing/2014/main" id="{16CA6DA2-0CE8-EABF-B145-C3F4D4629A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1670" y="2097727"/>
            <a:ext cx="1488657" cy="7443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4890D4-2EF9-A5D3-E87F-9AA00327287A}"/>
              </a:ext>
            </a:extLst>
          </p:cNvPr>
          <p:cNvSpPr txBox="1"/>
          <p:nvPr/>
        </p:nvSpPr>
        <p:spPr>
          <a:xfrm>
            <a:off x="4313388" y="1510784"/>
            <a:ext cx="3565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https://github.com/binkim00/IEUM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05C2EB-3EEF-F809-A512-1D927C153FE0}"/>
              </a:ext>
            </a:extLst>
          </p:cNvPr>
          <p:cNvSpPr txBox="1"/>
          <p:nvPr/>
        </p:nvSpPr>
        <p:spPr>
          <a:xfrm>
            <a:off x="1454031" y="3059667"/>
            <a:ext cx="9283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시연영상 </a:t>
            </a:r>
            <a:r>
              <a:rPr lang="en-US" altLang="ko-KR" dirty="0"/>
              <a:t>: </a:t>
            </a:r>
            <a:r>
              <a:rPr lang="ko-KR" altLang="en-US" dirty="0"/>
              <a:t>https://drive.google.com/file/d/1OwRCivIs2d9jIFk7rKAaRVfBfTB_ivz4/view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673DE0-951E-A98F-8FF0-BA8D555D4D95}"/>
              </a:ext>
            </a:extLst>
          </p:cNvPr>
          <p:cNvSpPr txBox="1"/>
          <p:nvPr/>
        </p:nvSpPr>
        <p:spPr>
          <a:xfrm>
            <a:off x="244944" y="3428999"/>
            <a:ext cx="11809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와이어 프레임 </a:t>
            </a:r>
            <a:r>
              <a:rPr lang="en-US" altLang="ko-KR" dirty="0"/>
              <a:t>: </a:t>
            </a:r>
            <a:r>
              <a:rPr lang="ko-KR" altLang="en-US" dirty="0"/>
              <a:t>https://www.figma.com/design/Z84aQkWXiTW3zjuckqtEIn/IEUM?node-id=0-1&amp;p=f&amp;t=aFqVBhk9f93J9byr-0</a:t>
            </a:r>
          </a:p>
        </p:txBody>
      </p:sp>
      <p:sp>
        <p:nvSpPr>
          <p:cNvPr id="5" name="Text 32">
            <a:extLst>
              <a:ext uri="{FF2B5EF4-FFF2-40B4-BE49-F238E27FC236}">
                <a16:creationId xmlns:a16="http://schemas.microsoft.com/office/drawing/2014/main" id="{F1F2144C-0665-151A-E484-6B77AF65D59F}"/>
              </a:ext>
            </a:extLst>
          </p:cNvPr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r>
              <a:rPr lang="en-US" sz="1000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641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7773</Words>
  <Application>Microsoft Office PowerPoint</Application>
  <PresentationFormat>와이드스크린</PresentationFormat>
  <Paragraphs>1321</Paragraphs>
  <Slides>47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4" baseType="lpstr">
      <vt:lpstr>Nanum Myeongjo</vt:lpstr>
      <vt:lpstr>Malgun Gothic</vt:lpstr>
      <vt:lpstr>Malgun Gothic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YEASEUNG LEE</dc:creator>
  <cp:lastModifiedBy>예승 이</cp:lastModifiedBy>
  <cp:revision>56</cp:revision>
  <dcterms:modified xsi:type="dcterms:W3CDTF">2026-05-31T14:28:06Z</dcterms:modified>
</cp:coreProperties>
</file>